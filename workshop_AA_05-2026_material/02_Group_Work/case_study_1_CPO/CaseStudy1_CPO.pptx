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Libre Franklin"/>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8" roundtripDataSignature="AMtx7mjn18UHuJ/mCemK0SbVmH9DgbBD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717888-4BF3-4FFF-A27D-A42001391BDD}">
  <a:tblStyle styleId="{66717888-4BF3-4FFF-A27D-A42001391BDD}"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AE6E6"/>
          </a:solidFill>
        </a:fill>
      </a:tcStyle>
    </a:wholeTbl>
    <a:band1H>
      <a:tcTxStyle/>
      <a:tcStyle>
        <a:fill>
          <a:solidFill>
            <a:srgbClr val="F4CACA"/>
          </a:solidFill>
        </a:fill>
      </a:tcStyle>
    </a:band1H>
    <a:band2H>
      <a:tcTxStyle/>
    </a:band2H>
    <a:band1V>
      <a:tcTxStyle/>
      <a:tcStyle>
        <a:fill>
          <a:solidFill>
            <a:srgbClr val="F4CAC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ibreFranklin-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ibreFranklin-italic.fntdata"/><Relationship Id="rId25" Type="http://schemas.openxmlformats.org/officeDocument/2006/relationships/font" Target="fonts/LibreFranklin-bold.fntdata"/><Relationship Id="rId28" Type="http://customschemas.google.com/relationships/presentationmetadata" Target="metadata"/><Relationship Id="rId27" Type="http://schemas.openxmlformats.org/officeDocument/2006/relationships/font" Target="fonts/LibreFranklin-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et contenu">
  <p:cSld name="3_Titre et contenu">
    <p:spTree>
      <p:nvGrpSpPr>
        <p:cNvPr id="17" name="Shape 17"/>
        <p:cNvGrpSpPr/>
        <p:nvPr/>
      </p:nvGrpSpPr>
      <p:grpSpPr>
        <a:xfrm>
          <a:off x="0" y="0"/>
          <a:ext cx="0" cy="0"/>
          <a:chOff x="0" y="0"/>
          <a:chExt cx="0" cy="0"/>
        </a:xfrm>
      </p:grpSpPr>
      <p:sp>
        <p:nvSpPr>
          <p:cNvPr id="18" name="Google Shape;18;p19"/>
          <p:cNvSpPr/>
          <p:nvPr>
            <p:ph idx="2" type="pic"/>
          </p:nvPr>
        </p:nvSpPr>
        <p:spPr>
          <a:xfrm>
            <a:off x="904875" y="1563688"/>
            <a:ext cx="3144838" cy="3579812"/>
          </a:xfrm>
          <a:prstGeom prst="rect">
            <a:avLst/>
          </a:prstGeom>
          <a:noFill/>
          <a:ln>
            <a:noFill/>
          </a:ln>
        </p:spPr>
      </p:sp>
      <p:sp>
        <p:nvSpPr>
          <p:cNvPr id="19" name="Google Shape;19;p19"/>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 name="Google Shape;20;p19"/>
          <p:cNvSpPr txBox="1"/>
          <p:nvPr>
            <p:ph type="title"/>
          </p:nvPr>
        </p:nvSpPr>
        <p:spPr>
          <a:xfrm>
            <a:off x="989542" y="277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9"/>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9"/>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p:cSld name="Diapositive de titre">
    <p:spTree>
      <p:nvGrpSpPr>
        <p:cNvPr id="24" name="Shape 24"/>
        <p:cNvGrpSpPr/>
        <p:nvPr/>
      </p:nvGrpSpPr>
      <p:grpSpPr>
        <a:xfrm>
          <a:off x="0" y="0"/>
          <a:ext cx="0" cy="0"/>
          <a:chOff x="0" y="0"/>
          <a:chExt cx="0" cy="0"/>
        </a:xfrm>
      </p:grpSpPr>
      <p:sp>
        <p:nvSpPr>
          <p:cNvPr id="25" name="Google Shape;25;p20"/>
          <p:cNvSpPr/>
          <p:nvPr>
            <p:ph idx="2" type="pic"/>
          </p:nvPr>
        </p:nvSpPr>
        <p:spPr>
          <a:xfrm>
            <a:off x="1331913" y="0"/>
            <a:ext cx="7812087" cy="4948238"/>
          </a:xfrm>
          <a:prstGeom prst="rect">
            <a:avLst/>
          </a:prstGeom>
          <a:noFill/>
          <a:ln>
            <a:noFill/>
          </a:ln>
        </p:spPr>
      </p:sp>
      <p:sp>
        <p:nvSpPr>
          <p:cNvPr id="26" name="Google Shape;26;p20"/>
          <p:cNvSpPr txBox="1"/>
          <p:nvPr>
            <p:ph type="ctrTitle"/>
          </p:nvPr>
        </p:nvSpPr>
        <p:spPr>
          <a:xfrm>
            <a:off x="6405563" y="786535"/>
            <a:ext cx="2738437" cy="2338387"/>
          </a:xfrm>
          <a:prstGeom prst="rect">
            <a:avLst/>
          </a:prstGeom>
          <a:solidFill>
            <a:schemeClr val="accent1"/>
          </a:solidFill>
          <a:ln>
            <a:noFill/>
          </a:ln>
        </p:spPr>
        <p:txBody>
          <a:bodyPr anchorCtr="0" anchor="ctr" bIns="46800" lIns="216000" spcFirstLastPara="1" rIns="72000" wrap="square" tIns="0">
            <a:normAutofit/>
          </a:bodyPr>
          <a:lstStyle>
            <a:lvl1pPr lvl="0" algn="l">
              <a:lnSpc>
                <a:spcPct val="90000"/>
              </a:lnSpc>
              <a:spcBef>
                <a:spcPts val="0"/>
              </a:spcBef>
              <a:spcAft>
                <a:spcPts val="0"/>
              </a:spcAft>
              <a:buClr>
                <a:schemeClr val="lt1"/>
              </a:buClr>
              <a:buSzPts val="3600"/>
              <a:buFont typeface="Libre Franklin"/>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0"/>
          <p:cNvSpPr txBox="1"/>
          <p:nvPr>
            <p:ph idx="1" type="subTitle"/>
          </p:nvPr>
        </p:nvSpPr>
        <p:spPr>
          <a:xfrm>
            <a:off x="4576763" y="3124922"/>
            <a:ext cx="1828800" cy="1568450"/>
          </a:xfrm>
          <a:prstGeom prst="rect">
            <a:avLst/>
          </a:prstGeom>
          <a:solidFill>
            <a:schemeClr val="dk1"/>
          </a:solidFill>
          <a:ln>
            <a:noFill/>
          </a:ln>
        </p:spPr>
        <p:txBody>
          <a:bodyPr anchorCtr="0" anchor="ctr" bIns="45700" lIns="90000" spcFirstLastPara="1" rIns="91425" wrap="square" tIns="45700">
            <a:normAutofit/>
          </a:bodyPr>
          <a:lstStyle>
            <a:lvl1pPr lvl="0" algn="ctr">
              <a:lnSpc>
                <a:spcPct val="90000"/>
              </a:lnSpc>
              <a:spcBef>
                <a:spcPts val="750"/>
              </a:spcBef>
              <a:spcAft>
                <a:spcPts val="0"/>
              </a:spcAft>
              <a:buSzPts val="1080"/>
              <a:buNone/>
              <a:defRPr sz="1200">
                <a:solidFill>
                  <a:schemeClr val="lt1"/>
                </a:solidFill>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Clr>
                <a:schemeClr val="dk1"/>
              </a:buClr>
              <a:buSzPts val="1215"/>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20"/>
          <p:cNvSpPr txBox="1"/>
          <p:nvPr>
            <p:ph idx="3" type="body"/>
          </p:nvPr>
        </p:nvSpPr>
        <p:spPr>
          <a:xfrm>
            <a:off x="6400800" y="4683125"/>
            <a:ext cx="1828800" cy="460375"/>
          </a:xfrm>
          <a:prstGeom prst="rect">
            <a:avLst/>
          </a:prstGeom>
          <a:solidFill>
            <a:schemeClr val="lt1"/>
          </a:solidFill>
          <a:ln>
            <a:noFill/>
          </a:ln>
        </p:spPr>
        <p:txBody>
          <a:bodyPr anchorCtr="0" anchor="ctr" bIns="45700" lIns="90000" spcFirstLastPara="1" rIns="91425" wrap="square" tIns="45700">
            <a:noAutofit/>
          </a:bodyPr>
          <a:lstStyle>
            <a:lvl1pPr indent="-228600" lvl="0" marL="457200" algn="ctr">
              <a:lnSpc>
                <a:spcPct val="90000"/>
              </a:lnSpc>
              <a:spcBef>
                <a:spcPts val="750"/>
              </a:spcBef>
              <a:spcAft>
                <a:spcPts val="0"/>
              </a:spcAft>
              <a:buSzPts val="990"/>
              <a:buNone/>
              <a:defRPr sz="1100"/>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 name="Google Shape;29;p20"/>
          <p:cNvSpPr txBox="1"/>
          <p:nvPr>
            <p:ph idx="4" type="body"/>
          </p:nvPr>
        </p:nvSpPr>
        <p:spPr>
          <a:xfrm>
            <a:off x="82550" y="4440264"/>
            <a:ext cx="698500" cy="507975"/>
          </a:xfrm>
          <a:prstGeom prst="rect">
            <a:avLst/>
          </a:prstGeom>
          <a:noFill/>
          <a:ln>
            <a:noFill/>
          </a:ln>
        </p:spPr>
        <p:txBody>
          <a:bodyPr anchorCtr="0" anchor="b" bIns="0" lIns="0" spcFirstLastPara="1" rIns="0" wrap="square" tIns="0">
            <a:noAutofit/>
          </a:bodyPr>
          <a:lstStyle>
            <a:lvl1pPr indent="-268605" lvl="0" marL="457200" algn="l">
              <a:lnSpc>
                <a:spcPct val="90000"/>
              </a:lnSpc>
              <a:spcBef>
                <a:spcPts val="750"/>
              </a:spcBef>
              <a:spcAft>
                <a:spcPts val="0"/>
              </a:spcAft>
              <a:buSzPts val="630"/>
              <a:buFont typeface="Arial"/>
              <a:buChar char="•"/>
              <a:defRPr sz="700">
                <a:solidFill>
                  <a:schemeClr val="dk1"/>
                </a:solidFill>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pos="126">
          <p15:clr>
            <a:srgbClr val="FBAE40"/>
          </p15:clr>
        </p15:guide>
        <p15:guide id="4" orient="horz" pos="123">
          <p15:clr>
            <a:srgbClr val="FBAE40"/>
          </p15:clr>
        </p15:guide>
        <p15:guide id="5" orient="horz" pos="3117">
          <p15:clr>
            <a:srgbClr val="FBAE40"/>
          </p15:clr>
        </p15:guide>
        <p15:guide id="6" pos="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spTree>
      <p:nvGrpSpPr>
        <p:cNvPr id="30" name="Shape 30"/>
        <p:cNvGrpSpPr/>
        <p:nvPr/>
      </p:nvGrpSpPr>
      <p:grpSpPr>
        <a:xfrm>
          <a:off x="0" y="0"/>
          <a:ext cx="0" cy="0"/>
          <a:chOff x="0" y="0"/>
          <a:chExt cx="0" cy="0"/>
        </a:xfrm>
      </p:grpSpPr>
      <p:sp>
        <p:nvSpPr>
          <p:cNvPr id="31" name="Google Shape;31;p21"/>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32" name="Google Shape;32;p21"/>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1"/>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34" name="Google Shape;34;p21"/>
          <p:cNvSpPr/>
          <p:nvPr>
            <p:ph idx="2" type="pic"/>
          </p:nvPr>
        </p:nvSpPr>
        <p:spPr>
          <a:xfrm>
            <a:off x="904875" y="0"/>
            <a:ext cx="3667125" cy="5143500"/>
          </a:xfrm>
          <a:prstGeom prst="rect">
            <a:avLst/>
          </a:prstGeom>
          <a:noFill/>
          <a:ln>
            <a:noFill/>
          </a:ln>
        </p:spPr>
      </p:sp>
      <p:sp>
        <p:nvSpPr>
          <p:cNvPr id="35" name="Google Shape;35;p21"/>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1"/>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de section">
  <p:cSld name="2_Titre de section">
    <p:spTree>
      <p:nvGrpSpPr>
        <p:cNvPr id="38" name="Shape 38"/>
        <p:cNvGrpSpPr/>
        <p:nvPr/>
      </p:nvGrpSpPr>
      <p:grpSpPr>
        <a:xfrm>
          <a:off x="0" y="0"/>
          <a:ext cx="0" cy="0"/>
          <a:chOff x="0" y="0"/>
          <a:chExt cx="0" cy="0"/>
        </a:xfrm>
      </p:grpSpPr>
      <p:sp>
        <p:nvSpPr>
          <p:cNvPr id="39" name="Google Shape;39;p22"/>
          <p:cNvSpPr/>
          <p:nvPr/>
        </p:nvSpPr>
        <p:spPr>
          <a:xfrm>
            <a:off x="4572000" y="0"/>
            <a:ext cx="4572000" cy="5143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0" name="Google Shape;40;p22"/>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2"/>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42" name="Google Shape;42;p22"/>
          <p:cNvSpPr/>
          <p:nvPr>
            <p:ph idx="2" type="pic"/>
          </p:nvPr>
        </p:nvSpPr>
        <p:spPr>
          <a:xfrm>
            <a:off x="904875" y="0"/>
            <a:ext cx="3667125" cy="5143500"/>
          </a:xfrm>
          <a:prstGeom prst="rect">
            <a:avLst/>
          </a:prstGeom>
          <a:noFill/>
          <a:ln>
            <a:noFill/>
          </a:ln>
        </p:spPr>
      </p:sp>
      <p:sp>
        <p:nvSpPr>
          <p:cNvPr id="43" name="Google Shape;43;p22"/>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de section">
  <p:cSld name="1_Titre de section">
    <p:spTree>
      <p:nvGrpSpPr>
        <p:cNvPr id="46" name="Shape 46"/>
        <p:cNvGrpSpPr/>
        <p:nvPr/>
      </p:nvGrpSpPr>
      <p:grpSpPr>
        <a:xfrm>
          <a:off x="0" y="0"/>
          <a:ext cx="0" cy="0"/>
          <a:chOff x="0" y="0"/>
          <a:chExt cx="0" cy="0"/>
        </a:xfrm>
      </p:grpSpPr>
      <p:sp>
        <p:nvSpPr>
          <p:cNvPr id="47" name="Google Shape;47;p23"/>
          <p:cNvSpPr/>
          <p:nvPr/>
        </p:nvSpPr>
        <p:spPr>
          <a:xfrm>
            <a:off x="4572000" y="0"/>
            <a:ext cx="4572000" cy="5143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8" name="Google Shape;48;p23"/>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3"/>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50" name="Google Shape;50;p23"/>
          <p:cNvSpPr/>
          <p:nvPr>
            <p:ph idx="2" type="pic"/>
          </p:nvPr>
        </p:nvSpPr>
        <p:spPr>
          <a:xfrm>
            <a:off x="904875" y="0"/>
            <a:ext cx="3667125" cy="5143500"/>
          </a:xfrm>
          <a:prstGeom prst="rect">
            <a:avLst/>
          </a:prstGeom>
          <a:noFill/>
          <a:ln>
            <a:noFill/>
          </a:ln>
        </p:spPr>
      </p:sp>
      <p:sp>
        <p:nvSpPr>
          <p:cNvPr id="51" name="Google Shape;51;p23"/>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p:cSld name="Titre et contenu">
    <p:spTree>
      <p:nvGrpSpPr>
        <p:cNvPr id="54" name="Shape 54"/>
        <p:cNvGrpSpPr/>
        <p:nvPr/>
      </p:nvGrpSpPr>
      <p:grpSpPr>
        <a:xfrm>
          <a:off x="0" y="0"/>
          <a:ext cx="0" cy="0"/>
          <a:chOff x="0" y="0"/>
          <a:chExt cx="0" cy="0"/>
        </a:xfrm>
      </p:grpSpPr>
      <p:sp>
        <p:nvSpPr>
          <p:cNvPr id="55" name="Google Shape;55;p24"/>
          <p:cNvSpPr txBox="1"/>
          <p:nvPr>
            <p:ph idx="1" type="body"/>
          </p:nvPr>
        </p:nvSpPr>
        <p:spPr>
          <a:xfrm>
            <a:off x="904875" y="1563688"/>
            <a:ext cx="7726363"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24"/>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4"/>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4"/>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et contenu">
  <p:cSld name="1_Titre et contenu">
    <p:spTree>
      <p:nvGrpSpPr>
        <p:cNvPr id="60" name="Shape 60"/>
        <p:cNvGrpSpPr/>
        <p:nvPr/>
      </p:nvGrpSpPr>
      <p:grpSpPr>
        <a:xfrm>
          <a:off x="0" y="0"/>
          <a:ext cx="0" cy="0"/>
          <a:chOff x="0" y="0"/>
          <a:chExt cx="0" cy="0"/>
        </a:xfrm>
      </p:grpSpPr>
      <p:sp>
        <p:nvSpPr>
          <p:cNvPr id="61" name="Google Shape;61;p25"/>
          <p:cNvSpPr txBox="1"/>
          <p:nvPr>
            <p:ph idx="1" type="body"/>
          </p:nvPr>
        </p:nvSpPr>
        <p:spPr>
          <a:xfrm>
            <a:off x="90487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 name="Google Shape;62;p25"/>
          <p:cNvSpPr/>
          <p:nvPr>
            <p:ph idx="2" type="pic"/>
          </p:nvPr>
        </p:nvSpPr>
        <p:spPr>
          <a:xfrm>
            <a:off x="5486400" y="0"/>
            <a:ext cx="3144838" cy="5143500"/>
          </a:xfrm>
          <a:prstGeom prst="rect">
            <a:avLst/>
          </a:prstGeom>
          <a:noFill/>
          <a:ln>
            <a:noFill/>
          </a:ln>
        </p:spPr>
      </p:sp>
      <p:sp>
        <p:nvSpPr>
          <p:cNvPr id="63" name="Google Shape;63;p25"/>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5"/>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5"/>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et contenu">
  <p:cSld name="2_Titre et contenu">
    <p:spTree>
      <p:nvGrpSpPr>
        <p:cNvPr id="67" name="Shape 67"/>
        <p:cNvGrpSpPr/>
        <p:nvPr/>
      </p:nvGrpSpPr>
      <p:grpSpPr>
        <a:xfrm>
          <a:off x="0" y="0"/>
          <a:ext cx="0" cy="0"/>
          <a:chOff x="0" y="0"/>
          <a:chExt cx="0" cy="0"/>
        </a:xfrm>
      </p:grpSpPr>
      <p:sp>
        <p:nvSpPr>
          <p:cNvPr id="68" name="Google Shape;68;p26"/>
          <p:cNvSpPr/>
          <p:nvPr>
            <p:ph idx="2" type="pic"/>
          </p:nvPr>
        </p:nvSpPr>
        <p:spPr>
          <a:xfrm>
            <a:off x="904875" y="0"/>
            <a:ext cx="3144838" cy="5143500"/>
          </a:xfrm>
          <a:prstGeom prst="rect">
            <a:avLst/>
          </a:prstGeom>
          <a:noFill/>
          <a:ln>
            <a:noFill/>
          </a:ln>
        </p:spPr>
      </p:sp>
      <p:sp>
        <p:nvSpPr>
          <p:cNvPr id="69" name="Google Shape;69;p26"/>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0" name="Google Shape;70;p26"/>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3" name="Google Shape;73;p26"/>
          <p:cNvSpPr txBox="1"/>
          <p:nvPr>
            <p:ph type="title"/>
          </p:nvPr>
        </p:nvSpPr>
        <p:spPr>
          <a:xfrm>
            <a:off x="904876" y="131032"/>
            <a:ext cx="3144520" cy="1072753"/>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re et contenu">
  <p:cSld name="4_Titre et contenu">
    <p:spTree>
      <p:nvGrpSpPr>
        <p:cNvPr id="74" name="Shape 74"/>
        <p:cNvGrpSpPr/>
        <p:nvPr/>
      </p:nvGrpSpPr>
      <p:grpSpPr>
        <a:xfrm>
          <a:off x="0" y="0"/>
          <a:ext cx="0" cy="0"/>
          <a:chOff x="0" y="0"/>
          <a:chExt cx="0" cy="0"/>
        </a:xfrm>
      </p:grpSpPr>
      <p:sp>
        <p:nvSpPr>
          <p:cNvPr id="75" name="Google Shape;75;p27"/>
          <p:cNvSpPr/>
          <p:nvPr>
            <p:ph idx="2" type="pic"/>
          </p:nvPr>
        </p:nvSpPr>
        <p:spPr>
          <a:xfrm>
            <a:off x="904875" y="0"/>
            <a:ext cx="3144838" cy="5143500"/>
          </a:xfrm>
          <a:prstGeom prst="rect">
            <a:avLst/>
          </a:prstGeom>
          <a:noFill/>
          <a:ln>
            <a:noFill/>
          </a:ln>
        </p:spPr>
      </p:sp>
      <p:sp>
        <p:nvSpPr>
          <p:cNvPr id="76" name="Google Shape;76;p27"/>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27"/>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0" name="Google Shape;80;p27"/>
          <p:cNvSpPr txBox="1"/>
          <p:nvPr>
            <p:ph type="title"/>
          </p:nvPr>
        </p:nvSpPr>
        <p:spPr>
          <a:xfrm>
            <a:off x="4049395" y="131032"/>
            <a:ext cx="3144520" cy="1072753"/>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p:spTree>
      <p:nvGrpSpPr>
        <p:cNvPr id="81" name="Shape 81"/>
        <p:cNvGrpSpPr/>
        <p:nvPr/>
      </p:nvGrpSpPr>
      <p:grpSpPr>
        <a:xfrm>
          <a:off x="0" y="0"/>
          <a:ext cx="0" cy="0"/>
          <a:chOff x="0" y="0"/>
          <a:chExt cx="0" cy="0"/>
        </a:xfrm>
      </p:grpSpPr>
      <p:sp>
        <p:nvSpPr>
          <p:cNvPr id="82" name="Google Shape;82;p28"/>
          <p:cNvSpPr txBox="1"/>
          <p:nvPr>
            <p:ph idx="1" type="body"/>
          </p:nvPr>
        </p:nvSpPr>
        <p:spPr>
          <a:xfrm>
            <a:off x="904875" y="1563688"/>
            <a:ext cx="3671466" cy="3263504"/>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28"/>
          <p:cNvSpPr txBox="1"/>
          <p:nvPr>
            <p:ph idx="2" type="body"/>
          </p:nvPr>
        </p:nvSpPr>
        <p:spPr>
          <a:xfrm>
            <a:off x="4959772" y="1563688"/>
            <a:ext cx="3671466" cy="3263504"/>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4" name="Google Shape;84;p28"/>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8"/>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8"/>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88" name="Shape 88"/>
        <p:cNvGrpSpPr/>
        <p:nvPr/>
      </p:nvGrpSpPr>
      <p:grpSpPr>
        <a:xfrm>
          <a:off x="0" y="0"/>
          <a:ext cx="0" cy="0"/>
          <a:chOff x="0" y="0"/>
          <a:chExt cx="0" cy="0"/>
        </a:xfrm>
      </p:grpSpPr>
      <p:sp>
        <p:nvSpPr>
          <p:cNvPr id="89" name="Google Shape;89;p29"/>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9"/>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9"/>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9"/>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seul">
  <p:cSld name="1_Titre seul">
    <p:spTree>
      <p:nvGrpSpPr>
        <p:cNvPr id="93" name="Shape 93"/>
        <p:cNvGrpSpPr/>
        <p:nvPr/>
      </p:nvGrpSpPr>
      <p:grpSpPr>
        <a:xfrm>
          <a:off x="0" y="0"/>
          <a:ext cx="0" cy="0"/>
          <a:chOff x="0" y="0"/>
          <a:chExt cx="0" cy="0"/>
        </a:xfrm>
      </p:grpSpPr>
      <p:sp>
        <p:nvSpPr>
          <p:cNvPr id="94" name="Google Shape;94;p30"/>
          <p:cNvSpPr/>
          <p:nvPr>
            <p:ph idx="2" type="pic"/>
          </p:nvPr>
        </p:nvSpPr>
        <p:spPr>
          <a:xfrm>
            <a:off x="904875" y="0"/>
            <a:ext cx="8239125" cy="5143500"/>
          </a:xfrm>
          <a:prstGeom prst="rect">
            <a:avLst/>
          </a:prstGeom>
          <a:noFill/>
          <a:ln>
            <a:noFill/>
          </a:ln>
        </p:spPr>
      </p:sp>
      <p:sp>
        <p:nvSpPr>
          <p:cNvPr id="95" name="Google Shape;95;p30"/>
          <p:cNvSpPr txBox="1"/>
          <p:nvPr>
            <p:ph type="title"/>
          </p:nvPr>
        </p:nvSpPr>
        <p:spPr>
          <a:xfrm>
            <a:off x="6405563" y="2571750"/>
            <a:ext cx="2738437" cy="2111375"/>
          </a:xfrm>
          <a:prstGeom prst="rect">
            <a:avLst/>
          </a:prstGeom>
          <a:solidFill>
            <a:schemeClr val="accent2"/>
          </a:solid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30"/>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0"/>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0"/>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seul">
  <p:cSld name="2_Titre seul">
    <p:spTree>
      <p:nvGrpSpPr>
        <p:cNvPr id="99" name="Shape 99"/>
        <p:cNvGrpSpPr/>
        <p:nvPr/>
      </p:nvGrpSpPr>
      <p:grpSpPr>
        <a:xfrm>
          <a:off x="0" y="0"/>
          <a:ext cx="0" cy="0"/>
          <a:chOff x="0" y="0"/>
          <a:chExt cx="0" cy="0"/>
        </a:xfrm>
      </p:grpSpPr>
      <p:sp>
        <p:nvSpPr>
          <p:cNvPr id="100" name="Google Shape;100;p31"/>
          <p:cNvSpPr/>
          <p:nvPr>
            <p:ph idx="2" type="pic"/>
          </p:nvPr>
        </p:nvSpPr>
        <p:spPr>
          <a:xfrm>
            <a:off x="904875" y="0"/>
            <a:ext cx="7726363" cy="5143500"/>
          </a:xfrm>
          <a:prstGeom prst="rect">
            <a:avLst/>
          </a:prstGeom>
          <a:noFill/>
          <a:ln>
            <a:noFill/>
          </a:ln>
        </p:spPr>
      </p:sp>
      <p:sp>
        <p:nvSpPr>
          <p:cNvPr id="101" name="Google Shape;101;p31"/>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1"/>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seul">
  <p:cSld name="3_Titre seul">
    <p:spTree>
      <p:nvGrpSpPr>
        <p:cNvPr id="104" name="Shape 104"/>
        <p:cNvGrpSpPr/>
        <p:nvPr/>
      </p:nvGrpSpPr>
      <p:grpSpPr>
        <a:xfrm>
          <a:off x="0" y="0"/>
          <a:ext cx="0" cy="0"/>
          <a:chOff x="0" y="0"/>
          <a:chExt cx="0" cy="0"/>
        </a:xfrm>
      </p:grpSpPr>
      <p:sp>
        <p:nvSpPr>
          <p:cNvPr id="105" name="Google Shape;105;p32"/>
          <p:cNvSpPr/>
          <p:nvPr>
            <p:ph idx="2" type="pic"/>
          </p:nvPr>
        </p:nvSpPr>
        <p:spPr>
          <a:xfrm>
            <a:off x="904875" y="3114674"/>
            <a:ext cx="8239125" cy="2028825"/>
          </a:xfrm>
          <a:prstGeom prst="rect">
            <a:avLst/>
          </a:prstGeom>
          <a:noFill/>
          <a:ln>
            <a:noFill/>
          </a:ln>
        </p:spPr>
      </p:sp>
      <p:sp>
        <p:nvSpPr>
          <p:cNvPr id="106" name="Google Shape;106;p32"/>
          <p:cNvSpPr txBox="1"/>
          <p:nvPr>
            <p:ph idx="1" type="body"/>
          </p:nvPr>
        </p:nvSpPr>
        <p:spPr>
          <a:xfrm>
            <a:off x="904875" y="1563688"/>
            <a:ext cx="7646988" cy="1436687"/>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14325" lvl="3" marL="1828800" algn="l">
              <a:lnSpc>
                <a:spcPct val="90000"/>
              </a:lnSpc>
              <a:spcBef>
                <a:spcPts val="375"/>
              </a:spcBef>
              <a:spcAft>
                <a:spcPts val="0"/>
              </a:spcAft>
              <a:buClr>
                <a:schemeClr val="dk1"/>
              </a:buClr>
              <a:buSzPts val="1350"/>
              <a:buChar char="•"/>
              <a:defRPr>
                <a:latin typeface="Arial"/>
                <a:ea typeface="Arial"/>
                <a:cs typeface="Arial"/>
                <a:sym typeface="Arial"/>
              </a:defRPr>
            </a:lvl4pPr>
            <a:lvl5pPr indent="-314325" lvl="4" marL="2286000" algn="l">
              <a:lnSpc>
                <a:spcPct val="90000"/>
              </a:lnSpc>
              <a:spcBef>
                <a:spcPts val="375"/>
              </a:spcBef>
              <a:spcAft>
                <a:spcPts val="0"/>
              </a:spcAft>
              <a:buClr>
                <a:schemeClr val="dk1"/>
              </a:buClr>
              <a:buSzPts val="1350"/>
              <a:buChar char="•"/>
              <a:defRPr>
                <a:latin typeface="Arial"/>
                <a:ea typeface="Arial"/>
                <a:cs typeface="Arial"/>
                <a:sym typeface="Aria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7" name="Google Shape;107;p32"/>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2"/>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0" name="Google Shape;110;p32"/>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11" name="Shape 111"/>
        <p:cNvGrpSpPr/>
        <p:nvPr/>
      </p:nvGrpSpPr>
      <p:grpSpPr>
        <a:xfrm>
          <a:off x="0" y="0"/>
          <a:ext cx="0" cy="0"/>
          <a:chOff x="0" y="0"/>
          <a:chExt cx="0" cy="0"/>
        </a:xfrm>
      </p:grpSpPr>
      <p:sp>
        <p:nvSpPr>
          <p:cNvPr id="112" name="Google Shape;112;p33"/>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3"/>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marR="0" rtl="0" algn="l">
              <a:lnSpc>
                <a:spcPct val="90000"/>
              </a:lnSpc>
              <a:spcBef>
                <a:spcPts val="0"/>
              </a:spcBef>
              <a:spcAft>
                <a:spcPts val="0"/>
              </a:spcAft>
              <a:buClr>
                <a:schemeClr val="dk1"/>
              </a:buClr>
              <a:buSzPts val="3200"/>
              <a:buFont typeface="Libre Franklin"/>
              <a:buNone/>
              <a:defRPr b="1" i="0" sz="3200" u="none" cap="none" strike="noStrike">
                <a:solidFill>
                  <a:schemeClr val="dk1"/>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
          <p:cNvSpPr txBox="1"/>
          <p:nvPr>
            <p:ph idx="1" type="body"/>
          </p:nvPr>
        </p:nvSpPr>
        <p:spPr>
          <a:xfrm>
            <a:off x="904875" y="1563688"/>
            <a:ext cx="7726363" cy="3386772"/>
          </a:xfrm>
          <a:prstGeom prst="rect">
            <a:avLst/>
          </a:prstGeom>
          <a:noFill/>
          <a:ln>
            <a:noFill/>
          </a:ln>
        </p:spPr>
        <p:txBody>
          <a:bodyPr anchorCtr="0" anchor="t" bIns="45700" lIns="180000" spcFirstLastPara="1" rIns="91425" wrap="square" tIns="45700">
            <a:normAutofit/>
          </a:bodyPr>
          <a:lstStyle>
            <a:lvl1pPr indent="-331470" lvl="0" marL="457200" marR="0" rtl="0" algn="l">
              <a:lnSpc>
                <a:spcPct val="90000"/>
              </a:lnSpc>
              <a:spcBef>
                <a:spcPts val="750"/>
              </a:spcBef>
              <a:spcAft>
                <a:spcPts val="0"/>
              </a:spcAft>
              <a:buClr>
                <a:schemeClr val="accent1"/>
              </a:buClr>
              <a:buSzPts val="162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lnSpc>
                <a:spcPct val="90000"/>
              </a:lnSpc>
              <a:spcBef>
                <a:spcPts val="375"/>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Noto Sans Symbols"/>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18"/>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accen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7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marR="0" rtl="0" algn="ctr">
              <a:spcBef>
                <a:spcPts val="0"/>
              </a:spcBef>
              <a:buNone/>
              <a:defRPr b="1" i="0" sz="700" u="none" cap="none" strike="noStrike">
                <a:solidFill>
                  <a:schemeClr val="dk1"/>
                </a:solidFill>
                <a:latin typeface="Libre Franklin"/>
                <a:ea typeface="Libre Franklin"/>
                <a:cs typeface="Libre Franklin"/>
                <a:sym typeface="Libre Franklin"/>
              </a:defRPr>
            </a:lvl1pPr>
            <a:lvl2pPr indent="0" lvl="1" marL="0" marR="0" rtl="0" algn="ctr">
              <a:spcBef>
                <a:spcPts val="0"/>
              </a:spcBef>
              <a:buNone/>
              <a:defRPr b="1" i="0" sz="700" u="none" cap="none" strike="noStrike">
                <a:solidFill>
                  <a:schemeClr val="dk1"/>
                </a:solidFill>
                <a:latin typeface="Libre Franklin"/>
                <a:ea typeface="Libre Franklin"/>
                <a:cs typeface="Libre Franklin"/>
                <a:sym typeface="Libre Franklin"/>
              </a:defRPr>
            </a:lvl2pPr>
            <a:lvl3pPr indent="0" lvl="2" marL="0" marR="0" rtl="0" algn="ctr">
              <a:spcBef>
                <a:spcPts val="0"/>
              </a:spcBef>
              <a:buNone/>
              <a:defRPr b="1" i="0" sz="700" u="none" cap="none" strike="noStrike">
                <a:solidFill>
                  <a:schemeClr val="dk1"/>
                </a:solidFill>
                <a:latin typeface="Libre Franklin"/>
                <a:ea typeface="Libre Franklin"/>
                <a:cs typeface="Libre Franklin"/>
                <a:sym typeface="Libre Franklin"/>
              </a:defRPr>
            </a:lvl3pPr>
            <a:lvl4pPr indent="0" lvl="3" marL="0" marR="0" rtl="0" algn="ctr">
              <a:spcBef>
                <a:spcPts val="0"/>
              </a:spcBef>
              <a:buNone/>
              <a:defRPr b="1" i="0" sz="700" u="none" cap="none" strike="noStrike">
                <a:solidFill>
                  <a:schemeClr val="dk1"/>
                </a:solidFill>
                <a:latin typeface="Libre Franklin"/>
                <a:ea typeface="Libre Franklin"/>
                <a:cs typeface="Libre Franklin"/>
                <a:sym typeface="Libre Franklin"/>
              </a:defRPr>
            </a:lvl4pPr>
            <a:lvl5pPr indent="0" lvl="4" marL="0" marR="0" rtl="0" algn="ctr">
              <a:spcBef>
                <a:spcPts val="0"/>
              </a:spcBef>
              <a:buNone/>
              <a:defRPr b="1" i="0" sz="700" u="none" cap="none" strike="noStrike">
                <a:solidFill>
                  <a:schemeClr val="dk1"/>
                </a:solidFill>
                <a:latin typeface="Libre Franklin"/>
                <a:ea typeface="Libre Franklin"/>
                <a:cs typeface="Libre Franklin"/>
                <a:sym typeface="Libre Franklin"/>
              </a:defRPr>
            </a:lvl5pPr>
            <a:lvl6pPr indent="0" lvl="5" marL="0" marR="0" rtl="0" algn="ctr">
              <a:spcBef>
                <a:spcPts val="0"/>
              </a:spcBef>
              <a:buNone/>
              <a:defRPr b="1" i="0" sz="700" u="none" cap="none" strike="noStrike">
                <a:solidFill>
                  <a:schemeClr val="dk1"/>
                </a:solidFill>
                <a:latin typeface="Libre Franklin"/>
                <a:ea typeface="Libre Franklin"/>
                <a:cs typeface="Libre Franklin"/>
                <a:sym typeface="Libre Franklin"/>
              </a:defRPr>
            </a:lvl6pPr>
            <a:lvl7pPr indent="0" lvl="6" marL="0" marR="0" rtl="0" algn="ctr">
              <a:spcBef>
                <a:spcPts val="0"/>
              </a:spcBef>
              <a:buNone/>
              <a:defRPr b="1" i="0" sz="700" u="none" cap="none" strike="noStrike">
                <a:solidFill>
                  <a:schemeClr val="dk1"/>
                </a:solidFill>
                <a:latin typeface="Libre Franklin"/>
                <a:ea typeface="Libre Franklin"/>
                <a:cs typeface="Libre Franklin"/>
                <a:sym typeface="Libre Franklin"/>
              </a:defRPr>
            </a:lvl7pPr>
            <a:lvl8pPr indent="0" lvl="7" marL="0" marR="0" rtl="0" algn="ctr">
              <a:spcBef>
                <a:spcPts val="0"/>
              </a:spcBef>
              <a:buNone/>
              <a:defRPr b="1" i="0" sz="700" u="none" cap="none" strike="noStrike">
                <a:solidFill>
                  <a:schemeClr val="dk1"/>
                </a:solidFill>
                <a:latin typeface="Libre Franklin"/>
                <a:ea typeface="Libre Franklin"/>
                <a:cs typeface="Libre Franklin"/>
                <a:sym typeface="Libre Franklin"/>
              </a:defRPr>
            </a:lvl8pPr>
            <a:lvl9pPr indent="0" lvl="8" marL="0" marR="0" rtl="0" algn="ctr">
              <a:spcBef>
                <a:spcPts val="0"/>
              </a:spcBef>
              <a:buNone/>
              <a:defRPr b="1" i="0" sz="700" u="none" cap="none" strike="noStrike">
                <a:solidFill>
                  <a:schemeClr val="dk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15" name="Google Shape;15;p18"/>
          <p:cNvSpPr/>
          <p:nvPr/>
        </p:nvSpPr>
        <p:spPr>
          <a:xfrm rot="-5400000">
            <a:off x="430003" y="4897709"/>
            <a:ext cx="45719" cy="597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6" name="Google Shape;16;p18"/>
          <p:cNvSpPr/>
          <p:nvPr/>
        </p:nvSpPr>
        <p:spPr>
          <a:xfrm>
            <a:off x="248806" y="885115"/>
            <a:ext cx="5121017" cy="28800"/>
          </a:xfrm>
          <a:custGeom>
            <a:rect b="b" l="l" r="r" t="t"/>
            <a:pathLst>
              <a:path extrusionOk="0" h="28800" w="5121017">
                <a:moveTo>
                  <a:pt x="0" y="0"/>
                </a:moveTo>
                <a:lnTo>
                  <a:pt x="5121017" y="0"/>
                </a:lnTo>
                <a:lnTo>
                  <a:pt x="5121017" y="28800"/>
                </a:lnTo>
                <a:lnTo>
                  <a:pt x="0" y="28800"/>
                </a:lnTo>
                <a:lnTo>
                  <a:pt x="0" y="0"/>
                </a:lnTo>
                <a:close/>
              </a:path>
            </a:pathLst>
          </a:custGeom>
          <a:gradFill>
            <a:gsLst>
              <a:gs pos="0">
                <a:srgbClr val="770000"/>
              </a:gs>
              <a:gs pos="30000">
                <a:srgbClr val="AC0000"/>
              </a:gs>
              <a:gs pos="61000">
                <a:srgbClr val="CE0000"/>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126">
          <p15:clr>
            <a:srgbClr val="F26B43"/>
          </p15:clr>
        </p15:guide>
        <p15:guide id="3" pos="5602">
          <p15:clr>
            <a:srgbClr val="F26B43"/>
          </p15:clr>
        </p15:guide>
        <p15:guide id="4" pos="2880">
          <p15:clr>
            <a:srgbClr val="F26B43"/>
          </p15:clr>
        </p15:guide>
        <p15:guide id="5" orient="horz" pos="123">
          <p15:clr>
            <a:srgbClr val="F26B43"/>
          </p15:clr>
        </p15:guide>
        <p15:guide id="6" orient="horz" pos="3117">
          <p15:clr>
            <a:srgbClr val="F26B43"/>
          </p15:clr>
        </p15:guide>
        <p15:guide id="7" pos="570">
          <p15:clr>
            <a:srgbClr val="F26B43"/>
          </p15:clr>
        </p15:guide>
        <p15:guide id="8" pos="1155">
          <p15:clr>
            <a:srgbClr val="F26B43"/>
          </p15:clr>
        </p15:guide>
        <p15:guide id="9" pos="1728">
          <p15:clr>
            <a:srgbClr val="F26B43"/>
          </p15:clr>
        </p15:guide>
        <p15:guide id="10" pos="2304">
          <p15:clr>
            <a:srgbClr val="F26B43"/>
          </p15:clr>
        </p15:guide>
        <p15:guide id="11" pos="3456">
          <p15:clr>
            <a:srgbClr val="F26B43"/>
          </p15:clr>
        </p15:guide>
        <p15:guide id="12" pos="4035">
          <p15:clr>
            <a:srgbClr val="F26B43"/>
          </p15:clr>
        </p15:guide>
        <p15:guide id="13" pos="4608">
          <p15:clr>
            <a:srgbClr val="F26B43"/>
          </p15:clr>
        </p15:guide>
        <p15:guide id="14" pos="5180">
          <p15:clr>
            <a:srgbClr val="F26B43"/>
          </p15:clr>
        </p15:guide>
        <p15:guide id="15" orient="horz" pos="490">
          <p15:clr>
            <a:srgbClr val="F26B43"/>
          </p15:clr>
        </p15:guide>
        <p15:guide id="16" orient="horz" pos="985">
          <p15:clr>
            <a:srgbClr val="F26B43"/>
          </p15:clr>
        </p15:guide>
        <p15:guide id="17" orient="horz" pos="1475">
          <p15:clr>
            <a:srgbClr val="F26B43"/>
          </p15:clr>
        </p15:guide>
        <p15:guide id="18" orient="horz" pos="1962">
          <p15:clr>
            <a:srgbClr val="F26B43"/>
          </p15:clr>
        </p15:guide>
        <p15:guide id="19" orient="horz" pos="2458">
          <p15:clr>
            <a:srgbClr val="F26B43"/>
          </p15:clr>
        </p15:guide>
        <p15:guide id="20" orient="horz" pos="2950">
          <p15:clr>
            <a:srgbClr val="F26B43"/>
          </p15:clr>
        </p15:guide>
        <p15:guide id="21" pos="5437">
          <p15:clr>
            <a:srgbClr val="F26B43"/>
          </p15:clr>
        </p15:guide>
        <p15:guide id="22" orient="horz">
          <p15:clr>
            <a:srgbClr val="F26B43"/>
          </p15:clr>
        </p15:guide>
        <p15:guide id="23" pos="5760">
          <p15:clr>
            <a:srgbClr val="F26B43"/>
          </p15:clr>
        </p15:guide>
        <p15:guide id="24" orient="horz" pos="3240">
          <p15:clr>
            <a:srgbClr val="F26B43"/>
          </p15:clr>
        </p15:guide>
        <p15:guide id="2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
          <p:cNvSpPr txBox="1"/>
          <p:nvPr>
            <p:ph idx="1" type="body"/>
          </p:nvPr>
        </p:nvSpPr>
        <p:spPr>
          <a:xfrm>
            <a:off x="5981700" y="1254387"/>
            <a:ext cx="2446020" cy="1952942"/>
          </a:xfrm>
          <a:prstGeom prst="rect">
            <a:avLst/>
          </a:prstGeom>
          <a:noFill/>
          <a:ln>
            <a:noFill/>
          </a:ln>
        </p:spPr>
        <p:txBody>
          <a:bodyPr anchorCtr="0" anchor="t" bIns="45700" lIns="180000" spcFirstLastPara="1" rIns="91425" wrap="square" tIns="45700">
            <a:normAutofit/>
          </a:bodyPr>
          <a:lstStyle/>
          <a:p>
            <a:pPr indent="0" lvl="0" marL="0" rtl="0" algn="l">
              <a:lnSpc>
                <a:spcPct val="90000"/>
              </a:lnSpc>
              <a:spcBef>
                <a:spcPts val="0"/>
              </a:spcBef>
              <a:spcAft>
                <a:spcPts val="0"/>
              </a:spcAft>
              <a:buSzPts val="1620"/>
              <a:buNone/>
            </a:pPr>
            <a:r>
              <a:rPr lang="en-US" u="sng"/>
              <a:t>GROUP</a:t>
            </a:r>
            <a:endParaRPr/>
          </a:p>
          <a:p>
            <a:pPr indent="0" lvl="0" marL="0" rtl="0" algn="l">
              <a:lnSpc>
                <a:spcPct val="90000"/>
              </a:lnSpc>
              <a:spcBef>
                <a:spcPts val="750"/>
              </a:spcBef>
              <a:spcAft>
                <a:spcPts val="0"/>
              </a:spcAft>
              <a:buSzPts val="1620"/>
              <a:buNone/>
            </a:pPr>
            <a:r>
              <a:t/>
            </a:r>
            <a:endParaRPr/>
          </a:p>
          <a:p>
            <a:pPr indent="-171450" lvl="0" marL="171450" rtl="0" algn="l">
              <a:lnSpc>
                <a:spcPct val="90000"/>
              </a:lnSpc>
              <a:spcBef>
                <a:spcPts val="750"/>
              </a:spcBef>
              <a:spcAft>
                <a:spcPts val="0"/>
              </a:spcAft>
              <a:buSzPts val="1620"/>
              <a:buChar char="▪"/>
            </a:pPr>
            <a:r>
              <a:rPr lang="en-US"/>
              <a:t>NAME</a:t>
            </a:r>
            <a:endParaRPr/>
          </a:p>
          <a:p>
            <a:pPr indent="-171450" lvl="0" marL="171450" rtl="0" algn="l">
              <a:lnSpc>
                <a:spcPct val="90000"/>
              </a:lnSpc>
              <a:spcBef>
                <a:spcPts val="750"/>
              </a:spcBef>
              <a:spcAft>
                <a:spcPts val="0"/>
              </a:spcAft>
              <a:buSzPts val="1620"/>
              <a:buChar char="▪"/>
            </a:pPr>
            <a:r>
              <a:rPr lang="en-US"/>
              <a:t>NAME</a:t>
            </a:r>
            <a:endParaRPr/>
          </a:p>
          <a:p>
            <a:pPr indent="-171450" lvl="0" marL="171450" rtl="0" algn="l">
              <a:lnSpc>
                <a:spcPct val="90000"/>
              </a:lnSpc>
              <a:spcBef>
                <a:spcPts val="750"/>
              </a:spcBef>
              <a:spcAft>
                <a:spcPts val="0"/>
              </a:spcAft>
              <a:buSzPts val="1620"/>
              <a:buChar char="▪"/>
            </a:pPr>
            <a:r>
              <a:rPr lang="en-US"/>
              <a:t>NAME</a:t>
            </a:r>
            <a:endParaRPr/>
          </a:p>
        </p:txBody>
      </p:sp>
      <p:sp>
        <p:nvSpPr>
          <p:cNvPr id="120" name="Google Shape;120;p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21" name="Google Shape;121;p1"/>
          <p:cNvSpPr/>
          <p:nvPr/>
        </p:nvSpPr>
        <p:spPr>
          <a:xfrm>
            <a:off x="0" y="823166"/>
            <a:ext cx="5638800" cy="33233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22" name="Google Shape;122;p1"/>
          <p:cNvSpPr txBox="1"/>
          <p:nvPr>
            <p:ph type="title"/>
          </p:nvPr>
        </p:nvSpPr>
        <p:spPr>
          <a:xfrm>
            <a:off x="169123" y="1456018"/>
            <a:ext cx="5349028" cy="2690532"/>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lt1"/>
              </a:buClr>
              <a:buSzPts val="3600"/>
              <a:buFont typeface="Libre Franklin"/>
              <a:buNone/>
            </a:pPr>
            <a:r>
              <a:rPr b="0" lang="en-US" sz="3600">
                <a:solidFill>
                  <a:schemeClr val="lt1"/>
                </a:solidFill>
              </a:rPr>
              <a:t>CASE STUDY 1</a:t>
            </a:r>
            <a:br>
              <a:rPr b="0" lang="en-US" sz="3600">
                <a:solidFill>
                  <a:schemeClr val="lt1"/>
                </a:solidFill>
              </a:rPr>
            </a:br>
            <a:br>
              <a:rPr b="0" lang="en-US" sz="3600">
                <a:solidFill>
                  <a:schemeClr val="lt1"/>
                </a:solidFill>
              </a:rPr>
            </a:br>
            <a:r>
              <a:rPr b="0" lang="en-US" sz="3600">
                <a:solidFill>
                  <a:schemeClr val="lt1"/>
                </a:solidFill>
              </a:rPr>
              <a:t>Charging Point Operator (CPO) in Addis Ababa </a:t>
            </a:r>
            <a:endParaRPr b="0" sz="3600">
              <a:solidFill>
                <a:schemeClr val="lt1"/>
              </a:solidFill>
            </a:endParaRPr>
          </a:p>
        </p:txBody>
      </p:sp>
      <p:sp>
        <p:nvSpPr>
          <p:cNvPr id="123" name="Google Shape;123;p1"/>
          <p:cNvSpPr/>
          <p:nvPr/>
        </p:nvSpPr>
        <p:spPr>
          <a:xfrm>
            <a:off x="1" y="4898177"/>
            <a:ext cx="9144000" cy="245323"/>
          </a:xfrm>
          <a:prstGeom prst="rect">
            <a:avLst/>
          </a:prstGeom>
          <a:solidFill>
            <a:srgbClr val="00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 name="Google Shape;124;p1"/>
          <p:cNvSpPr txBox="1"/>
          <p:nvPr/>
        </p:nvSpPr>
        <p:spPr>
          <a:xfrm>
            <a:off x="0" y="4912708"/>
            <a:ext cx="9133383" cy="230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900"/>
              <a:buFont typeface="Avenir"/>
              <a:buNone/>
            </a:pPr>
            <a:r>
              <a:rPr b="0" i="0" lang="en-US" sz="900" u="none" cap="none" strike="noStrike">
                <a:solidFill>
                  <a:schemeClr val="lt1"/>
                </a:solidFill>
                <a:latin typeface="Avenir"/>
                <a:ea typeface="Avenir"/>
                <a:cs typeface="Avenir"/>
                <a:sym typeface="Avenir"/>
              </a:rPr>
              <a:t>This project receives funding from the European Union’s Horizon 2023 Framework Programme for Research and Innovation under Grant Agreement no. 101118123</a:t>
            </a:r>
            <a:endParaRPr b="0" i="0" sz="900" u="none" cap="none" strike="noStrike">
              <a:solidFill>
                <a:schemeClr val="lt1"/>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txBox="1"/>
          <p:nvPr>
            <p:ph type="title"/>
          </p:nvPr>
        </p:nvSpPr>
        <p:spPr>
          <a:xfrm>
            <a:off x="169122" y="306669"/>
            <a:ext cx="7232801"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Rationale</a:t>
            </a:r>
            <a:endParaRPr b="0" sz="3600"/>
          </a:p>
        </p:txBody>
      </p:sp>
      <p:sp>
        <p:nvSpPr>
          <p:cNvPr id="131" name="Google Shape;131;p2"/>
          <p:cNvSpPr txBox="1"/>
          <p:nvPr/>
        </p:nvSpPr>
        <p:spPr>
          <a:xfrm>
            <a:off x="2907237" y="1215845"/>
            <a:ext cx="6192313" cy="3620986"/>
          </a:xfrm>
          <a:prstGeom prst="rect">
            <a:avLst/>
          </a:prstGeom>
          <a:noFill/>
          <a:ln>
            <a:noFill/>
          </a:ln>
        </p:spPr>
        <p:txBody>
          <a:bodyPr anchorCtr="0" anchor="t" bIns="45700" lIns="180000" spcFirstLastPara="1" rIns="91425" wrap="square" tIns="45700">
            <a:normAutofit fontScale="92500" lnSpcReduction="20000"/>
          </a:bodyPr>
          <a:lstStyle/>
          <a:p>
            <a:pPr indent="-171450" lvl="0" marL="171450" marR="0" rtl="0" algn="l">
              <a:lnSpc>
                <a:spcPct val="107000"/>
              </a:lnSpc>
              <a:spcBef>
                <a:spcPts val="0"/>
              </a:spcBef>
              <a:spcAft>
                <a:spcPts val="0"/>
              </a:spcAft>
              <a:buClr>
                <a:schemeClr val="accent1"/>
              </a:buClr>
              <a:buSzPct val="90000"/>
              <a:buFont typeface="Noto Sans Symbols"/>
              <a:buChar char="▪"/>
            </a:pPr>
            <a:r>
              <a:rPr b="0" i="0" lang="en-US" sz="1600" u="none" cap="none" strike="noStrike">
                <a:solidFill>
                  <a:schemeClr val="dk1"/>
                </a:solidFill>
                <a:latin typeface="Calibri"/>
                <a:ea typeface="Calibri"/>
                <a:cs typeface="Calibri"/>
                <a:sym typeface="Calibri"/>
              </a:rPr>
              <a:t>You are a </a:t>
            </a:r>
            <a:r>
              <a:rPr b="1" i="0" lang="en-US" sz="1600" u="none" cap="none" strike="noStrike">
                <a:solidFill>
                  <a:schemeClr val="dk1"/>
                </a:solidFill>
                <a:latin typeface="Calibri"/>
                <a:ea typeface="Calibri"/>
                <a:cs typeface="Calibri"/>
                <a:sym typeface="Calibri"/>
              </a:rPr>
              <a:t>charging point operator (CPO)</a:t>
            </a:r>
            <a:r>
              <a:rPr b="0" i="0" lang="en-US" sz="1600" u="none" cap="none" strike="noStrike">
                <a:solidFill>
                  <a:schemeClr val="dk1"/>
                </a:solidFill>
                <a:latin typeface="Calibri"/>
                <a:ea typeface="Calibri"/>
                <a:cs typeface="Calibri"/>
                <a:sym typeface="Calibri"/>
              </a:rPr>
              <a:t> planning to deploy public EV charging stations (EVSE) in Addis Ababa. With the rapid growth of electric vehicles and the current lack of infrastructure, you see a strong market opportunity.</a:t>
            </a:r>
            <a:endParaRPr/>
          </a:p>
          <a:p>
            <a:pPr indent="-171450" lvl="0" marL="171450" marR="0" rtl="0" algn="l">
              <a:lnSpc>
                <a:spcPct val="107000"/>
              </a:lnSpc>
              <a:spcBef>
                <a:spcPts val="1550"/>
              </a:spcBef>
              <a:spcAft>
                <a:spcPts val="0"/>
              </a:spcAft>
              <a:buClr>
                <a:schemeClr val="accent1"/>
              </a:buClr>
              <a:buSzPct val="90000"/>
              <a:buFont typeface="Noto Sans Symbols"/>
              <a:buChar char="▪"/>
            </a:pPr>
            <a:r>
              <a:rPr b="0" i="0" lang="en-US" sz="1600" u="none" cap="none" strike="noStrike">
                <a:solidFill>
                  <a:schemeClr val="dk1"/>
                </a:solidFill>
                <a:latin typeface="Calibri"/>
                <a:ea typeface="Calibri"/>
                <a:cs typeface="Calibri"/>
                <a:sym typeface="Calibri"/>
              </a:rPr>
              <a:t>As a CPO, your primary objective is </a:t>
            </a:r>
            <a:r>
              <a:rPr b="1" i="0" lang="en-US" sz="1600" u="none" cap="none" strike="noStrike">
                <a:solidFill>
                  <a:schemeClr val="dk1"/>
                </a:solidFill>
                <a:latin typeface="Calibri"/>
                <a:ea typeface="Calibri"/>
                <a:cs typeface="Calibri"/>
                <a:sym typeface="Calibri"/>
              </a:rPr>
              <a:t>profitability</a:t>
            </a:r>
            <a:r>
              <a:rPr b="0" i="0" lang="en-US" sz="1600" u="none" cap="none" strike="noStrike">
                <a:solidFill>
                  <a:schemeClr val="dk1"/>
                </a:solidFill>
                <a:latin typeface="Calibri"/>
                <a:ea typeface="Calibri"/>
                <a:cs typeface="Calibri"/>
                <a:sym typeface="Calibri"/>
              </a:rPr>
              <a:t>. Therefore, you are looking for locations where your charging stations are likely to achieve </a:t>
            </a:r>
            <a:r>
              <a:rPr b="1" i="0" lang="en-US" sz="1600" u="none" cap="none" strike="noStrike">
                <a:solidFill>
                  <a:schemeClr val="dk1"/>
                </a:solidFill>
                <a:latin typeface="Calibri"/>
                <a:ea typeface="Calibri"/>
                <a:cs typeface="Calibri"/>
                <a:sym typeface="Calibri"/>
              </a:rPr>
              <a:t>high utilization rates</a:t>
            </a:r>
            <a:r>
              <a:rPr b="0" i="0" lang="en-US" sz="1600" u="none" cap="none" strike="noStrike">
                <a:solidFill>
                  <a:schemeClr val="dk1"/>
                </a:solidFill>
                <a:latin typeface="Calibri"/>
                <a:ea typeface="Calibri"/>
                <a:cs typeface="Calibri"/>
                <a:sym typeface="Calibri"/>
              </a:rPr>
              <a:t>. At this stage, your focus is not on precise EVSE siting, but on identifying </a:t>
            </a:r>
            <a:r>
              <a:rPr b="1" i="0" lang="en-US" sz="1600" u="none" cap="none" strike="noStrike">
                <a:solidFill>
                  <a:schemeClr val="dk1"/>
                </a:solidFill>
                <a:latin typeface="Calibri"/>
                <a:ea typeface="Calibri"/>
                <a:cs typeface="Calibri"/>
                <a:sym typeface="Calibri"/>
              </a:rPr>
              <a:t>high-potential zones</a:t>
            </a:r>
            <a:r>
              <a:rPr b="0" i="0" lang="en-US" sz="1600" u="none" cap="none" strike="noStrike">
                <a:solidFill>
                  <a:schemeClr val="dk1"/>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171450" lvl="0" marL="171450" marR="0" rtl="0" algn="l">
              <a:lnSpc>
                <a:spcPct val="107000"/>
              </a:lnSpc>
              <a:spcBef>
                <a:spcPts val="1550"/>
              </a:spcBef>
              <a:spcAft>
                <a:spcPts val="0"/>
              </a:spcAft>
              <a:buClr>
                <a:schemeClr val="accent1"/>
              </a:buClr>
              <a:buSzPct val="90000"/>
              <a:buFont typeface="Noto Sans Symbols"/>
              <a:buChar char="▪"/>
            </a:pPr>
            <a:r>
              <a:rPr b="0" i="0" lang="en-US" sz="1600" u="none" cap="none" strike="noStrike">
                <a:solidFill>
                  <a:schemeClr val="dk1"/>
                </a:solidFill>
                <a:latin typeface="Calibri"/>
                <a:ea typeface="Calibri"/>
                <a:cs typeface="Calibri"/>
                <a:sym typeface="Calibri"/>
              </a:rPr>
              <a:t>Your objective is to obtain a </a:t>
            </a:r>
            <a:r>
              <a:rPr b="1" i="0" lang="en-US" sz="1600" u="none" cap="none" strike="noStrike">
                <a:solidFill>
                  <a:schemeClr val="dk1"/>
                </a:solidFill>
                <a:latin typeface="Calibri"/>
                <a:ea typeface="Calibri"/>
                <a:cs typeface="Calibri"/>
                <a:sym typeface="Calibri"/>
              </a:rPr>
              <a:t>first-order understanding</a:t>
            </a:r>
            <a:r>
              <a:rPr b="0" i="0" lang="en-US" sz="1600" u="none" cap="none" strike="noStrike">
                <a:solidFill>
                  <a:schemeClr val="dk1"/>
                </a:solidFill>
                <a:latin typeface="Calibri"/>
                <a:ea typeface="Calibri"/>
                <a:cs typeface="Calibri"/>
                <a:sym typeface="Calibri"/>
              </a:rPr>
              <a:t> of:</a:t>
            </a:r>
            <a:endParaRPr b="0" i="0" sz="1600" u="none" cap="none" strike="noStrike">
              <a:solidFill>
                <a:schemeClr val="dk1"/>
              </a:solidFill>
              <a:latin typeface="Calibri"/>
              <a:ea typeface="Calibri"/>
              <a:cs typeface="Calibri"/>
              <a:sym typeface="Calibri"/>
            </a:endParaRPr>
          </a:p>
          <a:p>
            <a:pPr indent="-342900" lvl="1" marL="685800" marR="0" rtl="0" algn="l">
              <a:lnSpc>
                <a:spcPct val="107000"/>
              </a:lnSpc>
              <a:spcBef>
                <a:spcPts val="1175"/>
              </a:spcBef>
              <a:spcAft>
                <a:spcPts val="0"/>
              </a:spcAft>
              <a:buClr>
                <a:schemeClr val="accent1"/>
              </a:buClr>
              <a:buSzPct val="77220"/>
              <a:buFont typeface="Libre Franklin"/>
              <a:buAutoNum type="arabicPeriod"/>
            </a:pPr>
            <a:r>
              <a:rPr b="0" i="0" lang="en-US" sz="1400" u="none" cap="none" strike="noStrike">
                <a:solidFill>
                  <a:schemeClr val="dk1"/>
                </a:solidFill>
                <a:latin typeface="Calibri"/>
                <a:ea typeface="Calibri"/>
                <a:cs typeface="Calibri"/>
                <a:sym typeface="Calibri"/>
              </a:rPr>
              <a:t>Where to install charging stations </a:t>
            </a:r>
            <a:endParaRPr b="0" i="0" sz="1400" u="none" cap="none" strike="noStrike">
              <a:solidFill>
                <a:schemeClr val="dk1"/>
              </a:solidFill>
              <a:latin typeface="Calibri"/>
              <a:ea typeface="Calibri"/>
              <a:cs typeface="Calibri"/>
              <a:sym typeface="Calibri"/>
            </a:endParaRPr>
          </a:p>
          <a:p>
            <a:pPr indent="-342900" lvl="1" marL="685800" marR="0" rtl="0" algn="l">
              <a:lnSpc>
                <a:spcPct val="107000"/>
              </a:lnSpc>
              <a:spcBef>
                <a:spcPts val="1175"/>
              </a:spcBef>
              <a:spcAft>
                <a:spcPts val="0"/>
              </a:spcAft>
              <a:buClr>
                <a:schemeClr val="accent1"/>
              </a:buClr>
              <a:buSzPct val="77220"/>
              <a:buFont typeface="Libre Franklin"/>
              <a:buAutoNum type="arabicPeriod"/>
            </a:pPr>
            <a:r>
              <a:rPr b="0" i="0" lang="en-US" sz="1400" u="none" cap="none" strike="noStrike">
                <a:solidFill>
                  <a:schemeClr val="dk1"/>
                </a:solidFill>
                <a:latin typeface="Calibri"/>
                <a:ea typeface="Calibri"/>
                <a:cs typeface="Calibri"/>
                <a:sym typeface="Calibri"/>
              </a:rPr>
              <a:t>Tradeoffs in planning based on balancing </a:t>
            </a:r>
            <a:r>
              <a:rPr b="1" i="0" lang="en-US" sz="1400" u="none" cap="none" strike="noStrike">
                <a:solidFill>
                  <a:schemeClr val="dk1"/>
                </a:solidFill>
                <a:latin typeface="Calibri"/>
                <a:ea typeface="Calibri"/>
                <a:cs typeface="Calibri"/>
                <a:sym typeface="Calibri"/>
              </a:rPr>
              <a:t>charging</a:t>
            </a:r>
            <a:r>
              <a:rPr b="0" i="0" lang="en-US" sz="1400" u="none" cap="none" strike="noStrike">
                <a:solidFill>
                  <a:schemeClr val="dk1"/>
                </a:solidFill>
                <a:latin typeface="Calibri"/>
                <a:ea typeface="Calibri"/>
                <a:cs typeface="Calibri"/>
                <a:sym typeface="Calibri"/>
              </a:rPr>
              <a:t> </a:t>
            </a:r>
            <a:r>
              <a:rPr b="1" i="0" lang="en-US" sz="1400" u="none" cap="none" strike="noStrike">
                <a:solidFill>
                  <a:schemeClr val="dk1"/>
                </a:solidFill>
                <a:latin typeface="Calibri"/>
                <a:ea typeface="Calibri"/>
                <a:cs typeface="Calibri"/>
                <a:sym typeface="Calibri"/>
              </a:rPr>
              <a:t>demand, uncertainty, and other criteria</a:t>
            </a:r>
            <a:endParaRPr b="0" i="0" sz="1400" u="none" cap="none" strike="noStrike">
              <a:solidFill>
                <a:schemeClr val="dk1"/>
              </a:solidFill>
              <a:latin typeface="Calibri"/>
              <a:ea typeface="Calibri"/>
              <a:cs typeface="Calibri"/>
              <a:sym typeface="Calibri"/>
            </a:endParaRPr>
          </a:p>
          <a:p>
            <a:pPr indent="-342900" lvl="1" marL="685800" marR="0" rtl="0" algn="l">
              <a:lnSpc>
                <a:spcPct val="107000"/>
              </a:lnSpc>
              <a:spcBef>
                <a:spcPts val="1175"/>
              </a:spcBef>
              <a:spcAft>
                <a:spcPts val="0"/>
              </a:spcAft>
              <a:buClr>
                <a:schemeClr val="accent1"/>
              </a:buClr>
              <a:buSzPct val="77220"/>
              <a:buFont typeface="Libre Franklin"/>
              <a:buAutoNum type="arabicPeriod"/>
            </a:pPr>
            <a:r>
              <a:rPr b="0" i="0" lang="en-US" sz="1400" u="none" cap="none" strike="noStrike">
                <a:solidFill>
                  <a:schemeClr val="dk1"/>
                </a:solidFill>
                <a:latin typeface="Calibri"/>
                <a:ea typeface="Calibri"/>
                <a:cs typeface="Calibri"/>
                <a:sym typeface="Calibri"/>
              </a:rPr>
              <a:t>Explore AC vs DC charging, get a first sense of the profitability of installing on-site PV</a:t>
            </a:r>
            <a:endParaRPr b="0" i="0" sz="1800" u="none" cap="none" strike="noStrike">
              <a:solidFill>
                <a:schemeClr val="dk1"/>
              </a:solidFill>
              <a:latin typeface="Arial"/>
              <a:ea typeface="Arial"/>
              <a:cs typeface="Arial"/>
              <a:sym typeface="Arial"/>
            </a:endParaRPr>
          </a:p>
        </p:txBody>
      </p:sp>
      <p:pic>
        <p:nvPicPr>
          <p:cNvPr id="132" name="Google Shape;132;p2"/>
          <p:cNvPicPr preferRelativeResize="0"/>
          <p:nvPr/>
        </p:nvPicPr>
        <p:blipFill rotWithShape="1">
          <a:blip r:embed="rId3">
            <a:alphaModFix/>
          </a:blip>
          <a:srcRect b="0" l="0" r="0" t="0"/>
          <a:stretch/>
        </p:blipFill>
        <p:spPr>
          <a:xfrm>
            <a:off x="305228" y="1266645"/>
            <a:ext cx="2480113" cy="3721100"/>
          </a:xfrm>
          <a:prstGeom prst="rect">
            <a:avLst/>
          </a:prstGeom>
          <a:noFill/>
          <a:ln>
            <a:noFill/>
          </a:ln>
        </p:spPr>
      </p:pic>
      <p:sp>
        <p:nvSpPr>
          <p:cNvPr id="133" name="Google Shape;133;p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type="title"/>
          </p:nvPr>
        </p:nvSpPr>
        <p:spPr>
          <a:xfrm>
            <a:off x="169122" y="306669"/>
            <a:ext cx="7232801"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1. Baseline simulation</a:t>
            </a:r>
            <a:endParaRPr b="0" sz="3600"/>
          </a:p>
        </p:txBody>
      </p:sp>
      <p:sp>
        <p:nvSpPr>
          <p:cNvPr id="140" name="Google Shape;140;p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41" name="Google Shape;141;p3"/>
          <p:cNvSpPr txBox="1"/>
          <p:nvPr/>
        </p:nvSpPr>
        <p:spPr>
          <a:xfrm>
            <a:off x="113237" y="1215845"/>
            <a:ext cx="6192313" cy="1952805"/>
          </a:xfrm>
          <a:prstGeom prst="rect">
            <a:avLst/>
          </a:prstGeom>
          <a:noFill/>
          <a:ln>
            <a:noFill/>
          </a:ln>
        </p:spPr>
        <p:txBody>
          <a:bodyPr anchorCtr="0" anchor="t" bIns="45700" lIns="180000" spcFirstLastPara="1" rIns="91425" wrap="square" tIns="45700">
            <a:normAutofit fontScale="92500" lnSpcReduction="20000"/>
          </a:bodyPr>
          <a:lstStyle/>
          <a:p>
            <a:pPr indent="-171450" lvl="0" marL="171450" marR="0" rtl="0" algn="l">
              <a:lnSpc>
                <a:spcPct val="107000"/>
              </a:lnSpc>
              <a:spcBef>
                <a:spcPts val="0"/>
              </a:spcBef>
              <a:spcAft>
                <a:spcPts val="0"/>
              </a:spcAft>
              <a:buClr>
                <a:schemeClr val="accent1"/>
              </a:buClr>
              <a:buSzPct val="90000"/>
              <a:buFont typeface="Noto Sans Symbols"/>
              <a:buChar char="▪"/>
            </a:pPr>
            <a:r>
              <a:rPr b="0" i="0" lang="en-US" sz="1800" u="none" cap="none" strike="noStrike">
                <a:solidFill>
                  <a:schemeClr val="dk1"/>
                </a:solidFill>
                <a:latin typeface="Calibri"/>
                <a:ea typeface="Calibri"/>
                <a:cs typeface="Calibri"/>
                <a:sym typeface="Calibri"/>
              </a:rPr>
              <a:t>You assume the following baseline charging behavior based on a recent local projection. This is the expected share of charging needs if charging stations would be available at these locations. </a:t>
            </a:r>
            <a:endParaRPr/>
          </a:p>
          <a:p>
            <a:pPr indent="-171450" lvl="1" marL="514350" marR="0" rtl="0" algn="l">
              <a:lnSpc>
                <a:spcPct val="107000"/>
              </a:lnSpc>
              <a:spcBef>
                <a:spcPts val="1175"/>
              </a:spcBef>
              <a:spcAft>
                <a:spcPts val="0"/>
              </a:spcAft>
              <a:buClr>
                <a:schemeClr val="accent1"/>
              </a:buClr>
              <a:buSzPct val="100000"/>
              <a:buFont typeface="Arial"/>
              <a:buChar char="•"/>
            </a:pPr>
            <a:r>
              <a:rPr b="0" i="0" lang="en-US" sz="1600" u="none" cap="none" strike="noStrike">
                <a:solidFill>
                  <a:schemeClr val="dk1"/>
                </a:solidFill>
                <a:latin typeface="Calibri"/>
                <a:ea typeface="Calibri"/>
                <a:cs typeface="Calibri"/>
                <a:sym typeface="Calibri"/>
              </a:rPr>
              <a:t>You aim to target all these segments</a:t>
            </a:r>
            <a:endParaRPr/>
          </a:p>
          <a:p>
            <a:pPr indent="-171450" lvl="1" marL="514350" marR="0" rtl="0" algn="l">
              <a:lnSpc>
                <a:spcPct val="107000"/>
              </a:lnSpc>
              <a:spcBef>
                <a:spcPts val="1175"/>
              </a:spcBef>
              <a:spcAft>
                <a:spcPts val="0"/>
              </a:spcAft>
              <a:buClr>
                <a:schemeClr val="accent1"/>
              </a:buClr>
              <a:buSzPct val="100000"/>
              <a:buFont typeface="Arial"/>
              <a:buChar char="•"/>
            </a:pPr>
            <a:r>
              <a:rPr b="0" i="0" lang="en-US" sz="1600" u="none" cap="none" strike="noStrike">
                <a:solidFill>
                  <a:schemeClr val="dk1"/>
                </a:solidFill>
                <a:latin typeface="Calibri"/>
                <a:ea typeface="Calibri"/>
                <a:cs typeface="Calibri"/>
                <a:sym typeface="Calibri"/>
              </a:rPr>
              <a:t>Note that charging “at home” may still generate demand for </a:t>
            </a:r>
            <a:r>
              <a:rPr b="1" i="0" lang="en-US" sz="1600" u="none" cap="none" strike="noStrike">
                <a:solidFill>
                  <a:schemeClr val="dk1"/>
                </a:solidFill>
                <a:latin typeface="Calibri"/>
                <a:ea typeface="Calibri"/>
                <a:cs typeface="Calibri"/>
                <a:sym typeface="Calibri"/>
              </a:rPr>
              <a:t>public chargers located near residential areas</a:t>
            </a:r>
            <a:r>
              <a:rPr b="0" i="0" lang="en-US" sz="1600" u="none" cap="none" strike="noStrike">
                <a:solidFill>
                  <a:schemeClr val="dk1"/>
                </a:solidFill>
                <a:latin typeface="Calibri"/>
                <a:ea typeface="Calibri"/>
                <a:cs typeface="Calibri"/>
                <a:sym typeface="Calibri"/>
              </a:rPr>
              <a:t>, especially where private charging is not available.</a:t>
            </a:r>
            <a:endParaRPr b="0" i="0" sz="1600" u="none" cap="none" strike="noStrike">
              <a:solidFill>
                <a:schemeClr val="dk1"/>
              </a:solidFill>
              <a:latin typeface="Calibri"/>
              <a:ea typeface="Calibri"/>
              <a:cs typeface="Calibri"/>
              <a:sym typeface="Calibri"/>
            </a:endParaRPr>
          </a:p>
        </p:txBody>
      </p:sp>
      <p:graphicFrame>
        <p:nvGraphicFramePr>
          <p:cNvPr id="142" name="Google Shape;142;p3"/>
          <p:cNvGraphicFramePr/>
          <p:nvPr/>
        </p:nvGraphicFramePr>
        <p:xfrm>
          <a:off x="6362700" y="1289050"/>
          <a:ext cx="3000000" cy="3000000"/>
        </p:xfrm>
        <a:graphic>
          <a:graphicData uri="http://schemas.openxmlformats.org/drawingml/2006/table">
            <a:tbl>
              <a:tblPr bandRow="1" firstRow="1">
                <a:noFill/>
                <a:tableStyleId>{66717888-4BF3-4FFF-A27D-A42001391BDD}</a:tableStyleId>
              </a:tblPr>
              <a:tblGrid>
                <a:gridCol w="889350"/>
                <a:gridCol w="889350"/>
                <a:gridCol w="889350"/>
              </a:tblGrid>
              <a:tr h="370850">
                <a:tc>
                  <a:txBody>
                    <a:bodyPr/>
                    <a:lstStyle/>
                    <a:p>
                      <a:pPr indent="0" lvl="0" marL="0" marR="0" rtl="0" algn="l">
                        <a:spcBef>
                          <a:spcPts val="0"/>
                        </a:spcBef>
                        <a:spcAft>
                          <a:spcPts val="0"/>
                        </a:spcAft>
                        <a:buNone/>
                      </a:pPr>
                      <a:r>
                        <a:rPr lang="en-US" sz="1350" u="none" cap="none" strike="noStrike"/>
                        <a:t>Home</a:t>
                      </a:r>
                      <a:endParaRPr sz="1350"/>
                    </a:p>
                  </a:txBody>
                  <a:tcPr marT="45725" marB="45725" marR="91450" marL="91450"/>
                </a:tc>
                <a:tc>
                  <a:txBody>
                    <a:bodyPr/>
                    <a:lstStyle/>
                    <a:p>
                      <a:pPr indent="0" lvl="0" marL="0" marR="0" rtl="0" algn="l">
                        <a:spcBef>
                          <a:spcPts val="0"/>
                        </a:spcBef>
                        <a:spcAft>
                          <a:spcPts val="0"/>
                        </a:spcAft>
                        <a:buNone/>
                      </a:pPr>
                      <a:r>
                        <a:rPr lang="en-US" sz="1350"/>
                        <a:t>Work</a:t>
                      </a:r>
                      <a:endParaRPr sz="1350"/>
                    </a:p>
                  </a:txBody>
                  <a:tcPr marT="45725" marB="45725" marR="91450" marL="91450"/>
                </a:tc>
                <a:tc>
                  <a:txBody>
                    <a:bodyPr/>
                    <a:lstStyle/>
                    <a:p>
                      <a:pPr indent="0" lvl="0" marL="0" marR="0" rtl="0" algn="l">
                        <a:spcBef>
                          <a:spcPts val="0"/>
                        </a:spcBef>
                        <a:spcAft>
                          <a:spcPts val="0"/>
                        </a:spcAft>
                        <a:buNone/>
                      </a:pPr>
                      <a:r>
                        <a:rPr lang="en-US" sz="1350"/>
                        <a:t>POI</a:t>
                      </a:r>
                      <a:endParaRPr sz="1350"/>
                    </a:p>
                  </a:txBody>
                  <a:tcPr marT="45725" marB="45725" marR="91450" marL="91450"/>
                </a:tc>
              </a:tr>
              <a:tr h="370850">
                <a:tc>
                  <a:txBody>
                    <a:bodyPr/>
                    <a:lstStyle/>
                    <a:p>
                      <a:pPr indent="0" lvl="0" marL="0" marR="0" rtl="0" algn="l">
                        <a:spcBef>
                          <a:spcPts val="0"/>
                        </a:spcBef>
                        <a:spcAft>
                          <a:spcPts val="0"/>
                        </a:spcAft>
                        <a:buNone/>
                      </a:pPr>
                      <a:r>
                        <a:rPr lang="en-US" sz="1350"/>
                        <a:t>30%</a:t>
                      </a:r>
                      <a:endParaRPr sz="1350"/>
                    </a:p>
                  </a:txBody>
                  <a:tcPr marT="45725" marB="45725" marR="91450" marL="91450"/>
                </a:tc>
                <a:tc>
                  <a:txBody>
                    <a:bodyPr/>
                    <a:lstStyle/>
                    <a:p>
                      <a:pPr indent="0" lvl="0" marL="0" marR="0" rtl="0" algn="l">
                        <a:spcBef>
                          <a:spcPts val="0"/>
                        </a:spcBef>
                        <a:spcAft>
                          <a:spcPts val="0"/>
                        </a:spcAft>
                        <a:buNone/>
                      </a:pPr>
                      <a:r>
                        <a:rPr lang="en-US" sz="1350"/>
                        <a:t>40%</a:t>
                      </a:r>
                      <a:endParaRPr sz="1350"/>
                    </a:p>
                  </a:txBody>
                  <a:tcPr marT="45725" marB="45725" marR="91450" marL="91450"/>
                </a:tc>
                <a:tc>
                  <a:txBody>
                    <a:bodyPr/>
                    <a:lstStyle/>
                    <a:p>
                      <a:pPr indent="0" lvl="0" marL="0" marR="0" rtl="0" algn="l">
                        <a:spcBef>
                          <a:spcPts val="0"/>
                        </a:spcBef>
                        <a:spcAft>
                          <a:spcPts val="0"/>
                        </a:spcAft>
                        <a:buNone/>
                      </a:pPr>
                      <a:r>
                        <a:rPr lang="en-US" sz="1350"/>
                        <a:t>30%</a:t>
                      </a:r>
                      <a:endParaRPr sz="1350"/>
                    </a:p>
                  </a:txBody>
                  <a:tcPr marT="45725" marB="45725" marR="91450" marL="91450"/>
                </a:tc>
              </a:tr>
            </a:tbl>
          </a:graphicData>
        </a:graphic>
      </p:graphicFrame>
      <p:sp>
        <p:nvSpPr>
          <p:cNvPr id="143" name="Google Shape;143;p3"/>
          <p:cNvSpPr txBox="1"/>
          <p:nvPr/>
        </p:nvSpPr>
        <p:spPr>
          <a:xfrm>
            <a:off x="368300" y="3268709"/>
            <a:ext cx="8515350" cy="1700893"/>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a:t>
            </a:r>
            <a:r>
              <a:rPr b="0" i="0" lang="en-US" sz="1800" u="none" cap="none" strike="noStrike">
                <a:solidFill>
                  <a:schemeClr val="dk1"/>
                </a:solidFill>
                <a:latin typeface="Calibri"/>
                <a:ea typeface="Calibri"/>
                <a:cs typeface="Calibri"/>
                <a:sym typeface="Calibri"/>
              </a:rPr>
              <a:t> Run a simulation with the aforementioned scenario and:</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A </a:t>
            </a:r>
            <a:r>
              <a:rPr b="1" i="0" lang="en-US" sz="1500" u="none" cap="none" strike="noStrike">
                <a:solidFill>
                  <a:schemeClr val="dk1"/>
                </a:solidFill>
                <a:latin typeface="Calibri"/>
                <a:ea typeface="Calibri"/>
                <a:cs typeface="Calibri"/>
                <a:sym typeface="Calibri"/>
              </a:rPr>
              <a:t>2 km × 2 km </a:t>
            </a:r>
            <a:r>
              <a:rPr b="0" i="0" lang="en-US" sz="1500" u="none" cap="none" strike="noStrike">
                <a:solidFill>
                  <a:schemeClr val="dk1"/>
                </a:solidFill>
                <a:latin typeface="Calibri"/>
                <a:ea typeface="Calibri"/>
                <a:cs typeface="Calibri"/>
                <a:sym typeface="Calibri"/>
              </a:rPr>
              <a:t>grid (important to have a quite good spatial resolution for this use case)</a:t>
            </a:r>
            <a:endParaRPr/>
          </a:p>
          <a:p>
            <a:pPr indent="-171450" lvl="2" marL="857250" marR="0" rtl="0" algn="l">
              <a:lnSpc>
                <a:spcPct val="107000"/>
              </a:lnSpc>
              <a:spcBef>
                <a:spcPts val="1175"/>
              </a:spcBef>
              <a:spcAft>
                <a:spcPts val="0"/>
              </a:spcAft>
              <a:buClr>
                <a:schemeClr val="dk1"/>
              </a:buClr>
              <a:buSzPts val="1350"/>
              <a:buFont typeface="Noto Sans Symbols"/>
              <a:buChar char="▪"/>
            </a:pPr>
            <a:r>
              <a:rPr b="1" i="0" lang="en-US" sz="1500" u="none" cap="none" strike="noStrike">
                <a:solidFill>
                  <a:schemeClr val="dk1"/>
                </a:solidFill>
                <a:latin typeface="Calibri"/>
                <a:ea typeface="Calibri"/>
                <a:cs typeface="Calibri"/>
                <a:sym typeface="Calibri"/>
              </a:rPr>
              <a:t>10,000 EVs </a:t>
            </a:r>
            <a:r>
              <a:rPr b="0" i="0" lang="en-US" sz="1500" u="none" cap="none" strike="noStrike">
                <a:solidFill>
                  <a:schemeClr val="dk1"/>
                </a:solidFill>
                <a:latin typeface="Calibri"/>
                <a:ea typeface="Calibri"/>
                <a:cs typeface="Calibri"/>
                <a:sym typeface="Calibri"/>
              </a:rPr>
              <a:t>(conservative estimate to not overestimate economic potential for EVSE)</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Default parameters otherwise.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169122" y="306669"/>
            <a:ext cx="7232801"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1. Baseline simulation</a:t>
            </a:r>
            <a:endParaRPr b="0" sz="3600"/>
          </a:p>
        </p:txBody>
      </p:sp>
      <p:sp>
        <p:nvSpPr>
          <p:cNvPr id="150" name="Google Shape;150;p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51" name="Google Shape;151;p4"/>
          <p:cNvSpPr txBox="1"/>
          <p:nvPr/>
        </p:nvSpPr>
        <p:spPr>
          <a:xfrm>
            <a:off x="368300" y="1268459"/>
            <a:ext cx="4600637" cy="3748041"/>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600"/>
              <a:buFont typeface="Libre Franklin"/>
              <a:buAutoNum type="arabicPeriod"/>
            </a:pPr>
            <a:r>
              <a:rPr b="1" i="0" lang="en-US" sz="1600" u="none" cap="none" strike="noStrike">
                <a:solidFill>
                  <a:schemeClr val="dk1"/>
                </a:solidFill>
                <a:latin typeface="Calibri"/>
                <a:ea typeface="Calibri"/>
                <a:cs typeface="Calibri"/>
                <a:sym typeface="Calibri"/>
              </a:rPr>
              <a:t>Where is charging demand the highest?</a:t>
            </a:r>
            <a:r>
              <a:rPr b="0" i="0" lang="en-US" sz="1600" u="none" cap="none" strike="noStrike">
                <a:solidFill>
                  <a:schemeClr val="dk1"/>
                </a:solidFill>
                <a:latin typeface="Calibri"/>
                <a:ea typeface="Calibri"/>
                <a:cs typeface="Calibri"/>
                <a:sym typeface="Calibri"/>
              </a:rPr>
              <a:t> Make a screenshot of the charging demand map and paste it on the right</a:t>
            </a:r>
            <a:endParaRPr/>
          </a:p>
          <a:p>
            <a:pPr indent="-342900" lvl="1" marL="685800" marR="0" rtl="0" algn="l">
              <a:lnSpc>
                <a:spcPct val="107000"/>
              </a:lnSpc>
              <a:spcBef>
                <a:spcPts val="1175"/>
              </a:spcBef>
              <a:spcAft>
                <a:spcPts val="0"/>
              </a:spcAft>
              <a:buClr>
                <a:schemeClr val="dk1"/>
              </a:buClr>
              <a:buSzPts val="1600"/>
              <a:buFont typeface="Libre Franklin"/>
              <a:buAutoNum type="arabicPeriod"/>
            </a:pPr>
            <a:r>
              <a:rPr b="0" i="0" lang="en-US" sz="1600" u="none" cap="none" strike="noStrike">
                <a:solidFill>
                  <a:schemeClr val="dk1"/>
                </a:solidFill>
                <a:latin typeface="Calibri"/>
                <a:ea typeface="Calibri"/>
                <a:cs typeface="Calibri"/>
                <a:sym typeface="Calibri"/>
              </a:rPr>
              <a:t>Do these spatial patterns make sense to you? </a:t>
            </a:r>
            <a:r>
              <a:rPr b="0" i="1" lang="en-US" sz="1600" u="none" cap="none" strike="noStrike">
                <a:solidFill>
                  <a:schemeClr val="dk1"/>
                </a:solidFill>
                <a:latin typeface="Calibri"/>
                <a:ea typeface="Calibri"/>
                <a:cs typeface="Calibri"/>
                <a:sym typeface="Calibri"/>
              </a:rPr>
              <a:t>(HINT: Display the density of workplaces and POIs layers)</a:t>
            </a:r>
            <a:endParaRPr/>
          </a:p>
          <a:p>
            <a:pPr indent="-342900" lvl="1" marL="685800" marR="0" rtl="0" algn="l">
              <a:lnSpc>
                <a:spcPct val="107000"/>
              </a:lnSpc>
              <a:spcBef>
                <a:spcPts val="1175"/>
              </a:spcBef>
              <a:spcAft>
                <a:spcPts val="0"/>
              </a:spcAft>
              <a:buClr>
                <a:schemeClr val="dk1"/>
              </a:buClr>
              <a:buSzPts val="1600"/>
              <a:buFont typeface="Libre Franklin"/>
              <a:buAutoNum type="arabicPeriod"/>
            </a:pPr>
            <a:r>
              <a:rPr b="0" i="0" lang="en-US" sz="1600" u="none" cap="none" strike="noStrike">
                <a:solidFill>
                  <a:schemeClr val="dk1"/>
                </a:solidFill>
                <a:latin typeface="Calibri"/>
                <a:ea typeface="Calibri"/>
                <a:cs typeface="Calibri"/>
                <a:sym typeface="Calibri"/>
              </a:rPr>
              <a:t>Why is the density of workplaces and POI a good </a:t>
            </a:r>
            <a:r>
              <a:rPr b="1" i="0" lang="en-US" sz="1600" u="none" cap="none" strike="noStrike">
                <a:solidFill>
                  <a:schemeClr val="dk1"/>
                </a:solidFill>
                <a:latin typeface="Calibri"/>
                <a:ea typeface="Calibri"/>
                <a:cs typeface="Calibri"/>
                <a:sym typeface="Calibri"/>
              </a:rPr>
              <a:t>proxy</a:t>
            </a:r>
            <a:r>
              <a:rPr b="0" i="0" lang="en-US" sz="1600" u="none" cap="none" strike="noStrike">
                <a:solidFill>
                  <a:schemeClr val="dk1"/>
                </a:solidFill>
                <a:latin typeface="Calibri"/>
                <a:ea typeface="Calibri"/>
                <a:cs typeface="Calibri"/>
                <a:sym typeface="Calibri"/>
              </a:rPr>
              <a:t> for charging demand at these places in Addis Ababa? (</a:t>
            </a:r>
            <a:r>
              <a:rPr b="0" i="1" lang="en-US" sz="1600" u="none" cap="none" strike="noStrike">
                <a:solidFill>
                  <a:schemeClr val="dk1"/>
                </a:solidFill>
                <a:latin typeface="Calibri"/>
                <a:ea typeface="Calibri"/>
                <a:cs typeface="Calibri"/>
                <a:sym typeface="Calibri"/>
              </a:rPr>
              <a:t>HINT: Display the population density layers.) </a:t>
            </a:r>
            <a:endParaRPr/>
          </a:p>
        </p:txBody>
      </p:sp>
      <p:pic>
        <p:nvPicPr>
          <p:cNvPr id="152" name="Google Shape;152;p4"/>
          <p:cNvPicPr preferRelativeResize="0"/>
          <p:nvPr/>
        </p:nvPicPr>
        <p:blipFill rotWithShape="1">
          <a:blip r:embed="rId3">
            <a:alphaModFix/>
          </a:blip>
          <a:srcRect b="0" l="8638" r="10824" t="0"/>
          <a:stretch/>
        </p:blipFill>
        <p:spPr>
          <a:xfrm>
            <a:off x="5200650" y="1268459"/>
            <a:ext cx="3705225" cy="374804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2. Current EVSE network</a:t>
            </a:r>
            <a:endParaRPr b="0" sz="3600"/>
          </a:p>
        </p:txBody>
      </p:sp>
      <p:sp>
        <p:nvSpPr>
          <p:cNvPr id="159" name="Google Shape;159;p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60" name="Google Shape;160;p5"/>
          <p:cNvSpPr txBox="1"/>
          <p:nvPr/>
        </p:nvSpPr>
        <p:spPr>
          <a:xfrm>
            <a:off x="113237" y="1215845"/>
            <a:ext cx="7992538" cy="38435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Currently, only a limited number of public charging stations exist in Addis Ababa.</a:t>
            </a:r>
            <a:endParaRPr b="0" i="0" sz="1800" u="none" cap="none" strike="noStrike">
              <a:solidFill>
                <a:schemeClr val="dk1"/>
              </a:solidFill>
              <a:latin typeface="Calibri"/>
              <a:ea typeface="Calibri"/>
              <a:cs typeface="Calibri"/>
              <a:sym typeface="Calibri"/>
            </a:endParaRPr>
          </a:p>
        </p:txBody>
      </p:sp>
      <p:sp>
        <p:nvSpPr>
          <p:cNvPr id="161" name="Google Shape;161;p5"/>
          <p:cNvSpPr txBox="1"/>
          <p:nvPr/>
        </p:nvSpPr>
        <p:spPr>
          <a:xfrm>
            <a:off x="368300" y="1733002"/>
            <a:ext cx="8262938" cy="2194653"/>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Upload the provided GeoJSON file containing the locations of the existing EVSEs in Addis Ababa (EVSE_network_AddisAbaba.geojson)</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Display them on the map.</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Insert a screenshot of the map showing both the charging demand in space and the current charging infrastructure on the next slide</a:t>
            </a:r>
            <a:endParaRPr/>
          </a:p>
          <a:p>
            <a:pPr indent="-85725" lvl="2" marL="857250" marR="0" rtl="0" algn="l">
              <a:lnSpc>
                <a:spcPct val="107000"/>
              </a:lnSpc>
              <a:spcBef>
                <a:spcPts val="1175"/>
              </a:spcBef>
              <a:spcAft>
                <a:spcPts val="0"/>
              </a:spcAft>
              <a:buClr>
                <a:schemeClr val="dk1"/>
              </a:buClr>
              <a:buSzPts val="1350"/>
              <a:buFont typeface="Noto Sans Symbols"/>
              <a:buNone/>
            </a:pPr>
            <a:r>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6"/>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2. Current EVSE network</a:t>
            </a:r>
            <a:endParaRPr b="0" sz="3600"/>
          </a:p>
        </p:txBody>
      </p:sp>
      <p:sp>
        <p:nvSpPr>
          <p:cNvPr id="168" name="Google Shape;168;p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69" name="Google Shape;169;p6"/>
          <p:cNvSpPr txBox="1"/>
          <p:nvPr/>
        </p:nvSpPr>
        <p:spPr>
          <a:xfrm>
            <a:off x="113237" y="1215845"/>
            <a:ext cx="4163488" cy="1708330"/>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Charging needs vs current EVSE network</a:t>
            </a:r>
            <a:endParaRPr b="0" i="0" sz="1800" u="none" cap="none" strike="noStrike">
              <a:solidFill>
                <a:schemeClr val="dk1"/>
              </a:solidFill>
              <a:latin typeface="Calibri"/>
              <a:ea typeface="Calibri"/>
              <a:cs typeface="Calibri"/>
              <a:sym typeface="Calibri"/>
            </a:endParaRPr>
          </a:p>
        </p:txBody>
      </p:sp>
      <p:pic>
        <p:nvPicPr>
          <p:cNvPr id="170" name="Google Shape;170;p6"/>
          <p:cNvPicPr preferRelativeResize="0"/>
          <p:nvPr/>
        </p:nvPicPr>
        <p:blipFill rotWithShape="1">
          <a:blip r:embed="rId3">
            <a:alphaModFix/>
          </a:blip>
          <a:srcRect b="0" l="8638" r="10824" t="0"/>
          <a:stretch/>
        </p:blipFill>
        <p:spPr>
          <a:xfrm>
            <a:off x="4724400" y="1268459"/>
            <a:ext cx="3705225" cy="37480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2. Current EVSE network</a:t>
            </a:r>
            <a:endParaRPr b="0" sz="3600"/>
          </a:p>
        </p:txBody>
      </p:sp>
      <p:sp>
        <p:nvSpPr>
          <p:cNvPr id="177" name="Google Shape;177;p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78" name="Google Shape;178;p7"/>
          <p:cNvSpPr txBox="1"/>
          <p:nvPr/>
        </p:nvSpPr>
        <p:spPr>
          <a:xfrm>
            <a:off x="368300" y="1268459"/>
            <a:ext cx="8515350" cy="3748041"/>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4"/>
            </a:pPr>
            <a:r>
              <a:rPr b="0" i="0" lang="en-US" sz="1600" u="none" cap="none" strike="noStrike">
                <a:solidFill>
                  <a:schemeClr val="dk1"/>
                </a:solidFill>
                <a:latin typeface="Calibri"/>
                <a:ea typeface="Calibri"/>
                <a:cs typeface="Calibri"/>
                <a:sym typeface="Calibri"/>
              </a:rPr>
              <a:t>According to your simulation, are current charging stations </a:t>
            </a:r>
            <a:r>
              <a:rPr b="1" i="0" lang="en-US" sz="1600" u="none" cap="none" strike="noStrike">
                <a:solidFill>
                  <a:schemeClr val="dk1"/>
                </a:solidFill>
                <a:latin typeface="Calibri"/>
                <a:ea typeface="Calibri"/>
                <a:cs typeface="Calibri"/>
                <a:sym typeface="Calibri"/>
              </a:rPr>
              <a:t>strategically located</a:t>
            </a:r>
            <a:r>
              <a:rPr b="0" i="0" lang="en-US" sz="1600" u="none" cap="none" strike="noStrike">
                <a:solidFill>
                  <a:schemeClr val="dk1"/>
                </a:solidFill>
                <a:latin typeface="Calibri"/>
                <a:ea typeface="Calibri"/>
                <a:cs typeface="Calibri"/>
                <a:sym typeface="Calibri"/>
              </a:rPr>
              <a:t>? In the north-east, one station appears less optimally located: could explain the presence of a charging station there?</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4"/>
            </a:pPr>
            <a:r>
              <a:rPr b="0" i="0" lang="en-US" sz="1600" u="none" cap="none" strike="noStrike">
                <a:solidFill>
                  <a:schemeClr val="dk1"/>
                </a:solidFill>
                <a:latin typeface="Calibri"/>
                <a:ea typeface="Calibri"/>
                <a:cs typeface="Calibri"/>
                <a:sym typeface="Calibri"/>
              </a:rPr>
              <a:t>One potential candidate is zone </a:t>
            </a:r>
            <a:r>
              <a:rPr b="0" i="1" lang="en-US" sz="1600" u="none" cap="none" strike="noStrike">
                <a:solidFill>
                  <a:schemeClr val="dk1"/>
                </a:solidFill>
                <a:latin typeface="Calibri"/>
                <a:ea typeface="Calibri"/>
                <a:cs typeface="Calibri"/>
                <a:sym typeface="Calibri"/>
              </a:rPr>
              <a:t>6_11</a:t>
            </a:r>
            <a:r>
              <a:rPr b="0" i="0" lang="en-US" sz="1600" u="none" cap="none" strike="noStrike">
                <a:solidFill>
                  <a:schemeClr val="dk1"/>
                </a:solidFill>
                <a:latin typeface="Calibri"/>
                <a:ea typeface="Calibri"/>
                <a:cs typeface="Calibri"/>
                <a:sym typeface="Calibri"/>
              </a:rPr>
              <a:t>. (high demand, low competition with other EVSE). </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What is the expected </a:t>
            </a:r>
            <a:r>
              <a:rPr b="1" i="0" lang="en-US" sz="1500" u="none" cap="none" strike="noStrike">
                <a:solidFill>
                  <a:schemeClr val="dk1"/>
                </a:solidFill>
                <a:latin typeface="Calibri"/>
                <a:ea typeface="Calibri"/>
                <a:cs typeface="Calibri"/>
                <a:sym typeface="Calibri"/>
              </a:rPr>
              <a:t>daily charging demand </a:t>
            </a:r>
            <a:r>
              <a:rPr b="0" i="0" lang="en-US" sz="1500" u="none" cap="none" strike="noStrike">
                <a:solidFill>
                  <a:schemeClr val="dk1"/>
                </a:solidFill>
                <a:latin typeface="Calibri"/>
                <a:ea typeface="Calibri"/>
                <a:cs typeface="Calibri"/>
                <a:sym typeface="Calibri"/>
              </a:rPr>
              <a:t>in 6_11 under the current scenario?</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Assume one EVSE delivers 22 kW with a 30% utilization rate.</a:t>
            </a:r>
            <a:endParaRPr/>
          </a:p>
          <a:p>
            <a:pPr indent="-171450" lvl="3" marL="1200150" marR="0" rtl="0" algn="l">
              <a:lnSpc>
                <a:spcPct val="107000"/>
              </a:lnSpc>
              <a:spcBef>
                <a:spcPts val="1175"/>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How much </a:t>
            </a:r>
            <a:r>
              <a:rPr b="1" i="0" lang="en-US" sz="1400" u="none" cap="none" strike="noStrike">
                <a:solidFill>
                  <a:schemeClr val="dk1"/>
                </a:solidFill>
                <a:latin typeface="Calibri"/>
                <a:ea typeface="Calibri"/>
                <a:cs typeface="Calibri"/>
                <a:sym typeface="Calibri"/>
              </a:rPr>
              <a:t>energy does one EVSE deliver per day</a:t>
            </a:r>
            <a:r>
              <a:rPr b="0" i="0" lang="en-US" sz="1400" u="none" cap="none" strike="noStrike">
                <a:solidFill>
                  <a:schemeClr val="dk1"/>
                </a:solidFill>
                <a:latin typeface="Calibri"/>
                <a:ea typeface="Calibri"/>
                <a:cs typeface="Calibri"/>
                <a:sym typeface="Calibri"/>
              </a:rPr>
              <a:t>?</a:t>
            </a:r>
            <a:endParaRPr/>
          </a:p>
          <a:p>
            <a:pPr indent="-171450" lvl="3" marL="1200150" marR="0" rtl="0" algn="l">
              <a:lnSpc>
                <a:spcPct val="107000"/>
              </a:lnSpc>
              <a:spcBef>
                <a:spcPts val="1175"/>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Based on the simulated demand, </a:t>
            </a:r>
            <a:r>
              <a:rPr b="1" i="0" lang="en-US" sz="1400" u="none" cap="none" strike="noStrike">
                <a:solidFill>
                  <a:schemeClr val="dk1"/>
                </a:solidFill>
                <a:latin typeface="Calibri"/>
                <a:ea typeface="Calibri"/>
                <a:cs typeface="Calibri"/>
                <a:sym typeface="Calibri"/>
              </a:rPr>
              <a:t>how many EVSE are needed</a:t>
            </a:r>
            <a:r>
              <a:rPr b="0" i="0" lang="en-US" sz="1400" u="none" cap="none" strike="noStrike">
                <a:solidFill>
                  <a:schemeClr val="dk1"/>
                </a:solidFill>
                <a:latin typeface="Calibri"/>
                <a:ea typeface="Calibri"/>
                <a:cs typeface="Calibri"/>
                <a:sym typeface="Calibri"/>
              </a:rPr>
              <a:t>? How does this compare to the current number of stations? Repeat the calculation with a 50 kW DC charger. What changes?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3. EVSE locations under uncertainty</a:t>
            </a:r>
            <a:endParaRPr b="0" sz="3600"/>
          </a:p>
        </p:txBody>
      </p:sp>
      <p:sp>
        <p:nvSpPr>
          <p:cNvPr id="185" name="Google Shape;185;p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86" name="Google Shape;186;p8"/>
          <p:cNvSpPr txBox="1"/>
          <p:nvPr/>
        </p:nvSpPr>
        <p:spPr>
          <a:xfrm>
            <a:off x="113237" y="1215845"/>
            <a:ext cx="4304035" cy="1479730"/>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In reality, the previous charging scenario might not hold. The exact split (home/work/POI) is difficult to anticipate due to uncertainty in user behaviors.</a:t>
            </a:r>
            <a:endParaRPr b="0" i="0" sz="1800" u="none" cap="none" strike="noStrike">
              <a:solidFill>
                <a:schemeClr val="dk1"/>
              </a:solidFill>
              <a:latin typeface="Calibri"/>
              <a:ea typeface="Calibri"/>
              <a:cs typeface="Calibri"/>
              <a:sym typeface="Calibri"/>
            </a:endParaRPr>
          </a:p>
        </p:txBody>
      </p:sp>
      <p:sp>
        <p:nvSpPr>
          <p:cNvPr id="187" name="Google Shape;187;p8"/>
          <p:cNvSpPr txBox="1"/>
          <p:nvPr/>
        </p:nvSpPr>
        <p:spPr>
          <a:xfrm>
            <a:off x="4495800" y="1300622"/>
            <a:ext cx="4479078" cy="1182496"/>
          </a:xfrm>
          <a:prstGeom prst="rect">
            <a:avLst/>
          </a:prstGeom>
          <a:solidFill>
            <a:srgbClr val="CCFFCC"/>
          </a:solidFill>
          <a:ln>
            <a:noFill/>
          </a:ln>
        </p:spPr>
        <p:txBody>
          <a:bodyPr anchorCtr="0" anchor="t" bIns="45700" lIns="180000" spcFirstLastPara="1" rIns="91425" wrap="square" tIns="45700">
            <a:normAutofit lnSpcReduction="10000"/>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 </a:t>
            </a:r>
            <a:r>
              <a:rPr b="0" i="0" lang="en-US" sz="1800" u="none" cap="none" strike="noStrike">
                <a:solidFill>
                  <a:schemeClr val="dk1"/>
                </a:solidFill>
                <a:latin typeface="Calibri"/>
                <a:ea typeface="Calibri"/>
                <a:cs typeface="Calibri"/>
                <a:sym typeface="Calibri"/>
              </a:rPr>
              <a:t>Run three extreme scenarios: 100% charging at home, 100% charging at workplaces, 100% charging at home.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Insert the 3 screenshots below. </a:t>
            </a:r>
            <a:endParaRPr b="1" i="0" sz="1800" u="none" cap="none" strike="noStrike">
              <a:solidFill>
                <a:schemeClr val="dk1"/>
              </a:solidFill>
              <a:latin typeface="Calibri"/>
              <a:ea typeface="Calibri"/>
              <a:cs typeface="Calibri"/>
              <a:sym typeface="Calibri"/>
            </a:endParaRPr>
          </a:p>
        </p:txBody>
      </p:sp>
      <p:pic>
        <p:nvPicPr>
          <p:cNvPr id="188" name="Google Shape;188;p8"/>
          <p:cNvPicPr preferRelativeResize="0"/>
          <p:nvPr/>
        </p:nvPicPr>
        <p:blipFill rotWithShape="1">
          <a:blip r:embed="rId3">
            <a:alphaModFix/>
          </a:blip>
          <a:srcRect b="0" l="8638" r="10824" t="0"/>
          <a:stretch/>
        </p:blipFill>
        <p:spPr>
          <a:xfrm>
            <a:off x="457200" y="2660381"/>
            <a:ext cx="2151587" cy="2176450"/>
          </a:xfrm>
          <a:prstGeom prst="rect">
            <a:avLst/>
          </a:prstGeom>
          <a:noFill/>
          <a:ln>
            <a:noFill/>
          </a:ln>
        </p:spPr>
      </p:pic>
      <p:pic>
        <p:nvPicPr>
          <p:cNvPr id="189" name="Google Shape;189;p8"/>
          <p:cNvPicPr preferRelativeResize="0"/>
          <p:nvPr/>
        </p:nvPicPr>
        <p:blipFill rotWithShape="1">
          <a:blip r:embed="rId3">
            <a:alphaModFix/>
          </a:blip>
          <a:srcRect b="0" l="8638" r="10824" t="0"/>
          <a:stretch/>
        </p:blipFill>
        <p:spPr>
          <a:xfrm>
            <a:off x="3477524" y="2660381"/>
            <a:ext cx="2151587" cy="2176450"/>
          </a:xfrm>
          <a:prstGeom prst="rect">
            <a:avLst/>
          </a:prstGeom>
          <a:noFill/>
          <a:ln>
            <a:noFill/>
          </a:ln>
        </p:spPr>
      </p:pic>
      <p:pic>
        <p:nvPicPr>
          <p:cNvPr id="190" name="Google Shape;190;p8"/>
          <p:cNvPicPr preferRelativeResize="0"/>
          <p:nvPr/>
        </p:nvPicPr>
        <p:blipFill rotWithShape="1">
          <a:blip r:embed="rId3">
            <a:alphaModFix/>
          </a:blip>
          <a:srcRect b="0" l="8638" r="10824" t="0"/>
          <a:stretch/>
        </p:blipFill>
        <p:spPr>
          <a:xfrm>
            <a:off x="6497848" y="2660382"/>
            <a:ext cx="2151586" cy="2176449"/>
          </a:xfrm>
          <a:prstGeom prst="rect">
            <a:avLst/>
          </a:prstGeom>
          <a:noFill/>
          <a:ln>
            <a:noFill/>
          </a:ln>
        </p:spPr>
      </p:pic>
      <p:sp>
        <p:nvSpPr>
          <p:cNvPr id="191" name="Google Shape;191;p8"/>
          <p:cNvSpPr txBox="1"/>
          <p:nvPr/>
        </p:nvSpPr>
        <p:spPr>
          <a:xfrm>
            <a:off x="703787" y="4801097"/>
            <a:ext cx="1448863" cy="384355"/>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100% Home</a:t>
            </a:r>
            <a:endParaRPr b="0" i="0" sz="1800" u="none" cap="none" strike="noStrike">
              <a:solidFill>
                <a:schemeClr val="dk1"/>
              </a:solidFill>
              <a:latin typeface="Calibri"/>
              <a:ea typeface="Calibri"/>
              <a:cs typeface="Calibri"/>
              <a:sym typeface="Calibri"/>
            </a:endParaRPr>
          </a:p>
        </p:txBody>
      </p:sp>
      <p:sp>
        <p:nvSpPr>
          <p:cNvPr id="192" name="Google Shape;192;p8"/>
          <p:cNvSpPr txBox="1"/>
          <p:nvPr/>
        </p:nvSpPr>
        <p:spPr>
          <a:xfrm>
            <a:off x="3771368" y="4801097"/>
            <a:ext cx="1448863" cy="384355"/>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100% Work</a:t>
            </a:r>
            <a:endParaRPr b="0" i="0" sz="1800" u="none" cap="none" strike="noStrike">
              <a:solidFill>
                <a:schemeClr val="dk1"/>
              </a:solidFill>
              <a:latin typeface="Calibri"/>
              <a:ea typeface="Calibri"/>
              <a:cs typeface="Calibri"/>
              <a:sym typeface="Calibri"/>
            </a:endParaRPr>
          </a:p>
        </p:txBody>
      </p:sp>
      <p:sp>
        <p:nvSpPr>
          <p:cNvPr id="193" name="Google Shape;193;p8"/>
          <p:cNvSpPr txBox="1"/>
          <p:nvPr/>
        </p:nvSpPr>
        <p:spPr>
          <a:xfrm>
            <a:off x="6991350" y="4787720"/>
            <a:ext cx="1448863" cy="384355"/>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100% POI</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3. EVSE locations under uncertainty</a:t>
            </a:r>
            <a:endParaRPr b="0" sz="3600"/>
          </a:p>
        </p:txBody>
      </p:sp>
      <p:sp>
        <p:nvSpPr>
          <p:cNvPr id="200" name="Google Shape;200;p9"/>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01" name="Google Shape;201;p9"/>
          <p:cNvSpPr txBox="1"/>
          <p:nvPr/>
        </p:nvSpPr>
        <p:spPr>
          <a:xfrm>
            <a:off x="113237" y="1215845"/>
            <a:ext cx="9030763" cy="1479730"/>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To reduce investment risk, your idea is to try to identify </a:t>
            </a:r>
            <a:r>
              <a:rPr b="1" i="0" lang="en-US" sz="1800" u="none" cap="none" strike="noStrike">
                <a:solidFill>
                  <a:schemeClr val="dk1"/>
                </a:solidFill>
                <a:latin typeface="Calibri"/>
                <a:ea typeface="Calibri"/>
                <a:cs typeface="Calibri"/>
                <a:sym typeface="Calibri"/>
              </a:rPr>
              <a:t>robust locations</a:t>
            </a:r>
            <a:r>
              <a:rPr b="0" i="0" lang="en-US" sz="1800" u="none" cap="none" strike="noStrike">
                <a:solidFill>
                  <a:schemeClr val="dk1"/>
                </a:solidFill>
                <a:latin typeface="Calibri"/>
                <a:ea typeface="Calibri"/>
                <a:cs typeface="Calibri"/>
                <a:sym typeface="Calibri"/>
              </a:rPr>
              <a:t>: areas where demand is remains high regardless of the scenario. In these areas, a public charger may also benefit from a higher utilization as it may serve different use cases (home, work, POI). </a:t>
            </a:r>
            <a:endParaRPr/>
          </a:p>
          <a:p>
            <a:pPr indent="0" lvl="0" marL="0" marR="0" rtl="0" algn="l">
              <a:lnSpc>
                <a:spcPct val="107000"/>
              </a:lnSpc>
              <a:spcBef>
                <a:spcPts val="1550"/>
              </a:spcBef>
              <a:spcAft>
                <a:spcPts val="0"/>
              </a:spcAft>
              <a:buClr>
                <a:schemeClr val="accent1"/>
              </a:buClr>
              <a:buSzPts val="1620"/>
              <a:buFont typeface="Noto Sans Symbols"/>
              <a:buNone/>
            </a:pPr>
            <a:r>
              <a:rPr b="0" i="0" lang="en-US" sz="1800" u="none" cap="none" strike="noStrike">
                <a:solidFill>
                  <a:schemeClr val="dk1"/>
                </a:solidFill>
                <a:latin typeface="Arial"/>
                <a:ea typeface="Arial"/>
                <a:cs typeface="Arial"/>
                <a:sym typeface="Arial"/>
              </a:rPr>
              <a:t>💡</a:t>
            </a:r>
            <a:r>
              <a:rPr b="0" i="0" lang="en-US" sz="1800" u="none" cap="none" strike="noStrike">
                <a:solidFill>
                  <a:schemeClr val="dk1"/>
                </a:solidFill>
                <a:latin typeface="Calibri"/>
                <a:ea typeface="Calibri"/>
                <a:cs typeface="Calibri"/>
                <a:sym typeface="Calibri"/>
              </a:rPr>
              <a:t>You expect these places to be the best spots to kickstart the deployment of EVSE. </a:t>
            </a:r>
            <a:endParaRPr b="0" i="0" sz="1800" u="none" cap="none" strike="noStrike">
              <a:solidFill>
                <a:schemeClr val="dk1"/>
              </a:solidFill>
              <a:latin typeface="Calibri"/>
              <a:ea typeface="Calibri"/>
              <a:cs typeface="Calibri"/>
              <a:sym typeface="Calibri"/>
            </a:endParaRPr>
          </a:p>
        </p:txBody>
      </p:sp>
      <p:sp>
        <p:nvSpPr>
          <p:cNvPr id="202" name="Google Shape;202;p9"/>
          <p:cNvSpPr txBox="1"/>
          <p:nvPr/>
        </p:nvSpPr>
        <p:spPr>
          <a:xfrm>
            <a:off x="368300" y="2986399"/>
            <a:ext cx="8262938" cy="2028513"/>
          </a:xfrm>
          <a:prstGeom prst="rect">
            <a:avLst/>
          </a:prstGeom>
          <a:solidFill>
            <a:srgbClr val="CCFFCC"/>
          </a:solidFill>
          <a:ln>
            <a:noFill/>
          </a:ln>
        </p:spPr>
        <p:txBody>
          <a:bodyPr anchorCtr="0" anchor="t" bIns="45700" lIns="180000" spcFirstLastPara="1" rIns="91425" wrap="square" tIns="45700">
            <a:normAutofit lnSpcReduction="20000"/>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a:t>
            </a:r>
            <a:endParaRPr/>
          </a:p>
          <a:p>
            <a:pPr indent="-171450" lvl="2" marL="857250" marR="0" rtl="0" algn="l">
              <a:lnSpc>
                <a:spcPct val="107000"/>
              </a:lnSpc>
              <a:spcBef>
                <a:spcPts val="1175"/>
              </a:spcBef>
              <a:spcAft>
                <a:spcPts val="0"/>
              </a:spcAft>
              <a:buClr>
                <a:schemeClr val="dk1"/>
              </a:buClr>
              <a:buSzPts val="1350"/>
              <a:buFont typeface="Noto Sans Symbols"/>
              <a:buChar char="▪"/>
            </a:pPr>
            <a:r>
              <a:rPr lang="en-US" sz="1500">
                <a:solidFill>
                  <a:schemeClr val="dk1"/>
                </a:solidFill>
                <a:latin typeface="Calibri"/>
                <a:ea typeface="Calibri"/>
                <a:cs typeface="Calibri"/>
                <a:sym typeface="Calibri"/>
              </a:rPr>
              <a:t>In the online folder, you </a:t>
            </a:r>
            <a:r>
              <a:rPr b="0" i="0" lang="en-US" sz="1500" u="none" cap="none" strike="noStrike">
                <a:solidFill>
                  <a:schemeClr val="dk1"/>
                </a:solidFill>
                <a:latin typeface="Calibri"/>
                <a:ea typeface="Calibri"/>
                <a:cs typeface="Calibri"/>
                <a:sym typeface="Calibri"/>
              </a:rPr>
              <a:t>are provided with a file (spatial_demand_norm.xlsx) containing, for each zone: the </a:t>
            </a:r>
            <a:r>
              <a:rPr b="1" i="0" lang="en-US" sz="1500" u="none" cap="none" strike="noStrike">
                <a:solidFill>
                  <a:schemeClr val="dk1"/>
                </a:solidFill>
                <a:latin typeface="Calibri"/>
                <a:ea typeface="Calibri"/>
                <a:cs typeface="Calibri"/>
                <a:sym typeface="Calibri"/>
              </a:rPr>
              <a:t>normalized</a:t>
            </a:r>
            <a:r>
              <a:rPr b="0" i="0" lang="en-US" sz="1500" u="none" cap="none" strike="noStrike">
                <a:solidFill>
                  <a:schemeClr val="dk1"/>
                </a:solidFill>
                <a:latin typeface="Calibri"/>
                <a:ea typeface="Calibri"/>
                <a:cs typeface="Calibri"/>
                <a:sym typeface="Calibri"/>
              </a:rPr>
              <a:t> charging demand for home, work, and POI (i.e. share of total demand if 100% of charging occurs in that category). This file has been generated with EVPV-Simulator and some postprocessing.</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Explore this file (spatial_demand_norm.xlsx)</a:t>
            </a:r>
            <a:endParaRPr/>
          </a:p>
          <a:p>
            <a:pPr indent="0" lvl="2" marL="685800" marR="0" rtl="0" algn="l">
              <a:lnSpc>
                <a:spcPct val="107000"/>
              </a:lnSpc>
              <a:spcBef>
                <a:spcPts val="1175"/>
              </a:spcBef>
              <a:spcAft>
                <a:spcPts val="0"/>
              </a:spcAft>
              <a:buClr>
                <a:schemeClr val="dk1"/>
              </a:buClr>
              <a:buSzPts val="1350"/>
              <a:buFont typeface="Noto Sans Symbols"/>
              <a:buNone/>
            </a:pPr>
            <a:r>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3. EVSE locations under uncertainty</a:t>
            </a:r>
            <a:endParaRPr b="0" sz="3600"/>
          </a:p>
        </p:txBody>
      </p:sp>
      <p:sp>
        <p:nvSpPr>
          <p:cNvPr id="209" name="Google Shape;209;p10"/>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10" name="Google Shape;210;p10"/>
          <p:cNvSpPr txBox="1"/>
          <p:nvPr/>
        </p:nvSpPr>
        <p:spPr>
          <a:xfrm>
            <a:off x="368300" y="1268459"/>
            <a:ext cx="8515350" cy="2874916"/>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6"/>
            </a:pPr>
            <a:r>
              <a:rPr b="0" i="0" lang="en-US" sz="1600" u="none" cap="none" strike="noStrike">
                <a:solidFill>
                  <a:schemeClr val="dk1"/>
                </a:solidFill>
                <a:latin typeface="Calibri"/>
                <a:ea typeface="Calibri"/>
                <a:cs typeface="Calibri"/>
                <a:sym typeface="Calibri"/>
              </a:rPr>
              <a:t>Look at the </a:t>
            </a:r>
            <a:r>
              <a:rPr b="1" i="0" lang="en-US" sz="1600" u="none" cap="none" strike="noStrike">
                <a:solidFill>
                  <a:schemeClr val="dk1"/>
                </a:solidFill>
                <a:latin typeface="Calibri"/>
                <a:ea typeface="Calibri"/>
                <a:cs typeface="Calibri"/>
                <a:sym typeface="Calibri"/>
              </a:rPr>
              <a:t>normalized home charging demand</a:t>
            </a:r>
            <a:r>
              <a:rPr b="0" i="0" lang="en-US" sz="1600" u="none" cap="none" strike="noStrike">
                <a:solidFill>
                  <a:schemeClr val="dk1"/>
                </a:solidFill>
                <a:latin typeface="Calibri"/>
                <a:ea typeface="Calibri"/>
                <a:cs typeface="Calibri"/>
                <a:sym typeface="Calibri"/>
              </a:rPr>
              <a:t>. Why is the maximum normalized demand at home lower than </a:t>
            </a:r>
            <a:r>
              <a:rPr lang="en-US" sz="1600">
                <a:solidFill>
                  <a:schemeClr val="dk1"/>
                </a:solidFill>
                <a:latin typeface="Calibri"/>
                <a:ea typeface="Calibri"/>
                <a:cs typeface="Calibri"/>
                <a:sym typeface="Calibri"/>
              </a:rPr>
              <a:t>at</a:t>
            </a:r>
            <a:r>
              <a:rPr b="0" i="0" lang="en-US" sz="1600" u="none" cap="none" strike="noStrike">
                <a:solidFill>
                  <a:schemeClr val="dk1"/>
                </a:solidFill>
                <a:latin typeface="Calibri"/>
                <a:ea typeface="Calibri"/>
                <a:cs typeface="Calibri"/>
                <a:sym typeface="Calibri"/>
              </a:rPr>
              <a:t> work and </a:t>
            </a:r>
            <a:r>
              <a:rPr lang="en-US" sz="1600">
                <a:solidFill>
                  <a:schemeClr val="dk1"/>
                </a:solidFill>
                <a:latin typeface="Calibri"/>
                <a:ea typeface="Calibri"/>
                <a:cs typeface="Calibri"/>
                <a:sym typeface="Calibri"/>
              </a:rPr>
              <a:t>POIs </a:t>
            </a:r>
            <a:r>
              <a:rPr b="0" i="0" lang="en-US" sz="1600" u="none" cap="none" strike="noStrike">
                <a:solidFill>
                  <a:schemeClr val="dk1"/>
                </a:solidFill>
                <a:latin typeface="Calibri"/>
                <a:ea typeface="Calibri"/>
                <a:cs typeface="Calibri"/>
                <a:sym typeface="Calibri"/>
              </a:rPr>
              <a:t>?</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6"/>
            </a:pPr>
            <a:r>
              <a:rPr b="0" i="0" lang="en-US" sz="1600" u="none" cap="none" strike="noStrike">
                <a:solidFill>
                  <a:schemeClr val="dk1"/>
                </a:solidFill>
                <a:latin typeface="Calibri"/>
                <a:ea typeface="Calibri"/>
                <a:cs typeface="Calibri"/>
                <a:sym typeface="Calibri"/>
              </a:rPr>
              <a:t>Are there zones that have a </a:t>
            </a:r>
            <a:r>
              <a:rPr b="1" i="0" lang="en-US" sz="1600" u="none" cap="none" strike="noStrike">
                <a:solidFill>
                  <a:schemeClr val="dk1"/>
                </a:solidFill>
                <a:latin typeface="Calibri"/>
                <a:ea typeface="Calibri"/>
                <a:cs typeface="Calibri"/>
                <a:sym typeface="Calibri"/>
              </a:rPr>
              <a:t>high normalized demand across all categories</a:t>
            </a:r>
            <a:r>
              <a:rPr b="0" i="0" lang="en-US" sz="1600" u="none" cap="none" strike="noStrike">
                <a:solidFill>
                  <a:schemeClr val="dk1"/>
                </a:solidFill>
                <a:latin typeface="Calibri"/>
                <a:ea typeface="Calibri"/>
                <a:cs typeface="Calibri"/>
                <a:sym typeface="Calibri"/>
              </a:rPr>
              <a:t>?</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6"/>
            </a:pPr>
            <a:r>
              <a:rPr b="0" i="0" lang="en-US" sz="1600" u="none" cap="none" strike="noStrike">
                <a:solidFill>
                  <a:schemeClr val="dk1"/>
                </a:solidFill>
                <a:latin typeface="Calibri"/>
                <a:ea typeface="Calibri"/>
                <a:cs typeface="Calibri"/>
                <a:sym typeface="Calibri"/>
              </a:rPr>
              <a:t>Consider zones</a:t>
            </a:r>
            <a:r>
              <a:rPr b="0" i="1" lang="en-US" sz="1600" u="none" cap="none" strike="noStrike">
                <a:solidFill>
                  <a:schemeClr val="dk1"/>
                </a:solidFill>
                <a:latin typeface="Calibri"/>
                <a:ea typeface="Calibri"/>
                <a:cs typeface="Calibri"/>
                <a:sym typeface="Calibri"/>
              </a:rPr>
              <a:t> 6_11 </a:t>
            </a:r>
            <a:r>
              <a:rPr b="0" i="0" lang="en-US" sz="1600" u="none" cap="none" strike="noStrike">
                <a:solidFill>
                  <a:schemeClr val="dk1"/>
                </a:solidFill>
                <a:latin typeface="Calibri"/>
                <a:ea typeface="Calibri"/>
                <a:cs typeface="Calibri"/>
                <a:sym typeface="Calibri"/>
              </a:rPr>
              <a:t>and</a:t>
            </a:r>
            <a:r>
              <a:rPr b="0" i="1" lang="en-US" sz="1600" u="none" cap="none" strike="noStrike">
                <a:solidFill>
                  <a:schemeClr val="dk1"/>
                </a:solidFill>
                <a:latin typeface="Calibri"/>
                <a:ea typeface="Calibri"/>
                <a:cs typeface="Calibri"/>
                <a:sym typeface="Calibri"/>
              </a:rPr>
              <a:t> 6_10</a:t>
            </a:r>
            <a:r>
              <a:rPr b="0" i="0" lang="en-US" sz="1600" u="none" cap="none" strike="noStrike">
                <a:solidFill>
                  <a:schemeClr val="dk1"/>
                </a:solidFill>
                <a:latin typeface="Calibri"/>
                <a:ea typeface="Calibri"/>
                <a:cs typeface="Calibri"/>
                <a:sym typeface="Calibri"/>
              </a:rPr>
              <a:t>: Why might these be attractive? </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6"/>
            </a:pPr>
            <a:r>
              <a:rPr b="0" i="0" lang="en-US" sz="1600" u="none" cap="none" strike="noStrike">
                <a:solidFill>
                  <a:schemeClr val="dk1"/>
                </a:solidFill>
                <a:latin typeface="Calibri"/>
                <a:ea typeface="Calibri"/>
                <a:cs typeface="Calibri"/>
                <a:sym typeface="Calibri"/>
              </a:rPr>
              <a:t>Consider zone </a:t>
            </a:r>
            <a:r>
              <a:rPr b="0" i="1" lang="en-US" sz="1600" u="none" cap="none" strike="noStrike">
                <a:solidFill>
                  <a:schemeClr val="dk1"/>
                </a:solidFill>
                <a:latin typeface="Calibri"/>
                <a:ea typeface="Calibri"/>
                <a:cs typeface="Calibri"/>
                <a:sym typeface="Calibri"/>
              </a:rPr>
              <a:t>4_11 </a:t>
            </a:r>
            <a:r>
              <a:rPr b="0" i="0" lang="en-US" sz="1600" u="none" cap="none" strike="noStrike">
                <a:solidFill>
                  <a:schemeClr val="dk1"/>
                </a:solidFill>
                <a:latin typeface="Calibri"/>
                <a:ea typeface="Calibri"/>
                <a:cs typeface="Calibri"/>
                <a:sym typeface="Calibri"/>
              </a:rPr>
              <a:t>(Highest home charging share): Why might this be riskier despite highest demand at home? </a:t>
            </a:r>
            <a:r>
              <a:rPr b="0" i="1" lang="en-US" sz="1600" u="none" cap="none" strike="noStrike">
                <a:solidFill>
                  <a:schemeClr val="dk1"/>
                </a:solidFill>
                <a:latin typeface="Calibri"/>
                <a:ea typeface="Calibri"/>
                <a:cs typeface="Calibri"/>
                <a:sym typeface="Calibri"/>
              </a:rPr>
              <a:t>(Hint: maximum value / multi-use demand)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4. A promising location: zone 6_11</a:t>
            </a:r>
            <a:endParaRPr b="0" sz="3600"/>
          </a:p>
        </p:txBody>
      </p:sp>
      <p:sp>
        <p:nvSpPr>
          <p:cNvPr id="217" name="Google Shape;217;p1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18" name="Google Shape;218;p11"/>
          <p:cNvSpPr txBox="1"/>
          <p:nvPr/>
        </p:nvSpPr>
        <p:spPr>
          <a:xfrm>
            <a:off x="113237" y="1215845"/>
            <a:ext cx="9030763" cy="1613080"/>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You decide to further investigate </a:t>
            </a:r>
            <a:r>
              <a:rPr b="1" i="0" lang="en-US" sz="1800" u="none" cap="none" strike="noStrike">
                <a:solidFill>
                  <a:schemeClr val="dk1"/>
                </a:solidFill>
                <a:latin typeface="Calibri"/>
                <a:ea typeface="Calibri"/>
                <a:cs typeface="Calibri"/>
                <a:sym typeface="Calibri"/>
              </a:rPr>
              <a:t>zone 6_11</a:t>
            </a:r>
            <a:r>
              <a:rPr b="0" i="0" lang="en-US" sz="1800" u="none" cap="none" strike="noStrike">
                <a:solidFill>
                  <a:schemeClr val="dk1"/>
                </a:solidFill>
                <a:latin typeface="Calibri"/>
                <a:ea typeface="Calibri"/>
                <a:cs typeface="Calibri"/>
                <a:sym typeface="Calibri"/>
              </a:rPr>
              <a:t>, which appears promising due to</a:t>
            </a:r>
            <a:endParaRPr/>
          </a:p>
          <a:p>
            <a:pPr indent="-171450" lvl="1" marL="504000" marR="0" rtl="0" algn="l">
              <a:lnSpc>
                <a:spcPct val="107000"/>
              </a:lnSpc>
              <a:spcBef>
                <a:spcPts val="800"/>
              </a:spcBef>
              <a:spcAft>
                <a:spcPts val="0"/>
              </a:spcAft>
              <a:buClr>
                <a:schemeClr val="accent1"/>
              </a:buClr>
              <a:buSzPts val="1600"/>
              <a:buFont typeface="Arial"/>
              <a:buChar char="•"/>
            </a:pPr>
            <a:r>
              <a:rPr b="0" i="0" lang="en-US" sz="1600" u="none" cap="none" strike="noStrike">
                <a:solidFill>
                  <a:schemeClr val="dk1"/>
                </a:solidFill>
                <a:latin typeface="Calibri"/>
                <a:ea typeface="Calibri"/>
                <a:cs typeface="Calibri"/>
                <a:sym typeface="Calibri"/>
              </a:rPr>
              <a:t>Capturing a high share of the total demand for both POI and workplaces </a:t>
            </a:r>
            <a:endParaRPr/>
          </a:p>
          <a:p>
            <a:pPr indent="-171450" lvl="1" marL="504000" marR="0" rtl="0" algn="l">
              <a:lnSpc>
                <a:spcPct val="107000"/>
              </a:lnSpc>
              <a:spcBef>
                <a:spcPts val="800"/>
              </a:spcBef>
              <a:spcAft>
                <a:spcPts val="0"/>
              </a:spcAft>
              <a:buClr>
                <a:schemeClr val="accent1"/>
              </a:buClr>
              <a:buSzPts val="1600"/>
              <a:buFont typeface="Arial"/>
              <a:buChar char="•"/>
            </a:pPr>
            <a:r>
              <a:rPr b="0" i="0" lang="en-US" sz="1600" u="none" cap="none" strike="noStrike">
                <a:solidFill>
                  <a:schemeClr val="dk1"/>
                </a:solidFill>
                <a:latin typeface="Calibri"/>
                <a:ea typeface="Calibri"/>
                <a:cs typeface="Calibri"/>
                <a:sym typeface="Calibri"/>
              </a:rPr>
              <a:t>The potential to also capture some residential demand </a:t>
            </a:r>
            <a:endParaRPr/>
          </a:p>
          <a:p>
            <a:pPr indent="-171450" lvl="1" marL="504000" marR="0" rtl="0" algn="l">
              <a:lnSpc>
                <a:spcPct val="107000"/>
              </a:lnSpc>
              <a:spcBef>
                <a:spcPts val="800"/>
              </a:spcBef>
              <a:spcAft>
                <a:spcPts val="0"/>
              </a:spcAft>
              <a:buClr>
                <a:schemeClr val="accent1"/>
              </a:buClr>
              <a:buSzPts val="1600"/>
              <a:buFont typeface="Arial"/>
              <a:buChar char="•"/>
            </a:pPr>
            <a:r>
              <a:rPr b="0" i="0" lang="en-US" sz="1600" u="none" cap="none" strike="noStrike">
                <a:solidFill>
                  <a:schemeClr val="dk1"/>
                </a:solidFill>
                <a:latin typeface="Calibri"/>
                <a:ea typeface="Calibri"/>
                <a:cs typeface="Calibri"/>
                <a:sym typeface="Calibri"/>
              </a:rPr>
              <a:t>Limited competition (only one charging station for the time being)</a:t>
            </a:r>
            <a:endParaRPr/>
          </a:p>
        </p:txBody>
      </p:sp>
      <p:sp>
        <p:nvSpPr>
          <p:cNvPr id="219" name="Google Shape;219;p11"/>
          <p:cNvSpPr txBox="1"/>
          <p:nvPr/>
        </p:nvSpPr>
        <p:spPr>
          <a:xfrm>
            <a:off x="169122" y="2828925"/>
            <a:ext cx="9030763" cy="48577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You want to identify promising locations</a:t>
            </a:r>
            <a:endParaRPr b="0" i="0" sz="1800" u="none" cap="none" strike="noStrike">
              <a:solidFill>
                <a:schemeClr val="dk1"/>
              </a:solidFill>
              <a:latin typeface="Calibri"/>
              <a:ea typeface="Calibri"/>
              <a:cs typeface="Calibri"/>
              <a:sym typeface="Calibri"/>
            </a:endParaRPr>
          </a:p>
        </p:txBody>
      </p:sp>
      <p:sp>
        <p:nvSpPr>
          <p:cNvPr id="220" name="Google Shape;220;p11"/>
          <p:cNvSpPr txBox="1"/>
          <p:nvPr/>
        </p:nvSpPr>
        <p:spPr>
          <a:xfrm>
            <a:off x="368300" y="3314701"/>
            <a:ext cx="8515350" cy="1428750"/>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10"/>
            </a:pPr>
            <a:r>
              <a:rPr b="0" i="0" lang="en-US" sz="1600" u="none" cap="none" strike="noStrike">
                <a:solidFill>
                  <a:schemeClr val="dk1"/>
                </a:solidFill>
                <a:latin typeface="Calibri"/>
                <a:ea typeface="Calibri"/>
                <a:cs typeface="Calibri"/>
                <a:sym typeface="Calibri"/>
              </a:rPr>
              <a:t>EVPV looks at the energy demand and competition (other nearby chargers). But, for precise sitting, other </a:t>
            </a:r>
            <a:r>
              <a:rPr b="1" i="0" lang="en-US" sz="1600" u="none" cap="none" strike="noStrike">
                <a:solidFill>
                  <a:schemeClr val="dk1"/>
                </a:solidFill>
                <a:latin typeface="Calibri"/>
                <a:ea typeface="Calibri"/>
                <a:cs typeface="Calibri"/>
                <a:sym typeface="Calibri"/>
              </a:rPr>
              <a:t>siting criteria</a:t>
            </a:r>
            <a:r>
              <a:rPr b="0" i="0" lang="en-US" sz="1600" u="none" cap="none" strike="noStrike">
                <a:solidFill>
                  <a:schemeClr val="dk1"/>
                </a:solidFill>
                <a:latin typeface="Calibri"/>
                <a:ea typeface="Calibri"/>
                <a:cs typeface="Calibri"/>
                <a:sym typeface="Calibri"/>
              </a:rPr>
              <a:t> become also important. What additional criteria should guide the exact placement of a charging station?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2"/>
          <p:cNvSpPr txBox="1"/>
          <p:nvPr>
            <p:ph type="title"/>
          </p:nvPr>
        </p:nvSpPr>
        <p:spPr>
          <a:xfrm>
            <a:off x="169125" y="306675"/>
            <a:ext cx="8884500" cy="1093500"/>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5. A good candidate: AC or DC charging?</a:t>
            </a:r>
            <a:endParaRPr b="0" sz="3600"/>
          </a:p>
        </p:txBody>
      </p:sp>
      <p:sp>
        <p:nvSpPr>
          <p:cNvPr id="227" name="Google Shape;227;p1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28" name="Google Shape;228;p12"/>
          <p:cNvSpPr txBox="1"/>
          <p:nvPr/>
        </p:nvSpPr>
        <p:spPr>
          <a:xfrm>
            <a:off x="113237" y="1215845"/>
            <a:ext cx="9030763" cy="1613080"/>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A potential location is identified: an </a:t>
            </a:r>
            <a:r>
              <a:rPr b="1" i="0" lang="en-US" sz="1800" u="none" cap="none" strike="noStrike">
                <a:solidFill>
                  <a:schemeClr val="dk1"/>
                </a:solidFill>
                <a:latin typeface="Calibri"/>
                <a:ea typeface="Calibri"/>
                <a:cs typeface="Calibri"/>
                <a:sym typeface="Calibri"/>
              </a:rPr>
              <a:t>open-access parking area </a:t>
            </a:r>
            <a:r>
              <a:rPr b="0" i="0" lang="en-US" sz="1800" u="none" cap="none" strike="noStrike">
                <a:solidFill>
                  <a:schemeClr val="dk1"/>
                </a:solidFill>
                <a:latin typeface="Calibri"/>
                <a:ea typeface="Calibri"/>
                <a:cs typeface="Calibri"/>
                <a:sym typeface="Calibri"/>
              </a:rPr>
              <a:t>near the future </a:t>
            </a:r>
            <a:r>
              <a:rPr b="0" i="1" lang="en-US" sz="1800" u="none" cap="none" strike="noStrike">
                <a:solidFill>
                  <a:schemeClr val="dk1"/>
                </a:solidFill>
                <a:latin typeface="Calibri"/>
                <a:ea typeface="Calibri"/>
                <a:cs typeface="Calibri"/>
                <a:sym typeface="Calibri"/>
              </a:rPr>
              <a:t>Arada Luxury Shopping Center</a:t>
            </a:r>
            <a:r>
              <a:rPr b="0" i="0" lang="en-US" sz="1800" u="none" cap="none" strike="noStrike">
                <a:solidFill>
                  <a:schemeClr val="dk1"/>
                </a:solidFill>
                <a:latin typeface="Calibri"/>
                <a:ea typeface="Calibri"/>
                <a:cs typeface="Calibri"/>
                <a:sym typeface="Calibri"/>
              </a:rPr>
              <a:t>. Expected use cases:</a:t>
            </a:r>
            <a:endParaRPr/>
          </a:p>
          <a:p>
            <a:pPr indent="-171450" lvl="1" marL="514350" marR="0" rtl="0" algn="l">
              <a:lnSpc>
                <a:spcPct val="107000"/>
              </a:lnSpc>
              <a:spcBef>
                <a:spcPts val="1175"/>
              </a:spcBef>
              <a:spcAft>
                <a:spcPts val="0"/>
              </a:spcAft>
              <a:buClr>
                <a:schemeClr val="accent1"/>
              </a:buClr>
              <a:buSzPts val="1600"/>
              <a:buFont typeface="Arial"/>
              <a:buChar char="•"/>
            </a:pPr>
            <a:r>
              <a:rPr b="0" i="0" lang="en-US" sz="1600" u="none" cap="none" strike="noStrike">
                <a:solidFill>
                  <a:schemeClr val="dk1"/>
                </a:solidFill>
                <a:latin typeface="Calibri"/>
                <a:ea typeface="Calibri"/>
                <a:cs typeface="Calibri"/>
                <a:sym typeface="Calibri"/>
              </a:rPr>
              <a:t>Daytime: shopping, short stays</a:t>
            </a:r>
            <a:endParaRPr/>
          </a:p>
          <a:p>
            <a:pPr indent="-171450" lvl="1" marL="514350" marR="0" rtl="0" algn="l">
              <a:lnSpc>
                <a:spcPct val="107000"/>
              </a:lnSpc>
              <a:spcBef>
                <a:spcPts val="1175"/>
              </a:spcBef>
              <a:spcAft>
                <a:spcPts val="0"/>
              </a:spcAft>
              <a:buClr>
                <a:schemeClr val="accent1"/>
              </a:buClr>
              <a:buSzPts val="1600"/>
              <a:buFont typeface="Arial"/>
              <a:buChar char="•"/>
            </a:pPr>
            <a:r>
              <a:rPr b="0" i="0" lang="en-US" sz="1600" u="none" cap="none" strike="noStrike">
                <a:solidFill>
                  <a:schemeClr val="dk1"/>
                </a:solidFill>
                <a:latin typeface="Calibri"/>
                <a:ea typeface="Calibri"/>
                <a:cs typeface="Calibri"/>
                <a:sym typeface="Calibri"/>
              </a:rPr>
              <a:t>Night: residential overnight charging</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229" name="Google Shape;229;p12"/>
          <p:cNvSpPr txBox="1"/>
          <p:nvPr/>
        </p:nvSpPr>
        <p:spPr>
          <a:xfrm>
            <a:off x="600075" y="3173602"/>
            <a:ext cx="4572000" cy="1469826"/>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Calibri"/>
                <a:ea typeface="Calibri"/>
                <a:cs typeface="Calibri"/>
                <a:sym typeface="Calibri"/>
              </a:rPr>
              <a:t>Expected typical usage :</a:t>
            </a:r>
            <a:endParaRPr b="0" i="0" sz="1800" u="none" cap="none" strike="noStrike">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b="0" i="0" lang="en-US" sz="1800" u="none" cap="none" strike="noStrike">
                <a:solidFill>
                  <a:schemeClr val="dk1"/>
                </a:solidFill>
                <a:latin typeface="Calibri"/>
                <a:ea typeface="Calibri"/>
                <a:cs typeface="Calibri"/>
                <a:sym typeface="Calibri"/>
              </a:rPr>
              <a:t>Average dwell time for shopping: </a:t>
            </a:r>
            <a:r>
              <a:rPr b="1" i="0" lang="en-US" sz="1800" u="none" cap="none" strike="noStrike">
                <a:solidFill>
                  <a:schemeClr val="dk1"/>
                </a:solidFill>
                <a:latin typeface="Calibri"/>
                <a:ea typeface="Calibri"/>
                <a:cs typeface="Calibri"/>
                <a:sym typeface="Calibri"/>
              </a:rPr>
              <a:t>~2 hours</a:t>
            </a:r>
            <a:endParaRPr b="0" i="0" sz="1800" u="none" cap="none" strike="noStrike">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b="0" i="0" lang="en-US" sz="1800" u="none" cap="none" strike="noStrike">
                <a:solidFill>
                  <a:schemeClr val="dk1"/>
                </a:solidFill>
                <a:latin typeface="Calibri"/>
                <a:ea typeface="Calibri"/>
                <a:cs typeface="Calibri"/>
                <a:sym typeface="Calibri"/>
              </a:rPr>
              <a:t>Average energy demand: </a:t>
            </a:r>
            <a:r>
              <a:rPr b="1" i="0" lang="en-US" sz="1800" u="none" cap="none" strike="noStrike">
                <a:solidFill>
                  <a:schemeClr val="dk1"/>
                </a:solidFill>
                <a:latin typeface="Calibri"/>
                <a:ea typeface="Calibri"/>
                <a:cs typeface="Calibri"/>
                <a:sym typeface="Calibri"/>
              </a:rPr>
              <a:t>~20 kWh per session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3"/>
          <p:cNvSpPr txBox="1"/>
          <p:nvPr>
            <p:ph type="title"/>
          </p:nvPr>
        </p:nvSpPr>
        <p:spPr>
          <a:xfrm>
            <a:off x="169125" y="306675"/>
            <a:ext cx="9291000" cy="1093500"/>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5. A good candidate: AC or DC charging?</a:t>
            </a:r>
            <a:endParaRPr b="0" sz="3600"/>
          </a:p>
        </p:txBody>
      </p:sp>
      <p:sp>
        <p:nvSpPr>
          <p:cNvPr id="236" name="Google Shape;236;p1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37" name="Google Shape;237;p13"/>
          <p:cNvSpPr txBox="1"/>
          <p:nvPr/>
        </p:nvSpPr>
        <p:spPr>
          <a:xfrm>
            <a:off x="368300" y="1291810"/>
            <a:ext cx="8515350" cy="2874916"/>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11"/>
            </a:pPr>
            <a:r>
              <a:rPr b="0" i="0" lang="en-US" sz="1600" u="none" cap="none" strike="noStrike">
                <a:solidFill>
                  <a:schemeClr val="dk1"/>
                </a:solidFill>
                <a:latin typeface="Calibri"/>
                <a:ea typeface="Calibri"/>
                <a:cs typeface="Calibri"/>
                <a:sym typeface="Calibri"/>
              </a:rPr>
              <a:t>What </a:t>
            </a:r>
            <a:r>
              <a:rPr b="1" i="0" lang="en-US" sz="1600" u="none" cap="none" strike="noStrike">
                <a:solidFill>
                  <a:schemeClr val="dk1"/>
                </a:solidFill>
                <a:latin typeface="Calibri"/>
                <a:ea typeface="Calibri"/>
                <a:cs typeface="Calibri"/>
                <a:sym typeface="Calibri"/>
              </a:rPr>
              <a:t>charging power </a:t>
            </a:r>
            <a:r>
              <a:rPr b="0" i="0" lang="en-US" sz="1600" u="none" cap="none" strike="noStrike">
                <a:solidFill>
                  <a:schemeClr val="dk1"/>
                </a:solidFill>
                <a:latin typeface="Calibri"/>
                <a:ea typeface="Calibri"/>
                <a:cs typeface="Calibri"/>
                <a:sym typeface="Calibri"/>
              </a:rPr>
              <a:t>is sufficient to meet the charging demand on average? Based on this first-order consideration, would DC fast charging be justified in this context?</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11"/>
            </a:pPr>
            <a:r>
              <a:rPr b="0" i="0" lang="en-US" sz="1600" u="none" cap="none" strike="noStrike">
                <a:solidFill>
                  <a:schemeClr val="dk1"/>
                </a:solidFill>
                <a:latin typeface="Calibri"/>
                <a:ea typeface="Calibri"/>
                <a:cs typeface="Calibri"/>
                <a:sym typeface="Calibri"/>
              </a:rPr>
              <a:t>When looking at the EVPV charging demand per car (see the additional data files) it can be seen that some EV users are likely to have </a:t>
            </a:r>
            <a:r>
              <a:rPr b="1" i="0" lang="en-US" sz="1600" u="none" cap="none" strike="noStrike">
                <a:solidFill>
                  <a:schemeClr val="dk1"/>
                </a:solidFill>
                <a:latin typeface="Calibri"/>
                <a:ea typeface="Calibri"/>
                <a:cs typeface="Calibri"/>
                <a:sym typeface="Calibri"/>
              </a:rPr>
              <a:t>sessions up to 50 kWh</a:t>
            </a:r>
            <a:r>
              <a:rPr b="0" i="0" lang="en-US" sz="1600" u="none" cap="none" strike="noStrike">
                <a:solidFill>
                  <a:schemeClr val="dk1"/>
                </a:solidFill>
                <a:latin typeface="Calibri"/>
                <a:ea typeface="Calibri"/>
                <a:cs typeface="Calibri"/>
                <a:sym typeface="Calibri"/>
              </a:rPr>
              <a:t>:</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Is using the average really sufficient? What risks does this create?</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What would you do to better guess the optimal number of charging stations and their power on this location?</a:t>
            </a:r>
            <a:endParaRPr/>
          </a:p>
          <a:p>
            <a:pPr indent="-241300" lvl="1" marL="685800" marR="0" rtl="0" algn="l">
              <a:lnSpc>
                <a:spcPct val="107000"/>
              </a:lnSpc>
              <a:spcBef>
                <a:spcPts val="1175"/>
              </a:spcBef>
              <a:spcAft>
                <a:spcPts val="0"/>
              </a:spcAft>
              <a:buClr>
                <a:schemeClr val="dk1"/>
              </a:buClr>
              <a:buSzPts val="1600"/>
              <a:buFont typeface="Libre Franklin"/>
              <a:buNone/>
            </a:pPr>
            <a:r>
              <a:t/>
            </a:r>
            <a:endParaRPr b="0" i="1"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6. Potential for on-site PV</a:t>
            </a:r>
            <a:endParaRPr b="0" sz="3600"/>
          </a:p>
        </p:txBody>
      </p:sp>
      <p:sp>
        <p:nvSpPr>
          <p:cNvPr id="244" name="Google Shape;244;p1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45" name="Google Shape;245;p14"/>
          <p:cNvSpPr txBox="1"/>
          <p:nvPr/>
        </p:nvSpPr>
        <p:spPr>
          <a:xfrm>
            <a:off x="113237" y="1215844"/>
            <a:ext cx="8697387" cy="3620987"/>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Further investigation has shown that you are likely to </a:t>
            </a:r>
            <a:r>
              <a:rPr b="1" i="0" lang="en-US" sz="1800" u="none" cap="none" strike="noStrike">
                <a:solidFill>
                  <a:schemeClr val="dk1"/>
                </a:solidFill>
                <a:latin typeface="Calibri"/>
                <a:ea typeface="Calibri"/>
                <a:cs typeface="Calibri"/>
                <a:sym typeface="Calibri"/>
              </a:rPr>
              <a:t>cover about 30 charging sessions of 20 kWh on average (600 kWh/day). </a:t>
            </a:r>
            <a:r>
              <a:rPr b="0" i="0" lang="en-US" sz="1800" u="none" cap="none" strike="noStrike">
                <a:solidFill>
                  <a:schemeClr val="dk1"/>
                </a:solidFill>
                <a:latin typeface="Calibri"/>
                <a:ea typeface="Calibri"/>
                <a:cs typeface="Calibri"/>
                <a:sym typeface="Calibri"/>
              </a:rPr>
              <a:t>The optimal mix includes a mix of AC 22 kW charging and slower low-cost AC (up to 7.4 kW only), likely used overnight for residential charging.</a:t>
            </a:r>
            <a:endParaRPr/>
          </a:p>
          <a:p>
            <a:pPr indent="-171450" lvl="0" marL="171450" marR="0" rtl="0" algn="l">
              <a:lnSpc>
                <a:spcPct val="107000"/>
              </a:lnSpc>
              <a:spcBef>
                <a:spcPts val="155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As the parking is located in a </a:t>
            </a:r>
            <a:r>
              <a:rPr b="1" i="0" lang="en-US" sz="1800" u="none" cap="none" strike="noStrike">
                <a:solidFill>
                  <a:schemeClr val="dk1"/>
                </a:solidFill>
                <a:latin typeface="Calibri"/>
                <a:ea typeface="Calibri"/>
                <a:cs typeface="Calibri"/>
                <a:sym typeface="Calibri"/>
              </a:rPr>
              <a:t>non-shaded area</a:t>
            </a:r>
            <a:r>
              <a:rPr b="0" i="0" lang="en-US" sz="1800" u="none" cap="none" strike="noStrike">
                <a:solidFill>
                  <a:schemeClr val="dk1"/>
                </a:solidFill>
                <a:latin typeface="Calibri"/>
                <a:ea typeface="Calibri"/>
                <a:cs typeface="Calibri"/>
                <a:sym typeface="Calibri"/>
              </a:rPr>
              <a:t>, you are considering installing solar panels on top of part of the parking spaces.</a:t>
            </a:r>
            <a:endParaRPr/>
          </a:p>
          <a:p>
            <a:pPr indent="-171450" lvl="0" marL="171450" marR="0" rtl="0" algn="l">
              <a:lnSpc>
                <a:spcPct val="107000"/>
              </a:lnSpc>
              <a:spcBef>
                <a:spcPts val="155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An EVPV run suggests that the capacity needed to produce around </a:t>
            </a:r>
            <a:r>
              <a:rPr b="1" i="0" lang="en-US" sz="1800" u="none" cap="none" strike="noStrike">
                <a:solidFill>
                  <a:schemeClr val="dk1"/>
                </a:solidFill>
                <a:latin typeface="Calibri"/>
                <a:ea typeface="Calibri"/>
                <a:cs typeface="Calibri"/>
                <a:sym typeface="Calibri"/>
              </a:rPr>
              <a:t>600 kWh/day </a:t>
            </a:r>
            <a:r>
              <a:rPr b="0" i="0" lang="en-US" sz="1800" u="none" cap="none" strike="noStrike">
                <a:solidFill>
                  <a:schemeClr val="dk1"/>
                </a:solidFill>
                <a:latin typeface="Calibri"/>
                <a:ea typeface="Calibri"/>
                <a:cs typeface="Calibri"/>
                <a:sym typeface="Calibri"/>
              </a:rPr>
              <a:t>is approximately </a:t>
            </a:r>
            <a:r>
              <a:rPr b="1" i="0" lang="en-US" sz="1800" u="none" cap="none" strike="noStrike">
                <a:solidFill>
                  <a:schemeClr val="dk1"/>
                </a:solidFill>
                <a:latin typeface="Calibri"/>
                <a:ea typeface="Calibri"/>
                <a:cs typeface="Calibri"/>
                <a:sym typeface="Calibri"/>
              </a:rPr>
              <a:t>~100 kWp</a:t>
            </a:r>
            <a:r>
              <a:rPr b="0" i="0" lang="en-US" sz="1800" u="none" cap="none" strike="noStrike">
                <a:solidFill>
                  <a:schemeClr val="dk1"/>
                </a:solidFill>
                <a:latin typeface="Calibri"/>
                <a:ea typeface="Calibri"/>
                <a:cs typeface="Calibri"/>
                <a:sym typeface="Calibri"/>
              </a:rPr>
              <a:t>. This is technically feasible given the available parking surface.</a:t>
            </a:r>
            <a:endParaRPr/>
          </a:p>
          <a:p>
            <a:pPr indent="0" lvl="0" marL="0" marR="0" rtl="0" algn="ctr">
              <a:lnSpc>
                <a:spcPct val="107000"/>
              </a:lnSpc>
              <a:spcBef>
                <a:spcPts val="1550"/>
              </a:spcBef>
              <a:spcAft>
                <a:spcPts val="0"/>
              </a:spcAft>
              <a:buClr>
                <a:schemeClr val="accent1"/>
              </a:buClr>
              <a:buSzPts val="1620"/>
              <a:buFont typeface="Noto Sans Symbols"/>
              <a:buNone/>
            </a:pPr>
            <a:r>
              <a:rPr b="0" i="1" lang="en-US" sz="1800" u="none" cap="none" strike="noStrike">
                <a:solidFill>
                  <a:schemeClr val="dk1"/>
                </a:solidFill>
                <a:latin typeface="Calibri"/>
                <a:ea typeface="Calibri"/>
                <a:cs typeface="Calibri"/>
                <a:sym typeface="Calibri"/>
              </a:rPr>
              <a:t>🡪Would this investment makes sense from an economic standpoint?</a:t>
            </a:r>
            <a:endParaRPr b="0" i="1"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5"/>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6. Potential for on-site PV</a:t>
            </a:r>
            <a:endParaRPr b="0" sz="3600"/>
          </a:p>
        </p:txBody>
      </p:sp>
      <p:sp>
        <p:nvSpPr>
          <p:cNvPr id="252" name="Google Shape;252;p1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53" name="Google Shape;253;p15"/>
          <p:cNvSpPr txBox="1"/>
          <p:nvPr/>
        </p:nvSpPr>
        <p:spPr>
          <a:xfrm>
            <a:off x="113237" y="1215844"/>
            <a:ext cx="8697387" cy="392765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To evaluate whether an investment in PV is profitable, we compare two quantities: The effective </a:t>
            </a:r>
            <a:r>
              <a:rPr b="1" i="0" lang="en-US" sz="1800" u="none" cap="none" strike="noStrike">
                <a:solidFill>
                  <a:schemeClr val="dk1"/>
                </a:solidFill>
                <a:latin typeface="Calibri"/>
                <a:ea typeface="Calibri"/>
                <a:cs typeface="Calibri"/>
                <a:sym typeface="Calibri"/>
              </a:rPr>
              <a:t>value of PV electricity </a:t>
            </a:r>
            <a:r>
              <a:rPr b="0" i="0" lang="en-US" sz="1800" u="none" cap="none" strike="noStrike">
                <a:solidFill>
                  <a:schemeClr val="dk1"/>
                </a:solidFill>
                <a:latin typeface="Calibri"/>
                <a:ea typeface="Calibri"/>
                <a:cs typeface="Calibri"/>
                <a:sym typeface="Calibri"/>
              </a:rPr>
              <a:t>must be greater than or equal to the </a:t>
            </a:r>
            <a:r>
              <a:rPr b="1" i="0" lang="en-US" sz="1800" u="none" cap="none" strike="noStrike">
                <a:solidFill>
                  <a:schemeClr val="dk1"/>
                </a:solidFill>
                <a:latin typeface="Calibri"/>
                <a:ea typeface="Calibri"/>
                <a:cs typeface="Calibri"/>
                <a:sym typeface="Calibri"/>
              </a:rPr>
              <a:t>Levelized Cost of Electricity (LCOE).</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7000"/>
              </a:lnSpc>
              <a:spcBef>
                <a:spcPts val="1550"/>
              </a:spcBef>
              <a:spcAft>
                <a:spcPts val="0"/>
              </a:spcAft>
              <a:buClr>
                <a:schemeClr val="accent1"/>
              </a:buClr>
              <a:buSzPts val="1440"/>
              <a:buFont typeface="Noto Sans Symbols"/>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7000"/>
              </a:lnSpc>
              <a:spcBef>
                <a:spcPts val="1550"/>
              </a:spcBef>
              <a:spcAft>
                <a:spcPts val="0"/>
              </a:spcAft>
              <a:buClr>
                <a:schemeClr val="accent1"/>
              </a:buClr>
              <a:buSzPts val="1440"/>
              <a:buFont typeface="Noto Sans Symbols"/>
              <a:buNone/>
            </a:pPr>
            <a:r>
              <a:rPr b="0" i="1" lang="en-US" sz="1600" u="none" cap="none" strike="noStrike">
                <a:solidFill>
                  <a:schemeClr val="dk1"/>
                </a:solidFill>
                <a:latin typeface="Calibri"/>
                <a:ea typeface="Calibri"/>
                <a:cs typeface="Calibri"/>
                <a:sym typeface="Calibri"/>
              </a:rPr>
              <a:t>🡪 Interpretation: The LCOE represents the average cost per kWh over the lifetime of the system. In other words, it is the minimum price at which PV electricity must be valued—either through electricity sold to the grid, or by savings achieved via self-consumption (avoided electricity purchases) to recover investment and operating costs over the system lifetime.</a:t>
            </a:r>
            <a:endParaRPr/>
          </a:p>
        </p:txBody>
      </p:sp>
      <p:pic>
        <p:nvPicPr>
          <p:cNvPr id="254" name="Google Shape;254;p15"/>
          <p:cNvPicPr preferRelativeResize="0"/>
          <p:nvPr/>
        </p:nvPicPr>
        <p:blipFill rotWithShape="1">
          <a:blip r:embed="rId3">
            <a:alphaModFix/>
          </a:blip>
          <a:srcRect b="0" l="0" r="0" t="0"/>
          <a:stretch/>
        </p:blipFill>
        <p:spPr>
          <a:xfrm>
            <a:off x="3572368" y="2409791"/>
            <a:ext cx="4229690" cy="438211"/>
          </a:xfrm>
          <a:prstGeom prst="rect">
            <a:avLst/>
          </a:prstGeom>
          <a:noFill/>
          <a:ln>
            <a:noFill/>
          </a:ln>
        </p:spPr>
      </p:pic>
      <p:pic>
        <p:nvPicPr>
          <p:cNvPr id="255" name="Google Shape;255;p15"/>
          <p:cNvPicPr preferRelativeResize="0"/>
          <p:nvPr/>
        </p:nvPicPr>
        <p:blipFill rotWithShape="1">
          <a:blip r:embed="rId4">
            <a:alphaModFix/>
          </a:blip>
          <a:srcRect b="0" l="0" r="0" t="0"/>
          <a:stretch/>
        </p:blipFill>
        <p:spPr>
          <a:xfrm>
            <a:off x="1140553" y="2538687"/>
            <a:ext cx="1695687" cy="495369"/>
          </a:xfrm>
          <a:prstGeom prst="rect">
            <a:avLst/>
          </a:prstGeom>
          <a:noFill/>
          <a:ln cap="flat" cmpd="sng" w="9525">
            <a:solidFill>
              <a:schemeClr val="dk1"/>
            </a:solidFill>
            <a:prstDash val="solid"/>
            <a:round/>
            <a:headEnd len="sm" w="sm" type="none"/>
            <a:tailEnd len="sm" w="sm" type="none"/>
          </a:ln>
        </p:spPr>
      </p:pic>
      <p:pic>
        <p:nvPicPr>
          <p:cNvPr id="256" name="Google Shape;256;p15"/>
          <p:cNvPicPr preferRelativeResize="0"/>
          <p:nvPr/>
        </p:nvPicPr>
        <p:blipFill rotWithShape="1">
          <a:blip r:embed="rId5">
            <a:alphaModFix/>
          </a:blip>
          <a:srcRect b="0" l="0" r="0" t="0"/>
          <a:stretch/>
        </p:blipFill>
        <p:spPr>
          <a:xfrm>
            <a:off x="3495379" y="2848002"/>
            <a:ext cx="3943900" cy="666843"/>
          </a:xfrm>
          <a:prstGeom prst="rect">
            <a:avLst/>
          </a:prstGeom>
          <a:noFill/>
          <a:ln>
            <a:noFill/>
          </a:ln>
        </p:spPr>
      </p:pic>
      <p:sp>
        <p:nvSpPr>
          <p:cNvPr id="257" name="Google Shape;257;p15"/>
          <p:cNvSpPr/>
          <p:nvPr/>
        </p:nvSpPr>
        <p:spPr>
          <a:xfrm>
            <a:off x="3248025" y="2428875"/>
            <a:ext cx="238125" cy="1024339"/>
          </a:xfrm>
          <a:prstGeom prst="lef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6. Potential for on-site PV</a:t>
            </a:r>
            <a:endParaRPr b="0" sz="3600"/>
          </a:p>
        </p:txBody>
      </p:sp>
      <p:sp>
        <p:nvSpPr>
          <p:cNvPr id="264" name="Google Shape;264;p1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65" name="Google Shape;265;p16"/>
          <p:cNvSpPr txBox="1"/>
          <p:nvPr/>
        </p:nvSpPr>
        <p:spPr>
          <a:xfrm>
            <a:off x="113237" y="1215844"/>
            <a:ext cx="8697387" cy="392765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To evaluate whether an investment in PV is profitable, we compare two quantities: The effective </a:t>
            </a:r>
            <a:r>
              <a:rPr b="1" i="0" lang="en-US" sz="1800" u="none" cap="none" strike="noStrike">
                <a:solidFill>
                  <a:schemeClr val="dk1"/>
                </a:solidFill>
                <a:latin typeface="Calibri"/>
                <a:ea typeface="Calibri"/>
                <a:cs typeface="Calibri"/>
                <a:sym typeface="Calibri"/>
              </a:rPr>
              <a:t>value of PV electricity </a:t>
            </a:r>
            <a:r>
              <a:rPr b="0" i="0" lang="en-US" sz="1800" u="none" cap="none" strike="noStrike">
                <a:solidFill>
                  <a:schemeClr val="dk1"/>
                </a:solidFill>
                <a:latin typeface="Calibri"/>
                <a:ea typeface="Calibri"/>
                <a:cs typeface="Calibri"/>
                <a:sym typeface="Calibri"/>
              </a:rPr>
              <a:t>must be greater than or equal to the </a:t>
            </a:r>
            <a:r>
              <a:rPr b="1" i="0" lang="en-US" sz="1800" u="none" cap="none" strike="noStrike">
                <a:solidFill>
                  <a:schemeClr val="dk1"/>
                </a:solidFill>
                <a:latin typeface="Calibri"/>
                <a:ea typeface="Calibri"/>
                <a:cs typeface="Calibri"/>
                <a:sym typeface="Calibri"/>
              </a:rPr>
              <a:t>Levelized Cost of Electricity (LCOE).</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7000"/>
              </a:lnSpc>
              <a:spcBef>
                <a:spcPts val="1550"/>
              </a:spcBef>
              <a:spcAft>
                <a:spcPts val="0"/>
              </a:spcAft>
              <a:buClr>
                <a:schemeClr val="accent1"/>
              </a:buClr>
              <a:buSzPts val="1440"/>
              <a:buFont typeface="Noto Sans Symbols"/>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7000"/>
              </a:lnSpc>
              <a:spcBef>
                <a:spcPts val="1550"/>
              </a:spcBef>
              <a:spcAft>
                <a:spcPts val="0"/>
              </a:spcAft>
              <a:buClr>
                <a:schemeClr val="accent1"/>
              </a:buClr>
              <a:buSzPts val="1440"/>
              <a:buFont typeface="Noto Sans Symbols"/>
              <a:buNone/>
            </a:pPr>
            <a:r>
              <a:rPr b="0" i="1" lang="en-US" sz="1600" u="none" cap="none" strike="noStrike">
                <a:solidFill>
                  <a:schemeClr val="dk1"/>
                </a:solidFill>
                <a:latin typeface="Calibri"/>
                <a:ea typeface="Calibri"/>
                <a:cs typeface="Calibri"/>
                <a:sym typeface="Calibri"/>
              </a:rPr>
              <a:t>🡪 Interpretation: The LCOE represents the average cost per kWh over the lifetime of the system. In other words, it is the minimum price at which PV electricity must be valued—either through electricity sold to the grid, or by savings achieved via self-consumption (avoided electricity purchases) to recover investment and operating costs over the system lifetime.</a:t>
            </a:r>
            <a:endParaRPr/>
          </a:p>
        </p:txBody>
      </p:sp>
      <p:pic>
        <p:nvPicPr>
          <p:cNvPr id="266" name="Google Shape;266;p16"/>
          <p:cNvPicPr preferRelativeResize="0"/>
          <p:nvPr/>
        </p:nvPicPr>
        <p:blipFill rotWithShape="1">
          <a:blip r:embed="rId3">
            <a:alphaModFix/>
          </a:blip>
          <a:srcRect b="0" l="0" r="0" t="0"/>
          <a:stretch/>
        </p:blipFill>
        <p:spPr>
          <a:xfrm>
            <a:off x="3572368" y="2409791"/>
            <a:ext cx="4229690" cy="438211"/>
          </a:xfrm>
          <a:prstGeom prst="rect">
            <a:avLst/>
          </a:prstGeom>
          <a:noFill/>
          <a:ln>
            <a:noFill/>
          </a:ln>
        </p:spPr>
      </p:pic>
      <p:pic>
        <p:nvPicPr>
          <p:cNvPr id="267" name="Google Shape;267;p16"/>
          <p:cNvPicPr preferRelativeResize="0"/>
          <p:nvPr/>
        </p:nvPicPr>
        <p:blipFill rotWithShape="1">
          <a:blip r:embed="rId4">
            <a:alphaModFix/>
          </a:blip>
          <a:srcRect b="0" l="0" r="0" t="0"/>
          <a:stretch/>
        </p:blipFill>
        <p:spPr>
          <a:xfrm>
            <a:off x="1140553" y="2538687"/>
            <a:ext cx="1695687" cy="495369"/>
          </a:xfrm>
          <a:prstGeom prst="rect">
            <a:avLst/>
          </a:prstGeom>
          <a:noFill/>
          <a:ln cap="flat" cmpd="sng" w="9525">
            <a:solidFill>
              <a:schemeClr val="dk1"/>
            </a:solidFill>
            <a:prstDash val="solid"/>
            <a:round/>
            <a:headEnd len="sm" w="sm" type="none"/>
            <a:tailEnd len="sm" w="sm" type="none"/>
          </a:ln>
        </p:spPr>
      </p:pic>
      <p:pic>
        <p:nvPicPr>
          <p:cNvPr id="268" name="Google Shape;268;p16"/>
          <p:cNvPicPr preferRelativeResize="0"/>
          <p:nvPr/>
        </p:nvPicPr>
        <p:blipFill rotWithShape="1">
          <a:blip r:embed="rId5">
            <a:alphaModFix/>
          </a:blip>
          <a:srcRect b="0" l="0" r="0" t="0"/>
          <a:stretch/>
        </p:blipFill>
        <p:spPr>
          <a:xfrm>
            <a:off x="3495379" y="2848002"/>
            <a:ext cx="3943900" cy="666843"/>
          </a:xfrm>
          <a:prstGeom prst="rect">
            <a:avLst/>
          </a:prstGeom>
          <a:noFill/>
          <a:ln>
            <a:noFill/>
          </a:ln>
        </p:spPr>
      </p:pic>
      <p:sp>
        <p:nvSpPr>
          <p:cNvPr id="269" name="Google Shape;269;p16"/>
          <p:cNvSpPr/>
          <p:nvPr/>
        </p:nvSpPr>
        <p:spPr>
          <a:xfrm>
            <a:off x="3248025" y="2428875"/>
            <a:ext cx="238125" cy="1024339"/>
          </a:xfrm>
          <a:prstGeom prst="lef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dk1"/>
              </a:solidFill>
              <a:latin typeface="Arial"/>
              <a:ea typeface="Arial"/>
              <a:cs typeface="Arial"/>
              <a:sym typeface="Arial"/>
            </a:endParaRPr>
          </a:p>
        </p:txBody>
      </p:sp>
      <p:cxnSp>
        <p:nvCxnSpPr>
          <p:cNvPr id="270" name="Google Shape;270;p16"/>
          <p:cNvCxnSpPr/>
          <p:nvPr/>
        </p:nvCxnSpPr>
        <p:spPr>
          <a:xfrm>
            <a:off x="4572000" y="2276475"/>
            <a:ext cx="0" cy="152400"/>
          </a:xfrm>
          <a:prstGeom prst="straightConnector1">
            <a:avLst/>
          </a:prstGeom>
          <a:noFill/>
          <a:ln cap="flat" cmpd="sng" w="9525">
            <a:solidFill>
              <a:schemeClr val="accent1"/>
            </a:solidFill>
            <a:prstDash val="solid"/>
            <a:miter lim="800000"/>
            <a:headEnd len="sm" w="sm" type="none"/>
            <a:tailEnd len="med" w="med" type="triangle"/>
          </a:ln>
        </p:spPr>
      </p:cxnSp>
      <p:sp>
        <p:nvSpPr>
          <p:cNvPr id="271" name="Google Shape;271;p16"/>
          <p:cNvSpPr txBox="1"/>
          <p:nvPr/>
        </p:nvSpPr>
        <p:spPr>
          <a:xfrm>
            <a:off x="3025561" y="1939745"/>
            <a:ext cx="1832189" cy="336730"/>
          </a:xfrm>
          <a:prstGeom prst="rect">
            <a:avLst/>
          </a:prstGeom>
          <a:noFill/>
          <a:ln>
            <a:noFill/>
          </a:ln>
        </p:spPr>
        <p:txBody>
          <a:bodyPr anchorCtr="0" anchor="t" bIns="45700" lIns="180000" spcFirstLastPara="1" rIns="91425" wrap="square" tIns="45700">
            <a:normAutofit lnSpcReduction="10000"/>
          </a:bodyPr>
          <a:lstStyle/>
          <a:p>
            <a:pPr indent="0" lvl="0" marL="0" marR="0" rtl="0" algn="l">
              <a:lnSpc>
                <a:spcPct val="107000"/>
              </a:lnSpc>
              <a:spcBef>
                <a:spcPts val="0"/>
              </a:spcBef>
              <a:spcAft>
                <a:spcPts val="0"/>
              </a:spcAft>
              <a:buClr>
                <a:schemeClr val="accent1"/>
              </a:buClr>
              <a:buSzPts val="1440"/>
              <a:buFont typeface="Noto Sans Symbols"/>
              <a:buNone/>
            </a:pPr>
            <a:r>
              <a:rPr b="0" i="1" lang="en-US" sz="1600" u="none" cap="none" strike="noStrike">
                <a:solidFill>
                  <a:srgbClr val="FF0000"/>
                </a:solidFill>
                <a:latin typeface="Calibri"/>
                <a:ea typeface="Calibri"/>
                <a:cs typeface="Calibri"/>
                <a:sym typeface="Calibri"/>
              </a:rPr>
              <a:t>Self-consumption</a:t>
            </a:r>
            <a:endParaRPr/>
          </a:p>
        </p:txBody>
      </p:sp>
      <p:sp>
        <p:nvSpPr>
          <p:cNvPr id="272" name="Google Shape;272;p16"/>
          <p:cNvSpPr txBox="1"/>
          <p:nvPr/>
        </p:nvSpPr>
        <p:spPr>
          <a:xfrm>
            <a:off x="4771118" y="1923780"/>
            <a:ext cx="1832189" cy="336730"/>
          </a:xfrm>
          <a:prstGeom prst="rect">
            <a:avLst/>
          </a:prstGeom>
          <a:noFill/>
          <a:ln>
            <a:noFill/>
          </a:ln>
        </p:spPr>
        <p:txBody>
          <a:bodyPr anchorCtr="0" anchor="t" bIns="45700" lIns="180000" spcFirstLastPara="1" rIns="91425" wrap="square" tIns="45700">
            <a:normAutofit lnSpcReduction="10000"/>
          </a:bodyPr>
          <a:lstStyle/>
          <a:p>
            <a:pPr indent="0" lvl="0" marL="0" marR="0" rtl="0" algn="l">
              <a:lnSpc>
                <a:spcPct val="107000"/>
              </a:lnSpc>
              <a:spcBef>
                <a:spcPts val="0"/>
              </a:spcBef>
              <a:spcAft>
                <a:spcPts val="0"/>
              </a:spcAft>
              <a:buClr>
                <a:schemeClr val="accent1"/>
              </a:buClr>
              <a:buSzPts val="1440"/>
              <a:buFont typeface="Noto Sans Symbols"/>
              <a:buNone/>
            </a:pPr>
            <a:r>
              <a:rPr b="0" i="1" lang="en-US" sz="1600" u="none" cap="none" strike="noStrike">
                <a:solidFill>
                  <a:schemeClr val="accent2"/>
                </a:solidFill>
                <a:latin typeface="Calibri"/>
                <a:ea typeface="Calibri"/>
                <a:cs typeface="Calibri"/>
                <a:sym typeface="Calibri"/>
              </a:rPr>
              <a:t>Retail tariff</a:t>
            </a:r>
            <a:endParaRPr/>
          </a:p>
        </p:txBody>
      </p:sp>
      <p:cxnSp>
        <p:nvCxnSpPr>
          <p:cNvPr id="273" name="Google Shape;273;p16"/>
          <p:cNvCxnSpPr/>
          <p:nvPr/>
        </p:nvCxnSpPr>
        <p:spPr>
          <a:xfrm>
            <a:off x="5076825" y="2276475"/>
            <a:ext cx="0" cy="152400"/>
          </a:xfrm>
          <a:prstGeom prst="straightConnector1">
            <a:avLst/>
          </a:prstGeom>
          <a:noFill/>
          <a:ln cap="flat" cmpd="sng" w="9525">
            <a:solidFill>
              <a:schemeClr val="accent2"/>
            </a:solidFill>
            <a:prstDash val="solid"/>
            <a:miter lim="800000"/>
            <a:headEnd len="sm" w="sm" type="none"/>
            <a:tailEnd len="med" w="med" type="triangle"/>
          </a:ln>
        </p:spPr>
      </p:cxnSp>
      <p:sp>
        <p:nvSpPr>
          <p:cNvPr id="274" name="Google Shape;274;p16"/>
          <p:cNvSpPr txBox="1"/>
          <p:nvPr/>
        </p:nvSpPr>
        <p:spPr>
          <a:xfrm>
            <a:off x="6603307" y="1939745"/>
            <a:ext cx="1832189" cy="336730"/>
          </a:xfrm>
          <a:prstGeom prst="rect">
            <a:avLst/>
          </a:prstGeom>
          <a:noFill/>
          <a:ln>
            <a:noFill/>
          </a:ln>
        </p:spPr>
        <p:txBody>
          <a:bodyPr anchorCtr="0" anchor="t" bIns="45700" lIns="180000" spcFirstLastPara="1" rIns="91425" wrap="square" tIns="45700">
            <a:normAutofit lnSpcReduction="10000"/>
          </a:bodyPr>
          <a:lstStyle/>
          <a:p>
            <a:pPr indent="0" lvl="0" marL="0" marR="0" rtl="0" algn="l">
              <a:lnSpc>
                <a:spcPct val="107000"/>
              </a:lnSpc>
              <a:spcBef>
                <a:spcPts val="0"/>
              </a:spcBef>
              <a:spcAft>
                <a:spcPts val="0"/>
              </a:spcAft>
              <a:buClr>
                <a:schemeClr val="accent1"/>
              </a:buClr>
              <a:buSzPts val="1440"/>
              <a:buFont typeface="Noto Sans Symbols"/>
              <a:buNone/>
            </a:pPr>
            <a:r>
              <a:rPr b="0" i="1" lang="en-US" sz="1600" u="none" cap="none" strike="noStrike">
                <a:solidFill>
                  <a:schemeClr val="accent5"/>
                </a:solidFill>
                <a:latin typeface="Calibri"/>
                <a:ea typeface="Calibri"/>
                <a:cs typeface="Calibri"/>
                <a:sym typeface="Calibri"/>
              </a:rPr>
              <a:t>Feed-in tariff</a:t>
            </a:r>
            <a:endParaRPr/>
          </a:p>
        </p:txBody>
      </p:sp>
      <p:cxnSp>
        <p:nvCxnSpPr>
          <p:cNvPr id="275" name="Google Shape;275;p16"/>
          <p:cNvCxnSpPr/>
          <p:nvPr/>
        </p:nvCxnSpPr>
        <p:spPr>
          <a:xfrm>
            <a:off x="7324725" y="2276475"/>
            <a:ext cx="0" cy="152400"/>
          </a:xfrm>
          <a:prstGeom prst="straightConnector1">
            <a:avLst/>
          </a:prstGeom>
          <a:noFill/>
          <a:ln cap="flat" cmpd="sng" w="9525">
            <a:solidFill>
              <a:schemeClr val="accent5"/>
            </a:solidFill>
            <a:prstDash val="solid"/>
            <a:miter lim="800000"/>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7"/>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6. Potential for on-site PV</a:t>
            </a:r>
            <a:endParaRPr b="0" sz="3600"/>
          </a:p>
        </p:txBody>
      </p:sp>
      <p:sp>
        <p:nvSpPr>
          <p:cNvPr id="282" name="Google Shape;282;p1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83" name="Google Shape;283;p17"/>
          <p:cNvSpPr txBox="1"/>
          <p:nvPr/>
        </p:nvSpPr>
        <p:spPr>
          <a:xfrm>
            <a:off x="368300" y="1291809"/>
            <a:ext cx="8515350" cy="3746915"/>
          </a:xfrm>
          <a:prstGeom prst="rect">
            <a:avLst/>
          </a:prstGeom>
          <a:solidFill>
            <a:srgbClr val="FCE9E0"/>
          </a:solidFill>
          <a:ln>
            <a:noFill/>
          </a:ln>
        </p:spPr>
        <p:txBody>
          <a:bodyPr anchorCtr="0" anchor="t" bIns="45700" lIns="180000" spcFirstLastPara="1" rIns="91425" wrap="square" tIns="45700">
            <a:normAutofit fontScale="77500" lnSpcReduction="10000"/>
          </a:bodyPr>
          <a:lstStyle/>
          <a:p>
            <a:pPr indent="0" lvl="0" marL="0" marR="0" rtl="0" algn="l">
              <a:lnSpc>
                <a:spcPct val="107000"/>
              </a:lnSpc>
              <a:spcBef>
                <a:spcPts val="0"/>
              </a:spcBef>
              <a:spcAft>
                <a:spcPts val="0"/>
              </a:spcAft>
              <a:buClr>
                <a:schemeClr val="accent1"/>
              </a:buClr>
              <a:buSzPct val="9000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50880" lvl="1" marL="685800" marR="0" rtl="0" algn="l">
              <a:lnSpc>
                <a:spcPct val="107000"/>
              </a:lnSpc>
              <a:spcBef>
                <a:spcPts val="1175"/>
              </a:spcBef>
              <a:spcAft>
                <a:spcPts val="0"/>
              </a:spcAft>
              <a:buClr>
                <a:schemeClr val="dk1"/>
              </a:buClr>
              <a:buSzPct val="100000"/>
              <a:buFont typeface="Libre Franklin"/>
              <a:buAutoNum type="arabicPeriod" startAt="12"/>
            </a:pPr>
            <a:r>
              <a:rPr b="0" i="0" lang="en-US" sz="2227" u="none" cap="none" strike="noStrike">
                <a:solidFill>
                  <a:schemeClr val="dk1"/>
                </a:solidFill>
                <a:latin typeface="Calibri"/>
                <a:ea typeface="Calibri"/>
                <a:cs typeface="Calibri"/>
                <a:sym typeface="Calibri"/>
              </a:rPr>
              <a:t>Calculate the value of PV electricity assuming </a:t>
            </a:r>
            <a:endParaRPr sz="2027"/>
          </a:p>
          <a:p>
            <a:pPr indent="-183002" lvl="2" marL="857250" marR="0" rtl="0" algn="l">
              <a:lnSpc>
                <a:spcPct val="107000"/>
              </a:lnSpc>
              <a:spcBef>
                <a:spcPts val="1175"/>
              </a:spcBef>
              <a:spcAft>
                <a:spcPts val="0"/>
              </a:spcAft>
              <a:buClr>
                <a:schemeClr val="dk1"/>
              </a:buClr>
              <a:buSzPct val="92947"/>
              <a:buFont typeface="Noto Sans Symbols"/>
              <a:buChar char="▪"/>
            </a:pPr>
            <a:r>
              <a:rPr lang="en-US" sz="2127">
                <a:solidFill>
                  <a:schemeClr val="dk1"/>
                </a:solidFill>
                <a:latin typeface="Calibri"/>
                <a:ea typeface="Calibri"/>
                <a:cs typeface="Calibri"/>
                <a:sym typeface="Calibri"/>
              </a:rPr>
              <a:t>S</a:t>
            </a:r>
            <a:r>
              <a:rPr b="0" i="0" lang="en-US" sz="2127" u="none" cap="none" strike="noStrike">
                <a:solidFill>
                  <a:schemeClr val="dk1"/>
                </a:solidFill>
                <a:latin typeface="Calibri"/>
                <a:ea typeface="Calibri"/>
                <a:cs typeface="Calibri"/>
                <a:sym typeface="Calibri"/>
              </a:rPr>
              <a:t>elf-consumption of 60% on average</a:t>
            </a:r>
            <a:endParaRPr sz="2027"/>
          </a:p>
          <a:p>
            <a:pPr indent="-183002" lvl="2" marL="857250" marR="0" rtl="0" algn="l">
              <a:lnSpc>
                <a:spcPct val="107000"/>
              </a:lnSpc>
              <a:spcBef>
                <a:spcPts val="1175"/>
              </a:spcBef>
              <a:spcAft>
                <a:spcPts val="0"/>
              </a:spcAft>
              <a:buClr>
                <a:schemeClr val="dk1"/>
              </a:buClr>
              <a:buSzPct val="92947"/>
              <a:buFont typeface="Noto Sans Symbols"/>
              <a:buChar char="▪"/>
            </a:pPr>
            <a:r>
              <a:rPr b="0" i="0" lang="en-US" sz="2127" u="none" cap="none" strike="noStrike">
                <a:solidFill>
                  <a:schemeClr val="dk1"/>
                </a:solidFill>
                <a:latin typeface="Calibri"/>
                <a:ea typeface="Calibri"/>
                <a:cs typeface="Calibri"/>
                <a:sym typeface="Calibri"/>
              </a:rPr>
              <a:t>Retail price: 0.15 USD/kWh</a:t>
            </a:r>
            <a:endParaRPr sz="2027"/>
          </a:p>
          <a:p>
            <a:pPr indent="-183002" lvl="2" marL="857250" marR="0" rtl="0" algn="l">
              <a:lnSpc>
                <a:spcPct val="107000"/>
              </a:lnSpc>
              <a:spcBef>
                <a:spcPts val="1175"/>
              </a:spcBef>
              <a:spcAft>
                <a:spcPts val="0"/>
              </a:spcAft>
              <a:buClr>
                <a:schemeClr val="dk1"/>
              </a:buClr>
              <a:buSzPct val="92947"/>
              <a:buFont typeface="Noto Sans Symbols"/>
              <a:buChar char="▪"/>
            </a:pPr>
            <a:r>
              <a:rPr b="0" i="0" lang="en-US" sz="2127" u="none" cap="none" strike="noStrike">
                <a:solidFill>
                  <a:schemeClr val="dk1"/>
                </a:solidFill>
                <a:latin typeface="Calibri"/>
                <a:ea typeface="Calibri"/>
                <a:cs typeface="Calibri"/>
                <a:sym typeface="Calibri"/>
              </a:rPr>
              <a:t>Feed-in tariff: 0.05 USD/kWh </a:t>
            </a:r>
            <a:endParaRPr sz="2027"/>
          </a:p>
          <a:p>
            <a:pPr indent="-183002" lvl="2" marL="857250" marR="0" rtl="0" algn="l">
              <a:lnSpc>
                <a:spcPct val="107000"/>
              </a:lnSpc>
              <a:spcBef>
                <a:spcPts val="1175"/>
              </a:spcBef>
              <a:spcAft>
                <a:spcPts val="0"/>
              </a:spcAft>
              <a:buClr>
                <a:schemeClr val="dk1"/>
              </a:buClr>
              <a:buSzPct val="92947"/>
              <a:buFont typeface="Noto Sans Symbols"/>
              <a:buChar char="🡪"/>
            </a:pPr>
            <a:r>
              <a:rPr b="0" i="0" lang="en-US" sz="2127" u="none" cap="none" strike="noStrike">
                <a:solidFill>
                  <a:schemeClr val="dk1"/>
                </a:solidFill>
                <a:latin typeface="Calibri"/>
                <a:ea typeface="Calibri"/>
                <a:cs typeface="Calibri"/>
                <a:sym typeface="Calibri"/>
              </a:rPr>
              <a:t> Considering that the LCOE of such a &gt;100 kWp system is likely to be around 0.08 USD/kWh, does it make sense?  </a:t>
            </a:r>
            <a:endParaRPr sz="2027"/>
          </a:p>
          <a:p>
            <a:pPr indent="-350880" lvl="1" marL="685800" marR="0" rtl="0" algn="l">
              <a:lnSpc>
                <a:spcPct val="107000"/>
              </a:lnSpc>
              <a:spcBef>
                <a:spcPts val="1175"/>
              </a:spcBef>
              <a:spcAft>
                <a:spcPts val="0"/>
              </a:spcAft>
              <a:buClr>
                <a:schemeClr val="dk1"/>
              </a:buClr>
              <a:buSzPct val="100000"/>
              <a:buFont typeface="Libre Franklin"/>
              <a:buAutoNum type="arabicPeriod" startAt="13"/>
            </a:pPr>
            <a:r>
              <a:rPr b="0" i="0" lang="en-US" sz="2227" u="none" cap="none" strike="noStrike">
                <a:solidFill>
                  <a:schemeClr val="dk1"/>
                </a:solidFill>
                <a:latin typeface="Calibri"/>
                <a:ea typeface="Calibri"/>
                <a:cs typeface="Calibri"/>
                <a:sym typeface="Calibri"/>
              </a:rPr>
              <a:t>Assuming 600 kWh per day, what would be the yearly average gain due to PV? </a:t>
            </a:r>
            <a:endParaRPr sz="2027"/>
          </a:p>
          <a:p>
            <a:pPr indent="-350880" lvl="1" marL="685800" marR="0" rtl="0" algn="l">
              <a:lnSpc>
                <a:spcPct val="107000"/>
              </a:lnSpc>
              <a:spcBef>
                <a:spcPts val="1175"/>
              </a:spcBef>
              <a:spcAft>
                <a:spcPts val="0"/>
              </a:spcAft>
              <a:buClr>
                <a:schemeClr val="dk1"/>
              </a:buClr>
              <a:buSzPct val="100000"/>
              <a:buFont typeface="Libre Franklin"/>
              <a:buAutoNum type="arabicPeriod" startAt="13"/>
            </a:pPr>
            <a:r>
              <a:rPr b="0" i="0" lang="en-US" sz="2227" u="none" cap="none" strike="noStrike">
                <a:solidFill>
                  <a:schemeClr val="dk1"/>
                </a:solidFill>
                <a:latin typeface="Calibri"/>
                <a:ea typeface="Calibri"/>
                <a:cs typeface="Calibri"/>
                <a:sym typeface="Calibri"/>
              </a:rPr>
              <a:t>Reducing PV capacity will enhance self-consumption. But, why will it not necessary results in a better profitability? </a:t>
            </a:r>
            <a:r>
              <a:rPr b="0" i="1" lang="en-US" sz="2227" u="none" cap="none" strike="noStrike">
                <a:solidFill>
                  <a:schemeClr val="dk1"/>
                </a:solidFill>
                <a:latin typeface="Calibri"/>
                <a:ea typeface="Calibri"/>
                <a:cs typeface="Calibri"/>
                <a:sym typeface="Calibri"/>
              </a:rPr>
              <a:t>Hint: LCOE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2023-05-04T11:30:15Z</dcterms:created>
  <dc:creator>Jeannin Noémie Alice Yvonne Ségolène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0x0101008306E5EE50F21A438A203B1346065F81</vt:lpwstr>
  </property>
</Properties>
</file>