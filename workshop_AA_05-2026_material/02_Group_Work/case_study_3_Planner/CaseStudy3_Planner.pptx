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Libre Franklin"/>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 roundtripDataSignature="AMtx7mipxkwl9ulOelsDz0k1kJ901I/c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180193-B31D-49C1-8876-CA273696DE4A}">
  <a:tblStyle styleId="{7A180193-B31D-49C1-8876-CA273696DE4A}"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AE6E6"/>
          </a:solidFill>
        </a:fill>
      </a:tcStyle>
    </a:wholeTbl>
    <a:band1H>
      <a:tcTxStyle/>
      <a:tcStyle>
        <a:fill>
          <a:solidFill>
            <a:srgbClr val="F4CACA"/>
          </a:solidFill>
        </a:fill>
      </a:tcStyle>
    </a:band1H>
    <a:band2H>
      <a:tcTxStyle/>
    </a:band2H>
    <a:band1V>
      <a:tcTxStyle/>
      <a:tcStyle>
        <a:fill>
          <a:solidFill>
            <a:srgbClr val="F4CAC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Franklin-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LibreFranklin-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LibreFranklin-bold.fntdata"/><Relationship Id="rId6" Type="http://schemas.openxmlformats.org/officeDocument/2006/relationships/notesMaster" Target="notesMasters/notesMaster1.xml"/><Relationship Id="rId18" Type="http://schemas.openxmlformats.org/officeDocument/2006/relationships/font" Target="fonts/LibreFranklin-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re et contenu">
  <p:cSld name="3_Titre et contenu">
    <p:spTree>
      <p:nvGrpSpPr>
        <p:cNvPr id="17" name="Shape 17"/>
        <p:cNvGrpSpPr/>
        <p:nvPr/>
      </p:nvGrpSpPr>
      <p:grpSpPr>
        <a:xfrm>
          <a:off x="0" y="0"/>
          <a:ext cx="0" cy="0"/>
          <a:chOff x="0" y="0"/>
          <a:chExt cx="0" cy="0"/>
        </a:xfrm>
      </p:grpSpPr>
      <p:sp>
        <p:nvSpPr>
          <p:cNvPr id="18" name="Google Shape;18;p14"/>
          <p:cNvSpPr/>
          <p:nvPr>
            <p:ph idx="2" type="pic"/>
          </p:nvPr>
        </p:nvSpPr>
        <p:spPr>
          <a:xfrm>
            <a:off x="904875" y="1563688"/>
            <a:ext cx="3144838" cy="3579812"/>
          </a:xfrm>
          <a:prstGeom prst="rect">
            <a:avLst/>
          </a:prstGeom>
          <a:noFill/>
          <a:ln>
            <a:noFill/>
          </a:ln>
        </p:spPr>
      </p:sp>
      <p:sp>
        <p:nvSpPr>
          <p:cNvPr id="19" name="Google Shape;19;p14"/>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 name="Google Shape;20;p14"/>
          <p:cNvSpPr txBox="1"/>
          <p:nvPr>
            <p:ph type="title"/>
          </p:nvPr>
        </p:nvSpPr>
        <p:spPr>
          <a:xfrm>
            <a:off x="989542" y="277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4"/>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p:cSld name="Diapositive de titre">
    <p:spTree>
      <p:nvGrpSpPr>
        <p:cNvPr id="24" name="Shape 24"/>
        <p:cNvGrpSpPr/>
        <p:nvPr/>
      </p:nvGrpSpPr>
      <p:grpSpPr>
        <a:xfrm>
          <a:off x="0" y="0"/>
          <a:ext cx="0" cy="0"/>
          <a:chOff x="0" y="0"/>
          <a:chExt cx="0" cy="0"/>
        </a:xfrm>
      </p:grpSpPr>
      <p:sp>
        <p:nvSpPr>
          <p:cNvPr id="25" name="Google Shape;25;p15"/>
          <p:cNvSpPr/>
          <p:nvPr>
            <p:ph idx="2" type="pic"/>
          </p:nvPr>
        </p:nvSpPr>
        <p:spPr>
          <a:xfrm>
            <a:off x="1331913" y="0"/>
            <a:ext cx="7812087" cy="4948238"/>
          </a:xfrm>
          <a:prstGeom prst="rect">
            <a:avLst/>
          </a:prstGeom>
          <a:noFill/>
          <a:ln>
            <a:noFill/>
          </a:ln>
        </p:spPr>
      </p:sp>
      <p:sp>
        <p:nvSpPr>
          <p:cNvPr id="26" name="Google Shape;26;p15"/>
          <p:cNvSpPr txBox="1"/>
          <p:nvPr>
            <p:ph type="ctrTitle"/>
          </p:nvPr>
        </p:nvSpPr>
        <p:spPr>
          <a:xfrm>
            <a:off x="6405563" y="786535"/>
            <a:ext cx="2738437" cy="2338387"/>
          </a:xfrm>
          <a:prstGeom prst="rect">
            <a:avLst/>
          </a:prstGeom>
          <a:solidFill>
            <a:schemeClr val="accent1"/>
          </a:solidFill>
          <a:ln>
            <a:noFill/>
          </a:ln>
        </p:spPr>
        <p:txBody>
          <a:bodyPr anchorCtr="0" anchor="ctr" bIns="46800" lIns="216000" spcFirstLastPara="1" rIns="72000" wrap="square" tIns="0">
            <a:normAutofit/>
          </a:bodyPr>
          <a:lstStyle>
            <a:lvl1pPr lvl="0" algn="l">
              <a:lnSpc>
                <a:spcPct val="90000"/>
              </a:lnSpc>
              <a:spcBef>
                <a:spcPts val="0"/>
              </a:spcBef>
              <a:spcAft>
                <a:spcPts val="0"/>
              </a:spcAft>
              <a:buClr>
                <a:schemeClr val="lt1"/>
              </a:buClr>
              <a:buSzPts val="3600"/>
              <a:buFont typeface="Libre Franklin"/>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 type="subTitle"/>
          </p:nvPr>
        </p:nvSpPr>
        <p:spPr>
          <a:xfrm>
            <a:off x="4576763" y="3124922"/>
            <a:ext cx="1828800" cy="1568450"/>
          </a:xfrm>
          <a:prstGeom prst="rect">
            <a:avLst/>
          </a:prstGeom>
          <a:solidFill>
            <a:schemeClr val="dk1"/>
          </a:solidFill>
          <a:ln>
            <a:noFill/>
          </a:ln>
        </p:spPr>
        <p:txBody>
          <a:bodyPr anchorCtr="0" anchor="ctr" bIns="45700" lIns="90000" spcFirstLastPara="1" rIns="91425" wrap="square" tIns="45700">
            <a:normAutofit/>
          </a:bodyPr>
          <a:lstStyle>
            <a:lvl1pPr lvl="0" algn="ctr">
              <a:lnSpc>
                <a:spcPct val="90000"/>
              </a:lnSpc>
              <a:spcBef>
                <a:spcPts val="750"/>
              </a:spcBef>
              <a:spcAft>
                <a:spcPts val="0"/>
              </a:spcAft>
              <a:buSzPts val="1080"/>
              <a:buNone/>
              <a:defRPr sz="1200">
                <a:solidFill>
                  <a:schemeClr val="lt1"/>
                </a:solidFill>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Clr>
                <a:schemeClr val="dk1"/>
              </a:buClr>
              <a:buSzPts val="1215"/>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15"/>
          <p:cNvSpPr txBox="1"/>
          <p:nvPr>
            <p:ph idx="3" type="body"/>
          </p:nvPr>
        </p:nvSpPr>
        <p:spPr>
          <a:xfrm>
            <a:off x="6400800" y="4683125"/>
            <a:ext cx="1828800" cy="460375"/>
          </a:xfrm>
          <a:prstGeom prst="rect">
            <a:avLst/>
          </a:prstGeom>
          <a:solidFill>
            <a:schemeClr val="lt1"/>
          </a:solidFill>
          <a:ln>
            <a:noFill/>
          </a:ln>
        </p:spPr>
        <p:txBody>
          <a:bodyPr anchorCtr="0" anchor="ctr" bIns="45700" lIns="90000" spcFirstLastPara="1" rIns="91425" wrap="square" tIns="45700">
            <a:noAutofit/>
          </a:bodyPr>
          <a:lstStyle>
            <a:lvl1pPr indent="-228600" lvl="0" marL="457200" algn="ctr">
              <a:lnSpc>
                <a:spcPct val="90000"/>
              </a:lnSpc>
              <a:spcBef>
                <a:spcPts val="750"/>
              </a:spcBef>
              <a:spcAft>
                <a:spcPts val="0"/>
              </a:spcAft>
              <a:buSzPts val="990"/>
              <a:buNone/>
              <a:defRPr sz="1100"/>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 name="Google Shape;29;p15"/>
          <p:cNvSpPr txBox="1"/>
          <p:nvPr>
            <p:ph idx="4" type="body"/>
          </p:nvPr>
        </p:nvSpPr>
        <p:spPr>
          <a:xfrm>
            <a:off x="82550" y="4440264"/>
            <a:ext cx="698500" cy="507975"/>
          </a:xfrm>
          <a:prstGeom prst="rect">
            <a:avLst/>
          </a:prstGeom>
          <a:noFill/>
          <a:ln>
            <a:noFill/>
          </a:ln>
        </p:spPr>
        <p:txBody>
          <a:bodyPr anchorCtr="0" anchor="b" bIns="0" lIns="0" spcFirstLastPara="1" rIns="0" wrap="square" tIns="0">
            <a:noAutofit/>
          </a:bodyPr>
          <a:lstStyle>
            <a:lvl1pPr indent="-268605" lvl="0" marL="457200" algn="l">
              <a:lnSpc>
                <a:spcPct val="90000"/>
              </a:lnSpc>
              <a:spcBef>
                <a:spcPts val="750"/>
              </a:spcBef>
              <a:spcAft>
                <a:spcPts val="0"/>
              </a:spcAft>
              <a:buSzPts val="630"/>
              <a:buFont typeface="Arial"/>
              <a:buChar char="•"/>
              <a:defRPr sz="700">
                <a:solidFill>
                  <a:schemeClr val="dk1"/>
                </a:solidFill>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pos="126">
          <p15:clr>
            <a:srgbClr val="FBAE40"/>
          </p15:clr>
        </p15:guide>
        <p15:guide id="4" orient="horz" pos="123">
          <p15:clr>
            <a:srgbClr val="FBAE40"/>
          </p15:clr>
        </p15:guide>
        <p15:guide id="5" orient="horz" pos="3117">
          <p15:clr>
            <a:srgbClr val="FBAE40"/>
          </p15:clr>
        </p15:guide>
        <p15:guide id="6" pos="8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p:spTree>
      <p:nvGrpSpPr>
        <p:cNvPr id="30" name="Shape 30"/>
        <p:cNvGrpSpPr/>
        <p:nvPr/>
      </p:nvGrpSpPr>
      <p:grpSpPr>
        <a:xfrm>
          <a:off x="0" y="0"/>
          <a:ext cx="0" cy="0"/>
          <a:chOff x="0" y="0"/>
          <a:chExt cx="0" cy="0"/>
        </a:xfrm>
      </p:grpSpPr>
      <p:sp>
        <p:nvSpPr>
          <p:cNvPr id="31" name="Google Shape;31;p16"/>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32" name="Google Shape;32;p16"/>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6"/>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34" name="Google Shape;34;p16"/>
          <p:cNvSpPr/>
          <p:nvPr>
            <p:ph idx="2" type="pic"/>
          </p:nvPr>
        </p:nvSpPr>
        <p:spPr>
          <a:xfrm>
            <a:off x="904875" y="0"/>
            <a:ext cx="3667125" cy="5143500"/>
          </a:xfrm>
          <a:prstGeom prst="rect">
            <a:avLst/>
          </a:prstGeom>
          <a:noFill/>
          <a:ln>
            <a:noFill/>
          </a:ln>
        </p:spPr>
      </p:sp>
      <p:sp>
        <p:nvSpPr>
          <p:cNvPr id="35" name="Google Shape;35;p16"/>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6"/>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de section">
  <p:cSld name="2_Titre de section">
    <p:spTree>
      <p:nvGrpSpPr>
        <p:cNvPr id="38" name="Shape 38"/>
        <p:cNvGrpSpPr/>
        <p:nvPr/>
      </p:nvGrpSpPr>
      <p:grpSpPr>
        <a:xfrm>
          <a:off x="0" y="0"/>
          <a:ext cx="0" cy="0"/>
          <a:chOff x="0" y="0"/>
          <a:chExt cx="0" cy="0"/>
        </a:xfrm>
      </p:grpSpPr>
      <p:sp>
        <p:nvSpPr>
          <p:cNvPr id="39" name="Google Shape;39;p17"/>
          <p:cNvSpPr/>
          <p:nvPr/>
        </p:nvSpPr>
        <p:spPr>
          <a:xfrm>
            <a:off x="4572000" y="0"/>
            <a:ext cx="4572000" cy="5143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0" name="Google Shape;40;p17"/>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7"/>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42" name="Google Shape;42;p17"/>
          <p:cNvSpPr/>
          <p:nvPr>
            <p:ph idx="2" type="pic"/>
          </p:nvPr>
        </p:nvSpPr>
        <p:spPr>
          <a:xfrm>
            <a:off x="904875" y="0"/>
            <a:ext cx="3667125" cy="5143500"/>
          </a:xfrm>
          <a:prstGeom prst="rect">
            <a:avLst/>
          </a:prstGeom>
          <a:noFill/>
          <a:ln>
            <a:noFill/>
          </a:ln>
        </p:spPr>
      </p:sp>
      <p:sp>
        <p:nvSpPr>
          <p:cNvPr id="43" name="Google Shape;43;p17"/>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7"/>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de section">
  <p:cSld name="1_Titre de section">
    <p:spTree>
      <p:nvGrpSpPr>
        <p:cNvPr id="46" name="Shape 46"/>
        <p:cNvGrpSpPr/>
        <p:nvPr/>
      </p:nvGrpSpPr>
      <p:grpSpPr>
        <a:xfrm>
          <a:off x="0" y="0"/>
          <a:ext cx="0" cy="0"/>
          <a:chOff x="0" y="0"/>
          <a:chExt cx="0" cy="0"/>
        </a:xfrm>
      </p:grpSpPr>
      <p:sp>
        <p:nvSpPr>
          <p:cNvPr id="47" name="Google Shape;47;p18"/>
          <p:cNvSpPr/>
          <p:nvPr/>
        </p:nvSpPr>
        <p:spPr>
          <a:xfrm>
            <a:off x="4572000" y="0"/>
            <a:ext cx="4572000" cy="5143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8" name="Google Shape;48;p18"/>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8"/>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50" name="Google Shape;50;p18"/>
          <p:cNvSpPr/>
          <p:nvPr>
            <p:ph idx="2" type="pic"/>
          </p:nvPr>
        </p:nvSpPr>
        <p:spPr>
          <a:xfrm>
            <a:off x="904875" y="0"/>
            <a:ext cx="3667125" cy="5143500"/>
          </a:xfrm>
          <a:prstGeom prst="rect">
            <a:avLst/>
          </a:prstGeom>
          <a:noFill/>
          <a:ln>
            <a:noFill/>
          </a:ln>
        </p:spPr>
      </p:sp>
      <p:sp>
        <p:nvSpPr>
          <p:cNvPr id="51" name="Google Shape;51;p18"/>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p:cSld name="Titre et contenu">
    <p:spTree>
      <p:nvGrpSpPr>
        <p:cNvPr id="54" name="Shape 54"/>
        <p:cNvGrpSpPr/>
        <p:nvPr/>
      </p:nvGrpSpPr>
      <p:grpSpPr>
        <a:xfrm>
          <a:off x="0" y="0"/>
          <a:ext cx="0" cy="0"/>
          <a:chOff x="0" y="0"/>
          <a:chExt cx="0" cy="0"/>
        </a:xfrm>
      </p:grpSpPr>
      <p:sp>
        <p:nvSpPr>
          <p:cNvPr id="55" name="Google Shape;55;p19"/>
          <p:cNvSpPr txBox="1"/>
          <p:nvPr>
            <p:ph idx="1" type="body"/>
          </p:nvPr>
        </p:nvSpPr>
        <p:spPr>
          <a:xfrm>
            <a:off x="904875" y="1563688"/>
            <a:ext cx="7726363"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19"/>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9"/>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et contenu">
  <p:cSld name="1_Titre et contenu">
    <p:spTree>
      <p:nvGrpSpPr>
        <p:cNvPr id="60" name="Shape 60"/>
        <p:cNvGrpSpPr/>
        <p:nvPr/>
      </p:nvGrpSpPr>
      <p:grpSpPr>
        <a:xfrm>
          <a:off x="0" y="0"/>
          <a:ext cx="0" cy="0"/>
          <a:chOff x="0" y="0"/>
          <a:chExt cx="0" cy="0"/>
        </a:xfrm>
      </p:grpSpPr>
      <p:sp>
        <p:nvSpPr>
          <p:cNvPr id="61" name="Google Shape;61;p20"/>
          <p:cNvSpPr txBox="1"/>
          <p:nvPr>
            <p:ph idx="1" type="body"/>
          </p:nvPr>
        </p:nvSpPr>
        <p:spPr>
          <a:xfrm>
            <a:off x="90487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2" name="Google Shape;62;p20"/>
          <p:cNvSpPr/>
          <p:nvPr>
            <p:ph idx="2" type="pic"/>
          </p:nvPr>
        </p:nvSpPr>
        <p:spPr>
          <a:xfrm>
            <a:off x="5486400" y="0"/>
            <a:ext cx="3144838" cy="5143500"/>
          </a:xfrm>
          <a:prstGeom prst="rect">
            <a:avLst/>
          </a:prstGeom>
          <a:noFill/>
          <a:ln>
            <a:noFill/>
          </a:ln>
        </p:spPr>
      </p:sp>
      <p:sp>
        <p:nvSpPr>
          <p:cNvPr id="63" name="Google Shape;63;p20"/>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0"/>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et contenu">
  <p:cSld name="2_Titre et contenu">
    <p:spTree>
      <p:nvGrpSpPr>
        <p:cNvPr id="67" name="Shape 67"/>
        <p:cNvGrpSpPr/>
        <p:nvPr/>
      </p:nvGrpSpPr>
      <p:grpSpPr>
        <a:xfrm>
          <a:off x="0" y="0"/>
          <a:ext cx="0" cy="0"/>
          <a:chOff x="0" y="0"/>
          <a:chExt cx="0" cy="0"/>
        </a:xfrm>
      </p:grpSpPr>
      <p:sp>
        <p:nvSpPr>
          <p:cNvPr id="68" name="Google Shape;68;p21"/>
          <p:cNvSpPr/>
          <p:nvPr>
            <p:ph idx="2" type="pic"/>
          </p:nvPr>
        </p:nvSpPr>
        <p:spPr>
          <a:xfrm>
            <a:off x="904875" y="0"/>
            <a:ext cx="3144838" cy="5143500"/>
          </a:xfrm>
          <a:prstGeom prst="rect">
            <a:avLst/>
          </a:prstGeom>
          <a:noFill/>
          <a:ln>
            <a:noFill/>
          </a:ln>
        </p:spPr>
      </p:sp>
      <p:sp>
        <p:nvSpPr>
          <p:cNvPr id="69" name="Google Shape;69;p21"/>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0" name="Google Shape;70;p21"/>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3" name="Google Shape;73;p21"/>
          <p:cNvSpPr txBox="1"/>
          <p:nvPr>
            <p:ph type="title"/>
          </p:nvPr>
        </p:nvSpPr>
        <p:spPr>
          <a:xfrm>
            <a:off x="904876" y="131032"/>
            <a:ext cx="3144520" cy="1072753"/>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re et contenu">
  <p:cSld name="4_Titre et contenu">
    <p:spTree>
      <p:nvGrpSpPr>
        <p:cNvPr id="74" name="Shape 74"/>
        <p:cNvGrpSpPr/>
        <p:nvPr/>
      </p:nvGrpSpPr>
      <p:grpSpPr>
        <a:xfrm>
          <a:off x="0" y="0"/>
          <a:ext cx="0" cy="0"/>
          <a:chOff x="0" y="0"/>
          <a:chExt cx="0" cy="0"/>
        </a:xfrm>
      </p:grpSpPr>
      <p:sp>
        <p:nvSpPr>
          <p:cNvPr id="75" name="Google Shape;75;p22"/>
          <p:cNvSpPr/>
          <p:nvPr>
            <p:ph idx="2" type="pic"/>
          </p:nvPr>
        </p:nvSpPr>
        <p:spPr>
          <a:xfrm>
            <a:off x="904875" y="0"/>
            <a:ext cx="3144838" cy="5143500"/>
          </a:xfrm>
          <a:prstGeom prst="rect">
            <a:avLst/>
          </a:prstGeom>
          <a:noFill/>
          <a:ln>
            <a:noFill/>
          </a:ln>
        </p:spPr>
      </p:sp>
      <p:sp>
        <p:nvSpPr>
          <p:cNvPr id="76" name="Google Shape;76;p22"/>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22"/>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0" name="Google Shape;80;p22"/>
          <p:cNvSpPr txBox="1"/>
          <p:nvPr>
            <p:ph type="title"/>
          </p:nvPr>
        </p:nvSpPr>
        <p:spPr>
          <a:xfrm>
            <a:off x="4049395" y="131032"/>
            <a:ext cx="3144520" cy="1072753"/>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p:spTree>
      <p:nvGrpSpPr>
        <p:cNvPr id="81" name="Shape 81"/>
        <p:cNvGrpSpPr/>
        <p:nvPr/>
      </p:nvGrpSpPr>
      <p:grpSpPr>
        <a:xfrm>
          <a:off x="0" y="0"/>
          <a:ext cx="0" cy="0"/>
          <a:chOff x="0" y="0"/>
          <a:chExt cx="0" cy="0"/>
        </a:xfrm>
      </p:grpSpPr>
      <p:sp>
        <p:nvSpPr>
          <p:cNvPr id="82" name="Google Shape;82;p23"/>
          <p:cNvSpPr txBox="1"/>
          <p:nvPr>
            <p:ph idx="1" type="body"/>
          </p:nvPr>
        </p:nvSpPr>
        <p:spPr>
          <a:xfrm>
            <a:off x="904875" y="1563688"/>
            <a:ext cx="3671466" cy="3263504"/>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3" name="Google Shape;83;p23"/>
          <p:cNvSpPr txBox="1"/>
          <p:nvPr>
            <p:ph idx="2" type="body"/>
          </p:nvPr>
        </p:nvSpPr>
        <p:spPr>
          <a:xfrm>
            <a:off x="4959772" y="1563688"/>
            <a:ext cx="3671466" cy="3263504"/>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4" name="Google Shape;84;p23"/>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3"/>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spTree>
      <p:nvGrpSpPr>
        <p:cNvPr id="88" name="Shape 88"/>
        <p:cNvGrpSpPr/>
        <p:nvPr/>
      </p:nvGrpSpPr>
      <p:grpSpPr>
        <a:xfrm>
          <a:off x="0" y="0"/>
          <a:ext cx="0" cy="0"/>
          <a:chOff x="0" y="0"/>
          <a:chExt cx="0" cy="0"/>
        </a:xfrm>
      </p:grpSpPr>
      <p:sp>
        <p:nvSpPr>
          <p:cNvPr id="89" name="Google Shape;89;p24"/>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24"/>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4"/>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seul">
  <p:cSld name="1_Titre seul">
    <p:spTree>
      <p:nvGrpSpPr>
        <p:cNvPr id="93" name="Shape 93"/>
        <p:cNvGrpSpPr/>
        <p:nvPr/>
      </p:nvGrpSpPr>
      <p:grpSpPr>
        <a:xfrm>
          <a:off x="0" y="0"/>
          <a:ext cx="0" cy="0"/>
          <a:chOff x="0" y="0"/>
          <a:chExt cx="0" cy="0"/>
        </a:xfrm>
      </p:grpSpPr>
      <p:sp>
        <p:nvSpPr>
          <p:cNvPr id="94" name="Google Shape;94;p25"/>
          <p:cNvSpPr/>
          <p:nvPr>
            <p:ph idx="2" type="pic"/>
          </p:nvPr>
        </p:nvSpPr>
        <p:spPr>
          <a:xfrm>
            <a:off x="904875" y="0"/>
            <a:ext cx="8239125" cy="5143500"/>
          </a:xfrm>
          <a:prstGeom prst="rect">
            <a:avLst/>
          </a:prstGeom>
          <a:noFill/>
          <a:ln>
            <a:noFill/>
          </a:ln>
        </p:spPr>
      </p:sp>
      <p:sp>
        <p:nvSpPr>
          <p:cNvPr id="95" name="Google Shape;95;p25"/>
          <p:cNvSpPr txBox="1"/>
          <p:nvPr>
            <p:ph type="title"/>
          </p:nvPr>
        </p:nvSpPr>
        <p:spPr>
          <a:xfrm>
            <a:off x="6405563" y="2571750"/>
            <a:ext cx="2738437" cy="2111375"/>
          </a:xfrm>
          <a:prstGeom prst="rect">
            <a:avLst/>
          </a:prstGeom>
          <a:solidFill>
            <a:schemeClr val="accent2"/>
          </a:solid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5"/>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5"/>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5"/>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seul">
  <p:cSld name="2_Titre seul">
    <p:spTree>
      <p:nvGrpSpPr>
        <p:cNvPr id="99" name="Shape 99"/>
        <p:cNvGrpSpPr/>
        <p:nvPr/>
      </p:nvGrpSpPr>
      <p:grpSpPr>
        <a:xfrm>
          <a:off x="0" y="0"/>
          <a:ext cx="0" cy="0"/>
          <a:chOff x="0" y="0"/>
          <a:chExt cx="0" cy="0"/>
        </a:xfrm>
      </p:grpSpPr>
      <p:sp>
        <p:nvSpPr>
          <p:cNvPr id="100" name="Google Shape;100;p26"/>
          <p:cNvSpPr/>
          <p:nvPr>
            <p:ph idx="2" type="pic"/>
          </p:nvPr>
        </p:nvSpPr>
        <p:spPr>
          <a:xfrm>
            <a:off x="904875" y="0"/>
            <a:ext cx="7726363" cy="5143500"/>
          </a:xfrm>
          <a:prstGeom prst="rect">
            <a:avLst/>
          </a:prstGeom>
          <a:noFill/>
          <a:ln>
            <a:noFill/>
          </a:ln>
        </p:spPr>
      </p:sp>
      <p:sp>
        <p:nvSpPr>
          <p:cNvPr id="101" name="Google Shape;101;p26"/>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6"/>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re seul">
  <p:cSld name="3_Titre seul">
    <p:spTree>
      <p:nvGrpSpPr>
        <p:cNvPr id="104" name="Shape 104"/>
        <p:cNvGrpSpPr/>
        <p:nvPr/>
      </p:nvGrpSpPr>
      <p:grpSpPr>
        <a:xfrm>
          <a:off x="0" y="0"/>
          <a:ext cx="0" cy="0"/>
          <a:chOff x="0" y="0"/>
          <a:chExt cx="0" cy="0"/>
        </a:xfrm>
      </p:grpSpPr>
      <p:sp>
        <p:nvSpPr>
          <p:cNvPr id="105" name="Google Shape;105;p27"/>
          <p:cNvSpPr/>
          <p:nvPr>
            <p:ph idx="2" type="pic"/>
          </p:nvPr>
        </p:nvSpPr>
        <p:spPr>
          <a:xfrm>
            <a:off x="904875" y="3114674"/>
            <a:ext cx="8239125" cy="2028825"/>
          </a:xfrm>
          <a:prstGeom prst="rect">
            <a:avLst/>
          </a:prstGeom>
          <a:noFill/>
          <a:ln>
            <a:noFill/>
          </a:ln>
        </p:spPr>
      </p:sp>
      <p:sp>
        <p:nvSpPr>
          <p:cNvPr id="106" name="Google Shape;106;p27"/>
          <p:cNvSpPr txBox="1"/>
          <p:nvPr>
            <p:ph idx="1" type="body"/>
          </p:nvPr>
        </p:nvSpPr>
        <p:spPr>
          <a:xfrm>
            <a:off x="904875" y="1563688"/>
            <a:ext cx="7646988" cy="1436687"/>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14325" lvl="3" marL="1828800" algn="l">
              <a:lnSpc>
                <a:spcPct val="90000"/>
              </a:lnSpc>
              <a:spcBef>
                <a:spcPts val="375"/>
              </a:spcBef>
              <a:spcAft>
                <a:spcPts val="0"/>
              </a:spcAft>
              <a:buClr>
                <a:schemeClr val="dk1"/>
              </a:buClr>
              <a:buSzPts val="1350"/>
              <a:buChar char="•"/>
              <a:defRPr>
                <a:latin typeface="Arial"/>
                <a:ea typeface="Arial"/>
                <a:cs typeface="Arial"/>
                <a:sym typeface="Arial"/>
              </a:defRPr>
            </a:lvl4pPr>
            <a:lvl5pPr indent="-314325" lvl="4" marL="2286000" algn="l">
              <a:lnSpc>
                <a:spcPct val="90000"/>
              </a:lnSpc>
              <a:spcBef>
                <a:spcPts val="375"/>
              </a:spcBef>
              <a:spcAft>
                <a:spcPts val="0"/>
              </a:spcAft>
              <a:buClr>
                <a:schemeClr val="dk1"/>
              </a:buClr>
              <a:buSzPts val="1350"/>
              <a:buChar char="•"/>
              <a:defRPr>
                <a:latin typeface="Arial"/>
                <a:ea typeface="Arial"/>
                <a:cs typeface="Arial"/>
                <a:sym typeface="Aria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7" name="Google Shape;107;p27"/>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7"/>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7"/>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0" name="Google Shape;110;p27"/>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11" name="Shape 111"/>
        <p:cNvGrpSpPr/>
        <p:nvPr/>
      </p:nvGrpSpPr>
      <p:grpSpPr>
        <a:xfrm>
          <a:off x="0" y="0"/>
          <a:ext cx="0" cy="0"/>
          <a:chOff x="0" y="0"/>
          <a:chExt cx="0" cy="0"/>
        </a:xfrm>
      </p:grpSpPr>
      <p:sp>
        <p:nvSpPr>
          <p:cNvPr id="112" name="Google Shape;112;p28"/>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8"/>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8"/>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marR="0" rtl="0" algn="l">
              <a:lnSpc>
                <a:spcPct val="90000"/>
              </a:lnSpc>
              <a:spcBef>
                <a:spcPts val="0"/>
              </a:spcBef>
              <a:spcAft>
                <a:spcPts val="0"/>
              </a:spcAft>
              <a:buClr>
                <a:schemeClr val="dk1"/>
              </a:buClr>
              <a:buSzPts val="3200"/>
              <a:buFont typeface="Libre Franklin"/>
              <a:buNone/>
              <a:defRPr b="1" i="0" sz="3200" u="none" cap="none" strike="noStrike">
                <a:solidFill>
                  <a:schemeClr val="dk1"/>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904875" y="1563688"/>
            <a:ext cx="7726363" cy="3386772"/>
          </a:xfrm>
          <a:prstGeom prst="rect">
            <a:avLst/>
          </a:prstGeom>
          <a:noFill/>
          <a:ln>
            <a:noFill/>
          </a:ln>
        </p:spPr>
        <p:txBody>
          <a:bodyPr anchorCtr="0" anchor="t" bIns="45700" lIns="180000" spcFirstLastPara="1" rIns="91425" wrap="square" tIns="45700">
            <a:normAutofit/>
          </a:bodyPr>
          <a:lstStyle>
            <a:lvl1pPr indent="-331470" lvl="0" marL="457200" marR="0" rtl="0" algn="l">
              <a:lnSpc>
                <a:spcPct val="90000"/>
              </a:lnSpc>
              <a:spcBef>
                <a:spcPts val="750"/>
              </a:spcBef>
              <a:spcAft>
                <a:spcPts val="0"/>
              </a:spcAft>
              <a:buClr>
                <a:schemeClr val="accent1"/>
              </a:buClr>
              <a:buSzPts val="1620"/>
              <a:buFont typeface="Noto Sans Symbols"/>
              <a:buChar char="▪"/>
              <a:defRPr b="0" i="0" sz="1800" u="none" cap="none" strike="noStrike">
                <a:solidFill>
                  <a:schemeClr val="dk1"/>
                </a:solidFill>
                <a:latin typeface="Arial"/>
                <a:ea typeface="Arial"/>
                <a:cs typeface="Arial"/>
                <a:sym typeface="Arial"/>
              </a:defRPr>
            </a:lvl1pPr>
            <a:lvl2pPr indent="-330200" lvl="1" marL="914400" marR="0" rtl="0" algn="l">
              <a:lnSpc>
                <a:spcPct val="90000"/>
              </a:lnSpc>
              <a:spcBef>
                <a:spcPts val="375"/>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Noto Sans Symbols"/>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13"/>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chemeClr val="accen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3" name="Google Shape;13;p13"/>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7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4" name="Google Shape;14;p1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marR="0" rtl="0" algn="ctr">
              <a:spcBef>
                <a:spcPts val="0"/>
              </a:spcBef>
              <a:buNone/>
              <a:defRPr b="1" i="0" sz="700" u="none" cap="none" strike="noStrike">
                <a:solidFill>
                  <a:schemeClr val="dk1"/>
                </a:solidFill>
                <a:latin typeface="Libre Franklin"/>
                <a:ea typeface="Libre Franklin"/>
                <a:cs typeface="Libre Franklin"/>
                <a:sym typeface="Libre Franklin"/>
              </a:defRPr>
            </a:lvl1pPr>
            <a:lvl2pPr indent="0" lvl="1" marL="0" marR="0" rtl="0" algn="ctr">
              <a:spcBef>
                <a:spcPts val="0"/>
              </a:spcBef>
              <a:buNone/>
              <a:defRPr b="1" i="0" sz="700" u="none" cap="none" strike="noStrike">
                <a:solidFill>
                  <a:schemeClr val="dk1"/>
                </a:solidFill>
                <a:latin typeface="Libre Franklin"/>
                <a:ea typeface="Libre Franklin"/>
                <a:cs typeface="Libre Franklin"/>
                <a:sym typeface="Libre Franklin"/>
              </a:defRPr>
            </a:lvl2pPr>
            <a:lvl3pPr indent="0" lvl="2" marL="0" marR="0" rtl="0" algn="ctr">
              <a:spcBef>
                <a:spcPts val="0"/>
              </a:spcBef>
              <a:buNone/>
              <a:defRPr b="1" i="0" sz="700" u="none" cap="none" strike="noStrike">
                <a:solidFill>
                  <a:schemeClr val="dk1"/>
                </a:solidFill>
                <a:latin typeface="Libre Franklin"/>
                <a:ea typeface="Libre Franklin"/>
                <a:cs typeface="Libre Franklin"/>
                <a:sym typeface="Libre Franklin"/>
              </a:defRPr>
            </a:lvl3pPr>
            <a:lvl4pPr indent="0" lvl="3" marL="0" marR="0" rtl="0" algn="ctr">
              <a:spcBef>
                <a:spcPts val="0"/>
              </a:spcBef>
              <a:buNone/>
              <a:defRPr b="1" i="0" sz="700" u="none" cap="none" strike="noStrike">
                <a:solidFill>
                  <a:schemeClr val="dk1"/>
                </a:solidFill>
                <a:latin typeface="Libre Franklin"/>
                <a:ea typeface="Libre Franklin"/>
                <a:cs typeface="Libre Franklin"/>
                <a:sym typeface="Libre Franklin"/>
              </a:defRPr>
            </a:lvl4pPr>
            <a:lvl5pPr indent="0" lvl="4" marL="0" marR="0" rtl="0" algn="ctr">
              <a:spcBef>
                <a:spcPts val="0"/>
              </a:spcBef>
              <a:buNone/>
              <a:defRPr b="1" i="0" sz="700" u="none" cap="none" strike="noStrike">
                <a:solidFill>
                  <a:schemeClr val="dk1"/>
                </a:solidFill>
                <a:latin typeface="Libre Franklin"/>
                <a:ea typeface="Libre Franklin"/>
                <a:cs typeface="Libre Franklin"/>
                <a:sym typeface="Libre Franklin"/>
              </a:defRPr>
            </a:lvl5pPr>
            <a:lvl6pPr indent="0" lvl="5" marL="0" marR="0" rtl="0" algn="ctr">
              <a:spcBef>
                <a:spcPts val="0"/>
              </a:spcBef>
              <a:buNone/>
              <a:defRPr b="1" i="0" sz="700" u="none" cap="none" strike="noStrike">
                <a:solidFill>
                  <a:schemeClr val="dk1"/>
                </a:solidFill>
                <a:latin typeface="Libre Franklin"/>
                <a:ea typeface="Libre Franklin"/>
                <a:cs typeface="Libre Franklin"/>
                <a:sym typeface="Libre Franklin"/>
              </a:defRPr>
            </a:lvl6pPr>
            <a:lvl7pPr indent="0" lvl="6" marL="0" marR="0" rtl="0" algn="ctr">
              <a:spcBef>
                <a:spcPts val="0"/>
              </a:spcBef>
              <a:buNone/>
              <a:defRPr b="1" i="0" sz="700" u="none" cap="none" strike="noStrike">
                <a:solidFill>
                  <a:schemeClr val="dk1"/>
                </a:solidFill>
                <a:latin typeface="Libre Franklin"/>
                <a:ea typeface="Libre Franklin"/>
                <a:cs typeface="Libre Franklin"/>
                <a:sym typeface="Libre Franklin"/>
              </a:defRPr>
            </a:lvl7pPr>
            <a:lvl8pPr indent="0" lvl="7" marL="0" marR="0" rtl="0" algn="ctr">
              <a:spcBef>
                <a:spcPts val="0"/>
              </a:spcBef>
              <a:buNone/>
              <a:defRPr b="1" i="0" sz="700" u="none" cap="none" strike="noStrike">
                <a:solidFill>
                  <a:schemeClr val="dk1"/>
                </a:solidFill>
                <a:latin typeface="Libre Franklin"/>
                <a:ea typeface="Libre Franklin"/>
                <a:cs typeface="Libre Franklin"/>
                <a:sym typeface="Libre Franklin"/>
              </a:defRPr>
            </a:lvl8pPr>
            <a:lvl9pPr indent="0" lvl="8" marL="0" marR="0" rtl="0" algn="ctr">
              <a:spcBef>
                <a:spcPts val="0"/>
              </a:spcBef>
              <a:buNone/>
              <a:defRPr b="1" i="0" sz="700" u="none" cap="none" strike="noStrike">
                <a:solidFill>
                  <a:schemeClr val="dk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15" name="Google Shape;15;p13"/>
          <p:cNvSpPr/>
          <p:nvPr/>
        </p:nvSpPr>
        <p:spPr>
          <a:xfrm rot="-5400000">
            <a:off x="430003" y="4897709"/>
            <a:ext cx="45719" cy="597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16" name="Google Shape;16;p13"/>
          <p:cNvSpPr/>
          <p:nvPr/>
        </p:nvSpPr>
        <p:spPr>
          <a:xfrm>
            <a:off x="248806" y="885115"/>
            <a:ext cx="5121017" cy="28800"/>
          </a:xfrm>
          <a:custGeom>
            <a:rect b="b" l="l" r="r" t="t"/>
            <a:pathLst>
              <a:path extrusionOk="0" h="28800" w="5121017">
                <a:moveTo>
                  <a:pt x="0" y="0"/>
                </a:moveTo>
                <a:lnTo>
                  <a:pt x="5121017" y="0"/>
                </a:lnTo>
                <a:lnTo>
                  <a:pt x="5121017" y="28800"/>
                </a:lnTo>
                <a:lnTo>
                  <a:pt x="0" y="28800"/>
                </a:lnTo>
                <a:lnTo>
                  <a:pt x="0" y="0"/>
                </a:lnTo>
                <a:close/>
              </a:path>
            </a:pathLst>
          </a:custGeom>
          <a:gradFill>
            <a:gsLst>
              <a:gs pos="0">
                <a:srgbClr val="770000"/>
              </a:gs>
              <a:gs pos="30000">
                <a:srgbClr val="AC0000"/>
              </a:gs>
              <a:gs pos="61000">
                <a:srgbClr val="CE0000"/>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126">
          <p15:clr>
            <a:srgbClr val="F26B43"/>
          </p15:clr>
        </p15:guide>
        <p15:guide id="3" pos="5602">
          <p15:clr>
            <a:srgbClr val="F26B43"/>
          </p15:clr>
        </p15:guide>
        <p15:guide id="4" pos="2880">
          <p15:clr>
            <a:srgbClr val="F26B43"/>
          </p15:clr>
        </p15:guide>
        <p15:guide id="5" orient="horz" pos="123">
          <p15:clr>
            <a:srgbClr val="F26B43"/>
          </p15:clr>
        </p15:guide>
        <p15:guide id="6" orient="horz" pos="3117">
          <p15:clr>
            <a:srgbClr val="F26B43"/>
          </p15:clr>
        </p15:guide>
        <p15:guide id="7" pos="570">
          <p15:clr>
            <a:srgbClr val="F26B43"/>
          </p15:clr>
        </p15:guide>
        <p15:guide id="8" pos="1155">
          <p15:clr>
            <a:srgbClr val="F26B43"/>
          </p15:clr>
        </p15:guide>
        <p15:guide id="9" pos="1728">
          <p15:clr>
            <a:srgbClr val="F26B43"/>
          </p15:clr>
        </p15:guide>
        <p15:guide id="10" pos="2304">
          <p15:clr>
            <a:srgbClr val="F26B43"/>
          </p15:clr>
        </p15:guide>
        <p15:guide id="11" pos="3456">
          <p15:clr>
            <a:srgbClr val="F26B43"/>
          </p15:clr>
        </p15:guide>
        <p15:guide id="12" pos="4035">
          <p15:clr>
            <a:srgbClr val="F26B43"/>
          </p15:clr>
        </p15:guide>
        <p15:guide id="13" pos="4608">
          <p15:clr>
            <a:srgbClr val="F26B43"/>
          </p15:clr>
        </p15:guide>
        <p15:guide id="14" pos="5180">
          <p15:clr>
            <a:srgbClr val="F26B43"/>
          </p15:clr>
        </p15:guide>
        <p15:guide id="15" orient="horz" pos="490">
          <p15:clr>
            <a:srgbClr val="F26B43"/>
          </p15:clr>
        </p15:guide>
        <p15:guide id="16" orient="horz" pos="985">
          <p15:clr>
            <a:srgbClr val="F26B43"/>
          </p15:clr>
        </p15:guide>
        <p15:guide id="17" orient="horz" pos="1475">
          <p15:clr>
            <a:srgbClr val="F26B43"/>
          </p15:clr>
        </p15:guide>
        <p15:guide id="18" orient="horz" pos="1962">
          <p15:clr>
            <a:srgbClr val="F26B43"/>
          </p15:clr>
        </p15:guide>
        <p15:guide id="19" orient="horz" pos="2458">
          <p15:clr>
            <a:srgbClr val="F26B43"/>
          </p15:clr>
        </p15:guide>
        <p15:guide id="20" orient="horz" pos="2950">
          <p15:clr>
            <a:srgbClr val="F26B43"/>
          </p15:clr>
        </p15:guide>
        <p15:guide id="21" pos="5437">
          <p15:clr>
            <a:srgbClr val="F26B43"/>
          </p15:clr>
        </p15:guide>
        <p15:guide id="22" orient="horz">
          <p15:clr>
            <a:srgbClr val="F26B43"/>
          </p15:clr>
        </p15:guide>
        <p15:guide id="23" pos="5760">
          <p15:clr>
            <a:srgbClr val="F26B43"/>
          </p15:clr>
        </p15:guide>
        <p15:guide id="24" orient="horz" pos="3240">
          <p15:clr>
            <a:srgbClr val="F26B43"/>
          </p15:clr>
        </p15:guide>
        <p15:guide id="2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
          <p:cNvSpPr txBox="1"/>
          <p:nvPr>
            <p:ph idx="1" type="body"/>
          </p:nvPr>
        </p:nvSpPr>
        <p:spPr>
          <a:xfrm>
            <a:off x="5981700" y="1254387"/>
            <a:ext cx="2446020" cy="1952942"/>
          </a:xfrm>
          <a:prstGeom prst="rect">
            <a:avLst/>
          </a:prstGeom>
          <a:noFill/>
          <a:ln>
            <a:noFill/>
          </a:ln>
        </p:spPr>
        <p:txBody>
          <a:bodyPr anchorCtr="0" anchor="t" bIns="45700" lIns="180000" spcFirstLastPara="1" rIns="91425" wrap="square" tIns="45700">
            <a:normAutofit/>
          </a:bodyPr>
          <a:lstStyle/>
          <a:p>
            <a:pPr indent="0" lvl="0" marL="0" rtl="0" algn="l">
              <a:lnSpc>
                <a:spcPct val="90000"/>
              </a:lnSpc>
              <a:spcBef>
                <a:spcPts val="0"/>
              </a:spcBef>
              <a:spcAft>
                <a:spcPts val="0"/>
              </a:spcAft>
              <a:buSzPts val="1620"/>
              <a:buNone/>
            </a:pPr>
            <a:r>
              <a:rPr lang="en-US" u="sng"/>
              <a:t>GROUP</a:t>
            </a:r>
            <a:endParaRPr/>
          </a:p>
          <a:p>
            <a:pPr indent="0" lvl="0" marL="0" rtl="0" algn="l">
              <a:lnSpc>
                <a:spcPct val="90000"/>
              </a:lnSpc>
              <a:spcBef>
                <a:spcPts val="750"/>
              </a:spcBef>
              <a:spcAft>
                <a:spcPts val="0"/>
              </a:spcAft>
              <a:buSzPts val="1620"/>
              <a:buNone/>
            </a:pPr>
            <a:r>
              <a:t/>
            </a:r>
            <a:endParaRPr/>
          </a:p>
          <a:p>
            <a:pPr indent="-171450" lvl="0" marL="171450" rtl="0" algn="l">
              <a:lnSpc>
                <a:spcPct val="90000"/>
              </a:lnSpc>
              <a:spcBef>
                <a:spcPts val="750"/>
              </a:spcBef>
              <a:spcAft>
                <a:spcPts val="0"/>
              </a:spcAft>
              <a:buSzPts val="1620"/>
              <a:buChar char="▪"/>
            </a:pPr>
            <a:r>
              <a:rPr lang="en-US"/>
              <a:t>NAME</a:t>
            </a:r>
            <a:endParaRPr/>
          </a:p>
          <a:p>
            <a:pPr indent="-171450" lvl="0" marL="171450" rtl="0" algn="l">
              <a:lnSpc>
                <a:spcPct val="90000"/>
              </a:lnSpc>
              <a:spcBef>
                <a:spcPts val="750"/>
              </a:spcBef>
              <a:spcAft>
                <a:spcPts val="0"/>
              </a:spcAft>
              <a:buSzPts val="1620"/>
              <a:buChar char="▪"/>
            </a:pPr>
            <a:r>
              <a:rPr lang="en-US"/>
              <a:t>NAME</a:t>
            </a:r>
            <a:endParaRPr/>
          </a:p>
          <a:p>
            <a:pPr indent="-171450" lvl="0" marL="171450" rtl="0" algn="l">
              <a:lnSpc>
                <a:spcPct val="90000"/>
              </a:lnSpc>
              <a:spcBef>
                <a:spcPts val="750"/>
              </a:spcBef>
              <a:spcAft>
                <a:spcPts val="0"/>
              </a:spcAft>
              <a:buSzPts val="1620"/>
              <a:buChar char="▪"/>
            </a:pPr>
            <a:r>
              <a:rPr lang="en-US"/>
              <a:t>NAME</a:t>
            </a:r>
            <a:endParaRPr/>
          </a:p>
        </p:txBody>
      </p:sp>
      <p:sp>
        <p:nvSpPr>
          <p:cNvPr id="120" name="Google Shape;120;p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21" name="Google Shape;121;p1"/>
          <p:cNvSpPr/>
          <p:nvPr/>
        </p:nvSpPr>
        <p:spPr>
          <a:xfrm>
            <a:off x="0" y="823166"/>
            <a:ext cx="5638800" cy="332338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122" name="Google Shape;122;p1"/>
          <p:cNvSpPr txBox="1"/>
          <p:nvPr>
            <p:ph type="title"/>
          </p:nvPr>
        </p:nvSpPr>
        <p:spPr>
          <a:xfrm>
            <a:off x="169123" y="1456018"/>
            <a:ext cx="5349028" cy="2690532"/>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lt1"/>
              </a:buClr>
              <a:buSzPts val="3600"/>
              <a:buFont typeface="Libre Franklin"/>
              <a:buNone/>
            </a:pPr>
            <a:r>
              <a:rPr b="0" lang="en-US" sz="3600">
                <a:solidFill>
                  <a:schemeClr val="lt1"/>
                </a:solidFill>
              </a:rPr>
              <a:t>CASE STUDY 3</a:t>
            </a:r>
            <a:br>
              <a:rPr b="0" lang="en-US" sz="3600">
                <a:solidFill>
                  <a:schemeClr val="lt1"/>
                </a:solidFill>
              </a:rPr>
            </a:br>
            <a:br>
              <a:rPr b="0" lang="en-US" sz="3600">
                <a:solidFill>
                  <a:schemeClr val="lt1"/>
                </a:solidFill>
              </a:rPr>
            </a:br>
            <a:r>
              <a:rPr b="0" lang="en-US" sz="3600">
                <a:solidFill>
                  <a:schemeClr val="lt1"/>
                </a:solidFill>
              </a:rPr>
              <a:t>Energy Planner</a:t>
            </a:r>
            <a:endParaRPr b="0" sz="3600">
              <a:solidFill>
                <a:schemeClr val="lt1"/>
              </a:solidFill>
            </a:endParaRPr>
          </a:p>
        </p:txBody>
      </p:sp>
      <p:sp>
        <p:nvSpPr>
          <p:cNvPr id="123" name="Google Shape;123;p1"/>
          <p:cNvSpPr/>
          <p:nvPr/>
        </p:nvSpPr>
        <p:spPr>
          <a:xfrm>
            <a:off x="1" y="4898177"/>
            <a:ext cx="9144000" cy="245323"/>
          </a:xfrm>
          <a:prstGeom prst="rect">
            <a:avLst/>
          </a:prstGeom>
          <a:solidFill>
            <a:srgbClr val="00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 name="Google Shape;124;p1"/>
          <p:cNvSpPr txBox="1"/>
          <p:nvPr/>
        </p:nvSpPr>
        <p:spPr>
          <a:xfrm>
            <a:off x="0" y="4912708"/>
            <a:ext cx="9133383" cy="2307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900"/>
              <a:buFont typeface="Avenir"/>
              <a:buNone/>
            </a:pPr>
            <a:r>
              <a:rPr b="0" i="0" lang="en-US" sz="900" u="none" cap="none" strike="noStrike">
                <a:solidFill>
                  <a:schemeClr val="lt1"/>
                </a:solidFill>
                <a:latin typeface="Avenir"/>
                <a:ea typeface="Avenir"/>
                <a:cs typeface="Avenir"/>
                <a:sym typeface="Avenir"/>
              </a:rPr>
              <a:t>This project receives funding from the European Union’s Horizon 2023 Framework Programme for Research and Innovation under Grant Agreement no. 101118123</a:t>
            </a:r>
            <a:endParaRPr b="0" i="0" sz="900" u="none" cap="none" strike="noStrike">
              <a:solidFill>
                <a:schemeClr val="lt1"/>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
          <p:cNvSpPr txBox="1"/>
          <p:nvPr>
            <p:ph type="title"/>
          </p:nvPr>
        </p:nvSpPr>
        <p:spPr>
          <a:xfrm>
            <a:off x="169122" y="306669"/>
            <a:ext cx="7232801"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Rationale</a:t>
            </a:r>
            <a:endParaRPr b="0" sz="3600"/>
          </a:p>
        </p:txBody>
      </p:sp>
      <p:sp>
        <p:nvSpPr>
          <p:cNvPr id="131" name="Google Shape;131;p2"/>
          <p:cNvSpPr txBox="1"/>
          <p:nvPr/>
        </p:nvSpPr>
        <p:spPr>
          <a:xfrm>
            <a:off x="2907237" y="1215845"/>
            <a:ext cx="6192300" cy="3696900"/>
          </a:xfrm>
          <a:prstGeom prst="rect">
            <a:avLst/>
          </a:prstGeom>
          <a:noFill/>
          <a:ln>
            <a:noFill/>
          </a:ln>
        </p:spPr>
        <p:txBody>
          <a:bodyPr anchorCtr="0" anchor="t" bIns="45700" lIns="180000" spcFirstLastPara="1" rIns="91425" wrap="square" tIns="45700">
            <a:normAutofit fontScale="85000" lnSpcReduction="20000"/>
          </a:bodyPr>
          <a:lstStyle/>
          <a:p>
            <a:pPr indent="-171450" lvl="0" marL="171450" marR="0" rtl="0" algn="l">
              <a:lnSpc>
                <a:spcPct val="107000"/>
              </a:lnSpc>
              <a:spcBef>
                <a:spcPts val="0"/>
              </a:spcBef>
              <a:spcAft>
                <a:spcPts val="0"/>
              </a:spcAft>
              <a:buClr>
                <a:schemeClr val="accent1"/>
              </a:buClr>
              <a:buSzPct val="90000"/>
              <a:buFont typeface="Noto Sans Symbols"/>
              <a:buChar char="▪"/>
            </a:pPr>
            <a:r>
              <a:rPr b="0" i="0" lang="en-US" sz="1500" u="none" cap="none" strike="noStrike">
                <a:solidFill>
                  <a:schemeClr val="dk1"/>
                </a:solidFill>
                <a:latin typeface="Calibri"/>
                <a:ea typeface="Calibri"/>
                <a:cs typeface="Calibri"/>
                <a:sym typeface="Calibri"/>
              </a:rPr>
              <a:t>You are an </a:t>
            </a:r>
            <a:r>
              <a:rPr b="1" i="0" lang="en-US" sz="1500" u="none" cap="none" strike="noStrike">
                <a:solidFill>
                  <a:schemeClr val="dk1"/>
                </a:solidFill>
                <a:latin typeface="Calibri"/>
                <a:ea typeface="Calibri"/>
                <a:cs typeface="Calibri"/>
                <a:sym typeface="Calibri"/>
              </a:rPr>
              <a:t>energy system planner working on the long-term development of the energy system </a:t>
            </a:r>
            <a:r>
              <a:rPr b="0" i="0" lang="en-US" sz="1500" u="none" cap="none" strike="noStrike">
                <a:solidFill>
                  <a:schemeClr val="dk1"/>
                </a:solidFill>
                <a:latin typeface="Calibri"/>
                <a:ea typeface="Calibri"/>
                <a:cs typeface="Calibri"/>
                <a:sym typeface="Calibri"/>
              </a:rPr>
              <a:t>in Addis Ababa. You are preparing inputs for a multi-energy system, and need to </a:t>
            </a:r>
            <a:r>
              <a:rPr b="1" i="0" lang="en-US" sz="1500" u="none" cap="none" strike="noStrike">
                <a:solidFill>
                  <a:schemeClr val="dk1"/>
                </a:solidFill>
                <a:latin typeface="Calibri"/>
                <a:ea typeface="Calibri"/>
                <a:cs typeface="Calibri"/>
                <a:sym typeface="Calibri"/>
              </a:rPr>
              <a:t>integrate electric vehicle (EV) demand over three planning horizons</a:t>
            </a:r>
            <a:r>
              <a:rPr b="0" i="0" lang="en-US" sz="1500" u="none" cap="none" strike="noStrike">
                <a:solidFill>
                  <a:schemeClr val="dk1"/>
                </a:solidFill>
                <a:latin typeface="Calibri"/>
                <a:ea typeface="Calibri"/>
                <a:cs typeface="Calibri"/>
                <a:sym typeface="Calibri"/>
              </a:rPr>
              <a:t>:</a:t>
            </a:r>
            <a:endParaRPr/>
          </a:p>
          <a:p>
            <a:pPr indent="-171450" lvl="1" marL="514350" marR="0" rtl="0" algn="l">
              <a:lnSpc>
                <a:spcPct val="107000"/>
              </a:lnSpc>
              <a:spcBef>
                <a:spcPts val="800"/>
              </a:spcBef>
              <a:spcAft>
                <a:spcPts val="0"/>
              </a:spcAft>
              <a:buClr>
                <a:schemeClr val="accent1"/>
              </a:buClr>
              <a:buSzPct val="100000"/>
              <a:buFont typeface="Arial"/>
              <a:buChar char="•"/>
            </a:pPr>
            <a:r>
              <a:rPr b="0" i="0" lang="en-US" sz="1500" u="none" cap="none" strike="noStrike">
                <a:solidFill>
                  <a:schemeClr val="dk1"/>
                </a:solidFill>
                <a:latin typeface="Calibri"/>
                <a:ea typeface="Calibri"/>
                <a:cs typeface="Calibri"/>
                <a:sym typeface="Calibri"/>
              </a:rPr>
              <a:t>2030 (early adoption)</a:t>
            </a:r>
            <a:endParaRPr/>
          </a:p>
          <a:p>
            <a:pPr indent="-171450" lvl="1" marL="514350" marR="0" rtl="0" algn="l">
              <a:lnSpc>
                <a:spcPct val="107000"/>
              </a:lnSpc>
              <a:spcBef>
                <a:spcPts val="800"/>
              </a:spcBef>
              <a:spcAft>
                <a:spcPts val="0"/>
              </a:spcAft>
              <a:buClr>
                <a:schemeClr val="accent1"/>
              </a:buClr>
              <a:buSzPct val="100000"/>
              <a:buFont typeface="Arial"/>
              <a:buChar char="•"/>
            </a:pPr>
            <a:r>
              <a:rPr b="0" i="0" lang="en-US" sz="1500" u="none" cap="none" strike="noStrike">
                <a:solidFill>
                  <a:schemeClr val="dk1"/>
                </a:solidFill>
                <a:latin typeface="Calibri"/>
                <a:ea typeface="Calibri"/>
                <a:cs typeface="Calibri"/>
                <a:sym typeface="Calibri"/>
              </a:rPr>
              <a:t>2035 (scale-up phase)</a:t>
            </a:r>
            <a:endParaRPr/>
          </a:p>
          <a:p>
            <a:pPr indent="-171450" lvl="1" marL="514350" marR="0" rtl="0" algn="l">
              <a:lnSpc>
                <a:spcPct val="107000"/>
              </a:lnSpc>
              <a:spcBef>
                <a:spcPts val="800"/>
              </a:spcBef>
              <a:spcAft>
                <a:spcPts val="0"/>
              </a:spcAft>
              <a:buClr>
                <a:schemeClr val="accent1"/>
              </a:buClr>
              <a:buSzPct val="100000"/>
              <a:buFont typeface="Arial"/>
              <a:buChar char="•"/>
            </a:pPr>
            <a:r>
              <a:rPr b="0" i="0" lang="en-US" sz="1500" u="none" cap="none" strike="noStrike">
                <a:solidFill>
                  <a:schemeClr val="dk1"/>
                </a:solidFill>
                <a:latin typeface="Calibri"/>
                <a:ea typeface="Calibri"/>
                <a:cs typeface="Calibri"/>
                <a:sym typeface="Calibri"/>
              </a:rPr>
              <a:t>2040 (mass adoption)</a:t>
            </a:r>
            <a:endParaRPr/>
          </a:p>
          <a:p>
            <a:pPr indent="-171450" lvl="0" marL="171450" marR="0" rtl="0" algn="l">
              <a:lnSpc>
                <a:spcPct val="107000"/>
              </a:lnSpc>
              <a:spcBef>
                <a:spcPts val="1550"/>
              </a:spcBef>
              <a:spcAft>
                <a:spcPts val="0"/>
              </a:spcAft>
              <a:buClr>
                <a:schemeClr val="accent1"/>
              </a:buClr>
              <a:buSzPct val="90000"/>
              <a:buFont typeface="Noto Sans Symbols"/>
              <a:buChar char="▪"/>
            </a:pPr>
            <a:r>
              <a:rPr b="0" i="0" lang="en-US" sz="1500" u="none" cap="none" strike="noStrike">
                <a:solidFill>
                  <a:schemeClr val="dk1"/>
                </a:solidFill>
                <a:latin typeface="Calibri"/>
                <a:ea typeface="Calibri"/>
                <a:cs typeface="Calibri"/>
                <a:sym typeface="Calibri"/>
              </a:rPr>
              <a:t>Your goal is to generate EV charging demand patterns that can be directly used in system-level simulations. You also want to assess how PV can couple with EV demand and how this affects net demand and peak load.</a:t>
            </a:r>
            <a:endParaRPr/>
          </a:p>
          <a:p>
            <a:pPr indent="-171450" lvl="0" marL="171450" marR="0" rtl="0" algn="l">
              <a:lnSpc>
                <a:spcPct val="107000"/>
              </a:lnSpc>
              <a:spcBef>
                <a:spcPts val="1550"/>
              </a:spcBef>
              <a:spcAft>
                <a:spcPts val="0"/>
              </a:spcAft>
              <a:buClr>
                <a:schemeClr val="accent1"/>
              </a:buClr>
              <a:buSzPct val="90000"/>
              <a:buFont typeface="Noto Sans Symbols"/>
              <a:buChar char="▪"/>
            </a:pPr>
            <a:r>
              <a:rPr b="0" i="0" lang="en-US" sz="1500" u="none" cap="none" strike="noStrike">
                <a:solidFill>
                  <a:schemeClr val="dk1"/>
                </a:solidFill>
                <a:latin typeface="Calibri"/>
                <a:ea typeface="Calibri"/>
                <a:cs typeface="Calibri"/>
                <a:sym typeface="Calibri"/>
              </a:rPr>
              <a:t>Your objective is to obtain a </a:t>
            </a:r>
            <a:r>
              <a:rPr b="1" i="0" lang="en-US" sz="1500" u="none" cap="none" strike="noStrike">
                <a:solidFill>
                  <a:schemeClr val="dk1"/>
                </a:solidFill>
                <a:latin typeface="Calibri"/>
                <a:ea typeface="Calibri"/>
                <a:cs typeface="Calibri"/>
                <a:sym typeface="Calibri"/>
              </a:rPr>
              <a:t>first-order understanding</a:t>
            </a:r>
            <a:r>
              <a:rPr b="0" i="0" lang="en-US" sz="1500" u="none" cap="none" strike="noStrike">
                <a:solidFill>
                  <a:schemeClr val="dk1"/>
                </a:solidFill>
                <a:latin typeface="Calibri"/>
                <a:ea typeface="Calibri"/>
                <a:cs typeface="Calibri"/>
                <a:sym typeface="Calibri"/>
              </a:rPr>
              <a:t> of:</a:t>
            </a:r>
            <a:endParaRPr b="0" i="0" sz="1500" u="none" cap="none" strike="noStrike">
              <a:solidFill>
                <a:schemeClr val="dk1"/>
              </a:solidFill>
              <a:latin typeface="Calibri"/>
              <a:ea typeface="Calibri"/>
              <a:cs typeface="Calibri"/>
              <a:sym typeface="Calibri"/>
            </a:endParaRPr>
          </a:p>
          <a:p>
            <a:pPr indent="-171450" lvl="1" marL="514350" marR="0" rtl="0" algn="l">
              <a:lnSpc>
                <a:spcPct val="107000"/>
              </a:lnSpc>
              <a:spcBef>
                <a:spcPts val="1175"/>
              </a:spcBef>
              <a:spcAft>
                <a:spcPts val="0"/>
              </a:spcAft>
              <a:buClr>
                <a:schemeClr val="accent1"/>
              </a:buClr>
              <a:buSzPct val="78431"/>
              <a:buFont typeface="Arial"/>
              <a:buChar char="•"/>
            </a:pPr>
            <a:r>
              <a:rPr b="0" i="0" lang="en-US" sz="1500" u="none" cap="none" strike="noStrike">
                <a:solidFill>
                  <a:schemeClr val="dk1"/>
                </a:solidFill>
                <a:latin typeface="Calibri"/>
                <a:ea typeface="Calibri"/>
                <a:cs typeface="Calibri"/>
                <a:sym typeface="Calibri"/>
              </a:rPr>
              <a:t>How EV adoption and usage shape demand in time and space</a:t>
            </a:r>
            <a:endParaRPr/>
          </a:p>
          <a:p>
            <a:pPr indent="-171450" lvl="1" marL="514350" marR="0" rtl="0" algn="l">
              <a:lnSpc>
                <a:spcPct val="107000"/>
              </a:lnSpc>
              <a:spcBef>
                <a:spcPts val="1175"/>
              </a:spcBef>
              <a:spcAft>
                <a:spcPts val="0"/>
              </a:spcAft>
              <a:buClr>
                <a:schemeClr val="accent1"/>
              </a:buClr>
              <a:buSzPct val="78431"/>
              <a:buFont typeface="Arial"/>
              <a:buChar char="•"/>
            </a:pPr>
            <a:r>
              <a:rPr b="0" i="0" lang="en-US" sz="1500" u="none" cap="none" strike="noStrike">
                <a:solidFill>
                  <a:schemeClr val="dk1"/>
                </a:solidFill>
                <a:latin typeface="Calibri"/>
                <a:ea typeface="Calibri"/>
                <a:cs typeface="Calibri"/>
                <a:sym typeface="Calibri"/>
              </a:rPr>
              <a:t>The potential of PV to offset EV demand and better align it with PV generation</a:t>
            </a:r>
            <a:endParaRPr/>
          </a:p>
          <a:p>
            <a:pPr indent="-171450" lvl="1" marL="514350" marR="0" rtl="0" algn="l">
              <a:lnSpc>
                <a:spcPct val="107000"/>
              </a:lnSpc>
              <a:spcBef>
                <a:spcPts val="1175"/>
              </a:spcBef>
              <a:spcAft>
                <a:spcPts val="0"/>
              </a:spcAft>
              <a:buClr>
                <a:schemeClr val="accent1"/>
              </a:buClr>
              <a:buSzPct val="78431"/>
              <a:buFont typeface="Arial"/>
              <a:buChar char="•"/>
            </a:pPr>
            <a:r>
              <a:rPr b="0" i="0" lang="en-US" sz="1500" u="none" cap="none" strike="noStrike">
                <a:solidFill>
                  <a:schemeClr val="dk1"/>
                </a:solidFill>
                <a:latin typeface="Calibri"/>
                <a:ea typeface="Calibri"/>
                <a:cs typeface="Calibri"/>
                <a:sym typeface="Calibri"/>
              </a:rPr>
              <a:t>Implications for planning and policies to minimize peak load and infrastructure needs</a:t>
            </a:r>
            <a:endParaRPr b="0" i="0" sz="1500" u="none" cap="none" strike="noStrike">
              <a:solidFill>
                <a:schemeClr val="dk1"/>
              </a:solidFill>
              <a:latin typeface="Calibri"/>
              <a:ea typeface="Calibri"/>
              <a:cs typeface="Calibri"/>
              <a:sym typeface="Calibri"/>
            </a:endParaRPr>
          </a:p>
        </p:txBody>
      </p:sp>
      <p:sp>
        <p:nvSpPr>
          <p:cNvPr id="132" name="Google Shape;132;p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pic>
        <p:nvPicPr>
          <p:cNvPr descr="Navigating the Complexities of Connecting Solar to the Grid - MFSolar" id="133" name="Google Shape;133;p2"/>
          <p:cNvPicPr preferRelativeResize="0"/>
          <p:nvPr/>
        </p:nvPicPr>
        <p:blipFill rotWithShape="1">
          <a:blip r:embed="rId3">
            <a:alphaModFix/>
          </a:blip>
          <a:srcRect b="0" l="31958" r="657" t="0"/>
          <a:stretch/>
        </p:blipFill>
        <p:spPr>
          <a:xfrm>
            <a:off x="100542" y="1293536"/>
            <a:ext cx="2910840" cy="354143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txBox="1"/>
          <p:nvPr>
            <p:ph type="title"/>
          </p:nvPr>
        </p:nvSpPr>
        <p:spPr>
          <a:xfrm>
            <a:off x="169122" y="306669"/>
            <a:ext cx="7923318" cy="803674"/>
          </a:xfrm>
          <a:prstGeom prst="rect">
            <a:avLst/>
          </a:prstGeom>
          <a:noFill/>
          <a:ln>
            <a:noFill/>
          </a:ln>
        </p:spPr>
        <p:txBody>
          <a:bodyPr anchorCtr="0" anchor="t" bIns="46800" lIns="180000" spcFirstLastPara="1" rIns="72000" wrap="square" tIns="0">
            <a:normAutofit fontScale="90000"/>
          </a:bodyPr>
          <a:lstStyle/>
          <a:p>
            <a:pPr indent="0" lvl="0" marL="0" rtl="0" algn="l">
              <a:lnSpc>
                <a:spcPct val="90000"/>
              </a:lnSpc>
              <a:spcBef>
                <a:spcPts val="0"/>
              </a:spcBef>
              <a:spcAft>
                <a:spcPts val="0"/>
              </a:spcAft>
              <a:buClr>
                <a:schemeClr val="dk1"/>
              </a:buClr>
              <a:buSzPct val="100000"/>
              <a:buFont typeface="Libre Franklin"/>
              <a:buNone/>
            </a:pPr>
            <a:r>
              <a:rPr b="0" lang="en-US" sz="3600"/>
              <a:t>1. Multi-year scenarios (2030–2040)</a:t>
            </a:r>
            <a:endParaRPr b="0" sz="3600"/>
          </a:p>
        </p:txBody>
      </p:sp>
      <p:sp>
        <p:nvSpPr>
          <p:cNvPr id="140" name="Google Shape;140;p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41" name="Google Shape;141;p3"/>
          <p:cNvSpPr txBox="1"/>
          <p:nvPr/>
        </p:nvSpPr>
        <p:spPr>
          <a:xfrm>
            <a:off x="113237" y="1215845"/>
            <a:ext cx="8398303" cy="117683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440"/>
              <a:buFont typeface="Noto Sans Symbols"/>
              <a:buChar char="▪"/>
            </a:pPr>
            <a:r>
              <a:rPr b="0" i="0" lang="en-US" sz="1600" u="none" cap="none" strike="noStrike">
                <a:solidFill>
                  <a:schemeClr val="dk1"/>
                </a:solidFill>
                <a:latin typeface="Calibri"/>
                <a:ea typeface="Calibri"/>
                <a:cs typeface="Calibri"/>
                <a:sym typeface="Calibri"/>
              </a:rPr>
              <a:t>The growth of electric vehicles (EVs) is expected to follow </a:t>
            </a:r>
            <a:r>
              <a:rPr b="1" i="0" lang="en-US" sz="1600" u="none" cap="none" strike="noStrike">
                <a:solidFill>
                  <a:schemeClr val="dk1"/>
                </a:solidFill>
                <a:latin typeface="Calibri"/>
                <a:ea typeface="Calibri"/>
                <a:cs typeface="Calibri"/>
                <a:sym typeface="Calibri"/>
              </a:rPr>
              <a:t>a typical logistic (S-shaped) adoption curve</a:t>
            </a:r>
            <a:r>
              <a:rPr b="0" i="0" lang="en-US" sz="1600" u="none" cap="none" strike="noStrike">
                <a:solidFill>
                  <a:schemeClr val="dk1"/>
                </a:solidFill>
                <a:latin typeface="Calibri"/>
                <a:ea typeface="Calibri"/>
                <a:cs typeface="Calibri"/>
                <a:sym typeface="Calibri"/>
              </a:rPr>
              <a:t> observed for new technologies. For simplicity, we assume a saturation level of </a:t>
            </a:r>
            <a:r>
              <a:rPr b="1" i="0" lang="en-US" sz="1600" u="none" cap="none" strike="noStrike">
                <a:solidFill>
                  <a:schemeClr val="dk1"/>
                </a:solidFill>
                <a:latin typeface="Calibri"/>
                <a:ea typeface="Calibri"/>
                <a:cs typeface="Calibri"/>
                <a:sym typeface="Calibri"/>
              </a:rPr>
              <a:t>100,000 EVs in Addis Ababa </a:t>
            </a:r>
            <a:r>
              <a:rPr b="0" i="0" lang="en-US" sz="1600" u="none" cap="none" strike="noStrike">
                <a:solidFill>
                  <a:schemeClr val="dk1"/>
                </a:solidFill>
                <a:latin typeface="Calibri"/>
                <a:ea typeface="Calibri"/>
                <a:cs typeface="Calibri"/>
                <a:sym typeface="Calibri"/>
              </a:rPr>
              <a:t>(the real number is likely to be higher).</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p:txBody>
      </p:sp>
      <p:sp>
        <p:nvSpPr>
          <p:cNvPr id="142" name="Google Shape;142;p3"/>
          <p:cNvSpPr txBox="1"/>
          <p:nvPr/>
        </p:nvSpPr>
        <p:spPr>
          <a:xfrm>
            <a:off x="5463540" y="2127843"/>
            <a:ext cx="3567223" cy="2952860"/>
          </a:xfrm>
          <a:prstGeom prst="rect">
            <a:avLst/>
          </a:prstGeom>
          <a:solidFill>
            <a:srgbClr val="F3F3F3"/>
          </a:solid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200" u="none" cap="none" strike="noStrike">
                <a:solidFill>
                  <a:schemeClr val="dk1"/>
                </a:solidFill>
                <a:latin typeface="Calibri"/>
                <a:ea typeface="Calibri"/>
                <a:cs typeface="Calibri"/>
                <a:sym typeface="Calibri"/>
              </a:rPr>
              <a:t>Driven by current policies and incentives, EV adoption is expected to grow rapidly until around 2035. After this point, the growth rate slows as the market approaches saturation. By approximately 2040, a large share of the vehicle fleet is expected to be electric.</a:t>
            </a:r>
            <a:endParaRPr/>
          </a:p>
          <a:p>
            <a:pPr indent="0" lvl="0" marL="0" marR="0" rtl="0" algn="l">
              <a:lnSpc>
                <a:spcPct val="107000"/>
              </a:lnSpc>
              <a:spcBef>
                <a:spcPts val="800"/>
              </a:spcBef>
              <a:spcAft>
                <a:spcPts val="0"/>
              </a:spcAft>
              <a:buNone/>
            </a:pPr>
            <a:r>
              <a:rPr b="0" i="0" lang="en-US" sz="1200" u="none" cap="none" strike="noStrike">
                <a:solidFill>
                  <a:schemeClr val="dk1"/>
                </a:solidFill>
                <a:latin typeface="Calibri"/>
                <a:ea typeface="Calibri"/>
                <a:cs typeface="Calibri"/>
                <a:sym typeface="Calibri"/>
              </a:rPr>
              <a:t>Beyond the total number of EVs, the composition of users will also evolve over time. Different adopter groups are likely to exhibit distinct charging behaviors: before 2030 adoption is dominated by early adopters, 2030–2035 early majority users become increasingly prominent, 2035–2040 the late majority constitutes a growing share of users.  As a result, not only does EV adoption increase over time, but charging behavior also changes as the user base broadens.</a:t>
            </a:r>
            <a:endParaRPr/>
          </a:p>
        </p:txBody>
      </p:sp>
      <p:pic>
        <p:nvPicPr>
          <p:cNvPr id="143" name="Google Shape;143;p3"/>
          <p:cNvPicPr preferRelativeResize="0"/>
          <p:nvPr/>
        </p:nvPicPr>
        <p:blipFill rotWithShape="1">
          <a:blip r:embed="rId3">
            <a:alphaModFix/>
          </a:blip>
          <a:srcRect b="0" l="0" r="0" t="0"/>
          <a:stretch/>
        </p:blipFill>
        <p:spPr>
          <a:xfrm>
            <a:off x="426720" y="2208453"/>
            <a:ext cx="4922520" cy="279164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169122" y="306669"/>
            <a:ext cx="7923318" cy="803674"/>
          </a:xfrm>
          <a:prstGeom prst="rect">
            <a:avLst/>
          </a:prstGeom>
          <a:noFill/>
          <a:ln>
            <a:noFill/>
          </a:ln>
        </p:spPr>
        <p:txBody>
          <a:bodyPr anchorCtr="0" anchor="t" bIns="46800" lIns="180000" spcFirstLastPara="1" rIns="72000" wrap="square" tIns="0">
            <a:normAutofit fontScale="90000"/>
          </a:bodyPr>
          <a:lstStyle/>
          <a:p>
            <a:pPr indent="0" lvl="0" marL="0" rtl="0" algn="l">
              <a:lnSpc>
                <a:spcPct val="90000"/>
              </a:lnSpc>
              <a:spcBef>
                <a:spcPts val="0"/>
              </a:spcBef>
              <a:spcAft>
                <a:spcPts val="0"/>
              </a:spcAft>
              <a:buClr>
                <a:schemeClr val="dk1"/>
              </a:buClr>
              <a:buSzPct val="100000"/>
              <a:buFont typeface="Libre Franklin"/>
              <a:buNone/>
            </a:pPr>
            <a:r>
              <a:rPr b="0" lang="en-US" sz="3600"/>
              <a:t>1. Multi-year scenarios (2030–2040)</a:t>
            </a:r>
            <a:endParaRPr b="0" sz="3600"/>
          </a:p>
        </p:txBody>
      </p:sp>
      <p:sp>
        <p:nvSpPr>
          <p:cNvPr id="150" name="Google Shape;150;p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51" name="Google Shape;151;p4"/>
          <p:cNvSpPr txBox="1"/>
          <p:nvPr/>
        </p:nvSpPr>
        <p:spPr>
          <a:xfrm>
            <a:off x="113237" y="1215845"/>
            <a:ext cx="2805223" cy="195280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You assume the following </a:t>
            </a:r>
            <a:r>
              <a:rPr b="1" i="0" lang="en-US" sz="1800" u="none" cap="none" strike="noStrike">
                <a:solidFill>
                  <a:schemeClr val="dk1"/>
                </a:solidFill>
                <a:latin typeface="Calibri"/>
                <a:ea typeface="Calibri"/>
                <a:cs typeface="Calibri"/>
                <a:sym typeface="Calibri"/>
              </a:rPr>
              <a:t>scenario for the difference years</a:t>
            </a:r>
            <a:r>
              <a:rPr b="0" i="0" lang="en-US" sz="1800" u="none" cap="none" strike="noStrike">
                <a:solidFill>
                  <a:schemeClr val="dk1"/>
                </a:solidFill>
                <a:latin typeface="Calibri"/>
                <a:ea typeface="Calibri"/>
                <a:cs typeface="Calibri"/>
                <a:sym typeface="Calibri"/>
              </a:rPr>
              <a:t> </a:t>
            </a:r>
            <a:endParaRPr/>
          </a:p>
        </p:txBody>
      </p:sp>
      <p:sp>
        <p:nvSpPr>
          <p:cNvPr id="152" name="Google Shape;152;p4"/>
          <p:cNvSpPr txBox="1"/>
          <p:nvPr/>
        </p:nvSpPr>
        <p:spPr>
          <a:xfrm>
            <a:off x="368300" y="2681969"/>
            <a:ext cx="8515350" cy="1700893"/>
          </a:xfrm>
          <a:prstGeom prst="rect">
            <a:avLst/>
          </a:prstGeom>
          <a:solidFill>
            <a:srgbClr val="CCFFCC"/>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 </a:t>
            </a:r>
            <a:r>
              <a:rPr b="0" i="0" lang="en-US" sz="1800" u="none" cap="none" strike="noStrike">
                <a:solidFill>
                  <a:schemeClr val="dk1"/>
                </a:solidFill>
                <a:latin typeface="Calibri"/>
                <a:ea typeface="Calibri"/>
                <a:cs typeface="Calibri"/>
                <a:sym typeface="Calibri"/>
              </a:rPr>
              <a:t>Run a simulation with the 2030 scenario (10 000 EVs) and</a:t>
            </a:r>
            <a:endParaRPr/>
          </a:p>
          <a:p>
            <a:pPr indent="-171450" lvl="1" marL="514350" marR="0" rtl="0" algn="l">
              <a:lnSpc>
                <a:spcPct val="107000"/>
              </a:lnSpc>
              <a:spcBef>
                <a:spcPts val="1175"/>
              </a:spcBef>
              <a:spcAft>
                <a:spcPts val="0"/>
              </a:spcAft>
              <a:buClr>
                <a:schemeClr val="accent1"/>
              </a:buClr>
              <a:buSzPts val="1600"/>
              <a:buFont typeface="Arial"/>
              <a:buChar char="•"/>
            </a:pPr>
            <a:r>
              <a:rPr b="0" i="0" lang="en-US" sz="1600" u="none" cap="none" strike="noStrike">
                <a:solidFill>
                  <a:schemeClr val="dk1"/>
                </a:solidFill>
                <a:latin typeface="Calibri"/>
                <a:ea typeface="Calibri"/>
                <a:cs typeface="Calibri"/>
                <a:sym typeface="Calibri"/>
              </a:rPr>
              <a:t>a </a:t>
            </a:r>
            <a:r>
              <a:rPr b="1" i="0" lang="en-US" sz="1600" u="none" cap="none" strike="noStrike">
                <a:solidFill>
                  <a:schemeClr val="dk1"/>
                </a:solidFill>
                <a:latin typeface="Calibri"/>
                <a:ea typeface="Calibri"/>
                <a:cs typeface="Calibri"/>
                <a:sym typeface="Calibri"/>
              </a:rPr>
              <a:t>3 × 3 km </a:t>
            </a:r>
            <a:r>
              <a:rPr b="0" i="0" lang="en-US" sz="1600" u="none" cap="none" strike="noStrike">
                <a:solidFill>
                  <a:schemeClr val="dk1"/>
                </a:solidFill>
                <a:latin typeface="Calibri"/>
                <a:ea typeface="Calibri"/>
                <a:cs typeface="Calibri"/>
                <a:sym typeface="Calibri"/>
              </a:rPr>
              <a:t>grid  </a:t>
            </a:r>
            <a:endParaRPr/>
          </a:p>
          <a:p>
            <a:pPr indent="-171450" lvl="1" marL="514350" marR="0" rtl="0" algn="l">
              <a:lnSpc>
                <a:spcPct val="107000"/>
              </a:lnSpc>
              <a:spcBef>
                <a:spcPts val="1175"/>
              </a:spcBef>
              <a:spcAft>
                <a:spcPts val="0"/>
              </a:spcAft>
              <a:buClr>
                <a:schemeClr val="accent1"/>
              </a:buClr>
              <a:buSzPts val="1600"/>
              <a:buFont typeface="Arial"/>
              <a:buChar char="•"/>
            </a:pPr>
            <a:r>
              <a:rPr b="0" i="0" lang="en-US" sz="1600" u="none" cap="none" strike="noStrike">
                <a:solidFill>
                  <a:schemeClr val="dk1"/>
                </a:solidFill>
                <a:latin typeface="Calibri"/>
                <a:ea typeface="Calibri"/>
                <a:cs typeface="Calibri"/>
                <a:sym typeface="Calibri"/>
              </a:rPr>
              <a:t>default parameters otherwise.</a:t>
            </a:r>
            <a:endParaRPr b="0" i="0" sz="1600" u="none" cap="none" strike="noStrike">
              <a:solidFill>
                <a:schemeClr val="dk1"/>
              </a:solidFill>
              <a:latin typeface="Calibri"/>
              <a:ea typeface="Calibri"/>
              <a:cs typeface="Calibri"/>
              <a:sym typeface="Calibri"/>
            </a:endParaRPr>
          </a:p>
        </p:txBody>
      </p:sp>
      <p:graphicFrame>
        <p:nvGraphicFramePr>
          <p:cNvPr id="153" name="Google Shape;153;p4"/>
          <p:cNvGraphicFramePr/>
          <p:nvPr/>
        </p:nvGraphicFramePr>
        <p:xfrm>
          <a:off x="2819401" y="1207047"/>
          <a:ext cx="3000000" cy="3000000"/>
        </p:xfrm>
        <a:graphic>
          <a:graphicData uri="http://schemas.openxmlformats.org/drawingml/2006/table">
            <a:tbl>
              <a:tblPr bandRow="1" firstCol="1" firstRow="1">
                <a:noFill/>
                <a:tableStyleId>{7A180193-B31D-49C1-8876-CA273696DE4A}</a:tableStyleId>
              </a:tblPr>
              <a:tblGrid>
                <a:gridCol w="1229975"/>
                <a:gridCol w="1801475"/>
                <a:gridCol w="1516400"/>
                <a:gridCol w="1516400"/>
              </a:tblGrid>
              <a:tr h="194800">
                <a:tc>
                  <a:txBody>
                    <a:bodyPr/>
                    <a:lstStyle/>
                    <a:p>
                      <a:pPr indent="0" lvl="0" marL="0" marR="0" rtl="0" algn="l">
                        <a:lnSpc>
                          <a:spcPct val="107000"/>
                        </a:lnSpc>
                        <a:spcBef>
                          <a:spcPts val="0"/>
                        </a:spcBef>
                        <a:spcAft>
                          <a:spcPts val="0"/>
                        </a:spcAft>
                        <a:buNone/>
                      </a:pPr>
                      <a:r>
                        <a:rPr lang="en-US" sz="1200" u="none" cap="none" strike="noStrike"/>
                        <a:t> </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2030</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2035</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2040</a:t>
                      </a:r>
                      <a:endParaRPr sz="1200" u="none" cap="none" strike="noStrike">
                        <a:latin typeface="Calibri"/>
                        <a:ea typeface="Calibri"/>
                        <a:cs typeface="Calibri"/>
                        <a:sym typeface="Calibri"/>
                      </a:endParaRPr>
                    </a:p>
                  </a:txBody>
                  <a:tcPr marT="0" marB="0" marR="68575" marL="68575"/>
                </a:tc>
              </a:tr>
              <a:tr h="399900">
                <a:tc>
                  <a:txBody>
                    <a:bodyPr/>
                    <a:lstStyle/>
                    <a:p>
                      <a:pPr indent="0" lvl="0" marL="0" marR="0" rtl="0" algn="l">
                        <a:lnSpc>
                          <a:spcPct val="107000"/>
                        </a:lnSpc>
                        <a:spcBef>
                          <a:spcPts val="0"/>
                        </a:spcBef>
                        <a:spcAft>
                          <a:spcPts val="0"/>
                        </a:spcAft>
                        <a:buNone/>
                      </a:pPr>
                      <a:r>
                        <a:rPr lang="en-US" sz="1200" u="none" cap="none" strike="noStrike"/>
                        <a:t>Number of EVs</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10 000</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50 000</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80 000</a:t>
                      </a:r>
                      <a:endParaRPr sz="1200" u="none" cap="none" strike="noStrike">
                        <a:latin typeface="Calibri"/>
                        <a:ea typeface="Calibri"/>
                        <a:cs typeface="Calibri"/>
                        <a:sym typeface="Calibri"/>
                      </a:endParaRPr>
                    </a:p>
                  </a:txBody>
                  <a:tcPr marT="0" marB="0" marR="68575" marL="68575"/>
                </a:tc>
              </a:tr>
              <a:tr h="605000">
                <a:tc>
                  <a:txBody>
                    <a:bodyPr/>
                    <a:lstStyle/>
                    <a:p>
                      <a:pPr indent="0" lvl="0" marL="0" marR="0" rtl="0" algn="l">
                        <a:lnSpc>
                          <a:spcPct val="107000"/>
                        </a:lnSpc>
                        <a:spcBef>
                          <a:spcPts val="0"/>
                        </a:spcBef>
                        <a:spcAft>
                          <a:spcPts val="0"/>
                        </a:spcAft>
                        <a:buNone/>
                      </a:pPr>
                      <a:r>
                        <a:rPr lang="en-US" sz="1200" u="none" cap="none" strike="noStrike"/>
                        <a:t>Charging scenario</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10% Home</a:t>
                      </a:r>
                      <a:br>
                        <a:rPr lang="en-US" sz="1200" u="none" cap="none" strike="noStrike"/>
                      </a:br>
                      <a:r>
                        <a:rPr lang="en-US" sz="1200" u="none" cap="none" strike="noStrike"/>
                        <a:t>40% POI</a:t>
                      </a:r>
                      <a:br>
                        <a:rPr lang="en-US" sz="1200" u="none" cap="none" strike="noStrike"/>
                      </a:br>
                      <a:r>
                        <a:rPr lang="en-US" sz="1200" u="none" cap="none" strike="noStrike"/>
                        <a:t>50% Workplace</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30% Home</a:t>
                      </a:r>
                      <a:br>
                        <a:rPr lang="en-US" sz="1200" u="none" cap="none" strike="noStrike"/>
                      </a:br>
                      <a:r>
                        <a:rPr lang="en-US" sz="1200" u="none" cap="none" strike="noStrike"/>
                        <a:t>30% POI </a:t>
                      </a:r>
                      <a:br>
                        <a:rPr lang="en-US" sz="1200" u="none" cap="none" strike="noStrike"/>
                      </a:br>
                      <a:r>
                        <a:rPr lang="en-US" sz="1200" u="none" cap="none" strike="noStrike"/>
                        <a:t>40% Workplace</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60% Home </a:t>
                      </a:r>
                      <a:br>
                        <a:rPr lang="en-US" sz="1200" u="none" cap="none" strike="noStrike"/>
                      </a:br>
                      <a:r>
                        <a:rPr lang="en-US" sz="1200" u="none" cap="none" strike="noStrike"/>
                        <a:t>20% POI </a:t>
                      </a:r>
                      <a:br>
                        <a:rPr lang="en-US" sz="1200" u="none" cap="none" strike="noStrike"/>
                      </a:br>
                      <a:r>
                        <a:rPr lang="en-US" sz="1200" u="none" cap="none" strike="noStrike"/>
                        <a:t>20% Workplace</a:t>
                      </a:r>
                      <a:endParaRPr sz="1200" u="none" cap="none" strike="noStrike">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txBox="1"/>
          <p:nvPr>
            <p:ph type="title"/>
          </p:nvPr>
        </p:nvSpPr>
        <p:spPr>
          <a:xfrm>
            <a:off x="169122" y="306669"/>
            <a:ext cx="7923318" cy="803674"/>
          </a:xfrm>
          <a:prstGeom prst="rect">
            <a:avLst/>
          </a:prstGeom>
          <a:noFill/>
          <a:ln>
            <a:noFill/>
          </a:ln>
        </p:spPr>
        <p:txBody>
          <a:bodyPr anchorCtr="0" anchor="t" bIns="46800" lIns="180000" spcFirstLastPara="1" rIns="72000" wrap="square" tIns="0">
            <a:normAutofit fontScale="90000"/>
          </a:bodyPr>
          <a:lstStyle/>
          <a:p>
            <a:pPr indent="0" lvl="0" marL="0" rtl="0" algn="l">
              <a:lnSpc>
                <a:spcPct val="90000"/>
              </a:lnSpc>
              <a:spcBef>
                <a:spcPts val="0"/>
              </a:spcBef>
              <a:spcAft>
                <a:spcPts val="0"/>
              </a:spcAft>
              <a:buClr>
                <a:schemeClr val="dk1"/>
              </a:buClr>
              <a:buSzPct val="100000"/>
              <a:buFont typeface="Libre Franklin"/>
              <a:buNone/>
            </a:pPr>
            <a:r>
              <a:rPr b="0" lang="en-US" sz="3600"/>
              <a:t>1. Multi-year scenarios (2030–2040)</a:t>
            </a:r>
            <a:endParaRPr b="0" sz="3600"/>
          </a:p>
        </p:txBody>
      </p:sp>
      <p:sp>
        <p:nvSpPr>
          <p:cNvPr id="160" name="Google Shape;160;p5"/>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61" name="Google Shape;161;p5"/>
          <p:cNvSpPr txBox="1"/>
          <p:nvPr/>
        </p:nvSpPr>
        <p:spPr>
          <a:xfrm>
            <a:off x="368300" y="1268459"/>
            <a:ext cx="8379460" cy="3748041"/>
          </a:xfrm>
          <a:prstGeom prst="rect">
            <a:avLst/>
          </a:prstGeom>
          <a:solidFill>
            <a:srgbClr val="FCE9E0"/>
          </a:solidFill>
          <a:ln>
            <a:noFill/>
          </a:ln>
        </p:spPr>
        <p:txBody>
          <a:bodyPr anchorCtr="0" anchor="t" bIns="45700" lIns="180000" spcFirstLastPara="1" rIns="91425" wrap="square" tIns="45700">
            <a:normAutofit lnSpcReduction="10000"/>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800"/>
              <a:buFont typeface="Libre Franklin"/>
              <a:buAutoNum type="arabicPeriod"/>
            </a:pPr>
            <a:r>
              <a:rPr b="0" i="0" lang="en-US" sz="1800" u="none" cap="none" strike="noStrike">
                <a:solidFill>
                  <a:schemeClr val="dk1"/>
                </a:solidFill>
                <a:latin typeface="Calibri"/>
                <a:ea typeface="Calibri"/>
                <a:cs typeface="Calibri"/>
                <a:sym typeface="Calibri"/>
              </a:rPr>
              <a:t>In which zone is the </a:t>
            </a:r>
            <a:r>
              <a:rPr b="1" i="0" lang="en-US" sz="1800" u="none" cap="none" strike="noStrike">
                <a:solidFill>
                  <a:schemeClr val="dk1"/>
                </a:solidFill>
                <a:latin typeface="Calibri"/>
                <a:ea typeface="Calibri"/>
                <a:cs typeface="Calibri"/>
                <a:sym typeface="Calibri"/>
              </a:rPr>
              <a:t>charging demand the highest</a:t>
            </a:r>
            <a:r>
              <a:rPr b="0" i="0" lang="en-US" sz="1800" u="none" cap="none" strike="noStrike">
                <a:solidFill>
                  <a:schemeClr val="dk1"/>
                </a:solidFill>
                <a:latin typeface="Calibri"/>
                <a:ea typeface="Calibri"/>
                <a:cs typeface="Calibri"/>
                <a:sym typeface="Calibri"/>
              </a:rPr>
              <a:t>? How much is it? Does this represent a lot additional demand compared to the current demand </a:t>
            </a:r>
            <a:r>
              <a:rPr b="0" i="1" lang="en-US" sz="1800" u="none" cap="none" strike="noStrike">
                <a:solidFill>
                  <a:schemeClr val="dk1"/>
                </a:solidFill>
                <a:latin typeface="Calibri"/>
                <a:ea typeface="Calibri"/>
                <a:cs typeface="Calibri"/>
                <a:sym typeface="Calibri"/>
              </a:rPr>
              <a:t>(assuming 2 kWh/day/household) </a:t>
            </a:r>
            <a:r>
              <a:rPr b="0" i="0" lang="en-US" sz="1800" u="none" cap="none" strike="noStrike">
                <a:solidFill>
                  <a:schemeClr val="dk1"/>
                </a:solidFill>
                <a:latin typeface="Calibri"/>
                <a:ea typeface="Calibri"/>
                <a:cs typeface="Calibri"/>
                <a:sym typeface="Calibri"/>
              </a:rPr>
              <a:t>? </a:t>
            </a:r>
            <a:endParaRPr/>
          </a:p>
          <a:p>
            <a:pPr indent="-342900" lvl="1" marL="685800" marR="0" rtl="0" algn="l">
              <a:lnSpc>
                <a:spcPct val="107000"/>
              </a:lnSpc>
              <a:spcBef>
                <a:spcPts val="1175"/>
              </a:spcBef>
              <a:spcAft>
                <a:spcPts val="0"/>
              </a:spcAft>
              <a:buClr>
                <a:schemeClr val="dk1"/>
              </a:buClr>
              <a:buSzPts val="1800"/>
              <a:buFont typeface="Libre Franklin"/>
              <a:buAutoNum type="arabicPeriod"/>
            </a:pPr>
            <a:r>
              <a:rPr b="0" i="0" lang="en-US" sz="1800" u="none" cap="none" strike="noStrike">
                <a:solidFill>
                  <a:schemeClr val="dk1"/>
                </a:solidFill>
                <a:latin typeface="Calibri"/>
                <a:ea typeface="Calibri"/>
                <a:cs typeface="Calibri"/>
                <a:sym typeface="Calibri"/>
              </a:rPr>
              <a:t>What is the total demand per car? What if every household would have a an electric car? </a:t>
            </a:r>
            <a:endParaRPr/>
          </a:p>
          <a:p>
            <a:pPr indent="-342900" lvl="1" marL="685800" marR="0" rtl="0" algn="l">
              <a:lnSpc>
                <a:spcPct val="107000"/>
              </a:lnSpc>
              <a:spcBef>
                <a:spcPts val="1175"/>
              </a:spcBef>
              <a:spcAft>
                <a:spcPts val="0"/>
              </a:spcAft>
              <a:buClr>
                <a:schemeClr val="dk1"/>
              </a:buClr>
              <a:buSzPts val="1800"/>
              <a:buFont typeface="Libre Franklin"/>
              <a:buAutoNum type="arabicPeriod"/>
            </a:pPr>
            <a:r>
              <a:rPr b="0" i="0" lang="en-US" sz="1800" u="none" cap="none" strike="noStrike">
                <a:solidFill>
                  <a:schemeClr val="dk1"/>
                </a:solidFill>
                <a:latin typeface="Calibri"/>
                <a:ea typeface="Calibri"/>
                <a:cs typeface="Calibri"/>
                <a:sym typeface="Calibri"/>
              </a:rPr>
              <a:t>Do these </a:t>
            </a:r>
            <a:r>
              <a:rPr b="1" i="0" lang="en-US" sz="1800" u="none" cap="none" strike="noStrike">
                <a:solidFill>
                  <a:schemeClr val="dk1"/>
                </a:solidFill>
                <a:latin typeface="Calibri"/>
                <a:ea typeface="Calibri"/>
                <a:cs typeface="Calibri"/>
                <a:sym typeface="Calibri"/>
              </a:rPr>
              <a:t>spatial patterns </a:t>
            </a:r>
            <a:r>
              <a:rPr b="0" i="0" lang="en-US" sz="1800" u="none" cap="none" strike="noStrike">
                <a:solidFill>
                  <a:schemeClr val="dk1"/>
                </a:solidFill>
                <a:latin typeface="Calibri"/>
                <a:ea typeface="Calibri"/>
                <a:cs typeface="Calibri"/>
                <a:sym typeface="Calibri"/>
              </a:rPr>
              <a:t>make sense to you? </a:t>
            </a:r>
            <a:r>
              <a:rPr b="0" i="1" lang="en-US" sz="1800" u="none" cap="none" strike="noStrike">
                <a:solidFill>
                  <a:schemeClr val="dk1"/>
                </a:solidFill>
                <a:latin typeface="Calibri"/>
                <a:ea typeface="Calibri"/>
                <a:cs typeface="Calibri"/>
                <a:sym typeface="Calibri"/>
              </a:rPr>
              <a:t>Hint: Display the density of workplaces and POIs layers</a:t>
            </a:r>
            <a:endParaRPr/>
          </a:p>
          <a:p>
            <a:pPr indent="-342900" lvl="1" marL="685800" marR="0" rtl="0" algn="l">
              <a:lnSpc>
                <a:spcPct val="107000"/>
              </a:lnSpc>
              <a:spcBef>
                <a:spcPts val="1175"/>
              </a:spcBef>
              <a:spcAft>
                <a:spcPts val="0"/>
              </a:spcAft>
              <a:buClr>
                <a:schemeClr val="dk1"/>
              </a:buClr>
              <a:buSzPts val="1800"/>
              <a:buFont typeface="Libre Franklin"/>
              <a:buAutoNum type="arabicPeriod"/>
            </a:pPr>
            <a:r>
              <a:rPr b="0" i="0" lang="en-US" sz="1800" u="none" cap="none" strike="noStrike">
                <a:solidFill>
                  <a:schemeClr val="dk1"/>
                </a:solidFill>
                <a:latin typeface="Calibri"/>
                <a:ea typeface="Calibri"/>
                <a:cs typeface="Calibri"/>
                <a:sym typeface="Calibri"/>
              </a:rPr>
              <a:t>Why is the density of workplaces and POI a good proxy for charging demand at these places in Addis Ababa? </a:t>
            </a:r>
            <a:r>
              <a:rPr b="0" i="1" lang="en-US" sz="1800" u="none" cap="none" strike="noStrike">
                <a:solidFill>
                  <a:schemeClr val="dk1"/>
                </a:solidFill>
                <a:latin typeface="Calibri"/>
                <a:ea typeface="Calibri"/>
                <a:cs typeface="Calibri"/>
                <a:sym typeface="Calibri"/>
              </a:rPr>
              <a:t>Hint: look also at the spatial population distribution</a:t>
            </a:r>
            <a:endParaRPr/>
          </a:p>
          <a:p>
            <a:pPr indent="-228600" lvl="1" marL="685800" marR="0" rtl="0" algn="l">
              <a:lnSpc>
                <a:spcPct val="107000"/>
              </a:lnSpc>
              <a:spcBef>
                <a:spcPts val="1175"/>
              </a:spcBef>
              <a:spcAft>
                <a:spcPts val="0"/>
              </a:spcAft>
              <a:buClr>
                <a:schemeClr val="dk1"/>
              </a:buClr>
              <a:buSzPts val="1800"/>
              <a:buFont typeface="Libre Franklin"/>
              <a:buNone/>
            </a:pPr>
            <a:r>
              <a:t/>
            </a:r>
            <a:endParaRPr b="0" i="1"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6"/>
          <p:cNvSpPr txBox="1"/>
          <p:nvPr>
            <p:ph type="title"/>
          </p:nvPr>
        </p:nvSpPr>
        <p:spPr>
          <a:xfrm>
            <a:off x="169122" y="306669"/>
            <a:ext cx="7702338"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2. Spatial evolution </a:t>
            </a:r>
            <a:endParaRPr b="0" sz="3600"/>
          </a:p>
        </p:txBody>
      </p:sp>
      <p:sp>
        <p:nvSpPr>
          <p:cNvPr id="168" name="Google Shape;168;p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69" name="Google Shape;169;p6"/>
          <p:cNvSpPr txBox="1"/>
          <p:nvPr/>
        </p:nvSpPr>
        <p:spPr>
          <a:xfrm>
            <a:off x="113237" y="1215845"/>
            <a:ext cx="8398303" cy="117683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440"/>
              <a:buFont typeface="Noto Sans Symbols"/>
              <a:buChar char="▪"/>
            </a:pPr>
            <a:r>
              <a:rPr b="0" i="0" lang="en-US" sz="1600" u="none" cap="none" strike="noStrike">
                <a:solidFill>
                  <a:schemeClr val="dk1"/>
                </a:solidFill>
                <a:latin typeface="Calibri"/>
                <a:ea typeface="Calibri"/>
                <a:cs typeface="Calibri"/>
                <a:sym typeface="Calibri"/>
              </a:rPr>
              <a:t>You are now interested in </a:t>
            </a:r>
            <a:r>
              <a:rPr b="1" i="0" lang="en-US" sz="1600" u="none" cap="none" strike="noStrike">
                <a:solidFill>
                  <a:schemeClr val="dk1"/>
                </a:solidFill>
                <a:latin typeface="Calibri"/>
                <a:ea typeface="Calibri"/>
                <a:cs typeface="Calibri"/>
                <a:sym typeface="Calibri"/>
              </a:rPr>
              <a:t>how EV charging demand evolves geographically over the year</a:t>
            </a:r>
            <a:r>
              <a:rPr b="0" i="0" lang="en-US" sz="1600" u="none" cap="none" strike="noStrike">
                <a:solidFill>
                  <a:schemeClr val="dk1"/>
                </a:solidFill>
                <a:latin typeface="Calibri"/>
                <a:ea typeface="Calibri"/>
                <a:cs typeface="Calibri"/>
                <a:sym typeface="Calibri"/>
              </a:rPr>
              <a:t>s as this will be a very input for other models such as power system models. </a:t>
            </a:r>
            <a:endParaRPr b="0" i="0" sz="1800" u="none" cap="none" strike="noStrike">
              <a:solidFill>
                <a:schemeClr val="dk1"/>
              </a:solidFill>
              <a:latin typeface="Calibri"/>
              <a:ea typeface="Calibri"/>
              <a:cs typeface="Calibri"/>
              <a:sym typeface="Calibri"/>
            </a:endParaRPr>
          </a:p>
        </p:txBody>
      </p:sp>
      <p:sp>
        <p:nvSpPr>
          <p:cNvPr id="170" name="Google Shape;170;p6"/>
          <p:cNvSpPr txBox="1"/>
          <p:nvPr/>
        </p:nvSpPr>
        <p:spPr>
          <a:xfrm>
            <a:off x="388620" y="1909764"/>
            <a:ext cx="8469423" cy="719136"/>
          </a:xfrm>
          <a:prstGeom prst="rect">
            <a:avLst/>
          </a:prstGeom>
          <a:solidFill>
            <a:srgbClr val="CCFFCC"/>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 </a:t>
            </a:r>
            <a:r>
              <a:rPr b="0" i="0" lang="en-US" sz="1800" u="none" cap="none" strike="noStrike">
                <a:solidFill>
                  <a:schemeClr val="dk1"/>
                </a:solidFill>
                <a:latin typeface="Calibri"/>
                <a:ea typeface="Calibri"/>
                <a:cs typeface="Calibri"/>
                <a:sym typeface="Calibri"/>
              </a:rPr>
              <a:t>Make a screenshot of the spatial EV demand for each scenario (2030 / 2035 / 2040) and copy/paste them below. Keep track also of the total charging demand.</a:t>
            </a:r>
            <a:endParaRPr/>
          </a:p>
        </p:txBody>
      </p:sp>
      <p:pic>
        <p:nvPicPr>
          <p:cNvPr id="171" name="Google Shape;171;p6"/>
          <p:cNvPicPr preferRelativeResize="0"/>
          <p:nvPr/>
        </p:nvPicPr>
        <p:blipFill rotWithShape="1">
          <a:blip r:embed="rId3">
            <a:alphaModFix/>
          </a:blip>
          <a:srcRect b="0" l="8638" r="10824" t="0"/>
          <a:stretch/>
        </p:blipFill>
        <p:spPr>
          <a:xfrm>
            <a:off x="388620" y="2819672"/>
            <a:ext cx="2442845" cy="1972125"/>
          </a:xfrm>
          <a:prstGeom prst="rect">
            <a:avLst/>
          </a:prstGeom>
          <a:noFill/>
          <a:ln>
            <a:noFill/>
          </a:ln>
        </p:spPr>
      </p:pic>
      <p:pic>
        <p:nvPicPr>
          <p:cNvPr id="172" name="Google Shape;172;p6"/>
          <p:cNvPicPr preferRelativeResize="0"/>
          <p:nvPr/>
        </p:nvPicPr>
        <p:blipFill rotWithShape="1">
          <a:blip r:embed="rId3">
            <a:alphaModFix/>
          </a:blip>
          <a:srcRect b="0" l="8638" r="10824" t="0"/>
          <a:stretch/>
        </p:blipFill>
        <p:spPr>
          <a:xfrm>
            <a:off x="3401908" y="2819673"/>
            <a:ext cx="2442845" cy="1972124"/>
          </a:xfrm>
          <a:prstGeom prst="rect">
            <a:avLst/>
          </a:prstGeom>
          <a:noFill/>
          <a:ln>
            <a:noFill/>
          </a:ln>
        </p:spPr>
      </p:pic>
      <p:pic>
        <p:nvPicPr>
          <p:cNvPr id="173" name="Google Shape;173;p6"/>
          <p:cNvPicPr preferRelativeResize="0"/>
          <p:nvPr/>
        </p:nvPicPr>
        <p:blipFill rotWithShape="1">
          <a:blip r:embed="rId3">
            <a:alphaModFix/>
          </a:blip>
          <a:srcRect b="0" l="8638" r="10824" t="0"/>
          <a:stretch/>
        </p:blipFill>
        <p:spPr>
          <a:xfrm>
            <a:off x="6312537" y="2819673"/>
            <a:ext cx="2442845" cy="1972124"/>
          </a:xfrm>
          <a:prstGeom prst="rect">
            <a:avLst/>
          </a:prstGeom>
          <a:noFill/>
          <a:ln>
            <a:noFill/>
          </a:ln>
        </p:spPr>
      </p:pic>
      <p:sp>
        <p:nvSpPr>
          <p:cNvPr id="174" name="Google Shape;174;p6"/>
          <p:cNvSpPr txBox="1"/>
          <p:nvPr/>
        </p:nvSpPr>
        <p:spPr>
          <a:xfrm>
            <a:off x="1211580" y="4747547"/>
            <a:ext cx="945943" cy="470043"/>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2030</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p:txBody>
      </p:sp>
      <p:sp>
        <p:nvSpPr>
          <p:cNvPr id="175" name="Google Shape;175;p6"/>
          <p:cNvSpPr txBox="1"/>
          <p:nvPr/>
        </p:nvSpPr>
        <p:spPr>
          <a:xfrm>
            <a:off x="4228569" y="4768937"/>
            <a:ext cx="945943" cy="470043"/>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2035</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p:txBody>
      </p:sp>
      <p:sp>
        <p:nvSpPr>
          <p:cNvPr id="176" name="Google Shape;176;p6"/>
          <p:cNvSpPr txBox="1"/>
          <p:nvPr/>
        </p:nvSpPr>
        <p:spPr>
          <a:xfrm>
            <a:off x="7241857" y="4770406"/>
            <a:ext cx="945943" cy="470043"/>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2040</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type="title"/>
          </p:nvPr>
        </p:nvSpPr>
        <p:spPr>
          <a:xfrm>
            <a:off x="169122" y="306669"/>
            <a:ext cx="7702338"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2. Spatial evolution </a:t>
            </a:r>
            <a:endParaRPr b="0" sz="3600"/>
          </a:p>
        </p:txBody>
      </p:sp>
      <p:sp>
        <p:nvSpPr>
          <p:cNvPr id="183" name="Google Shape;183;p7"/>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84" name="Google Shape;184;p7"/>
          <p:cNvSpPr txBox="1"/>
          <p:nvPr/>
        </p:nvSpPr>
        <p:spPr>
          <a:xfrm>
            <a:off x="368300" y="1268459"/>
            <a:ext cx="8379460" cy="3748041"/>
          </a:xfrm>
          <a:prstGeom prst="rect">
            <a:avLst/>
          </a:prstGeom>
          <a:solidFill>
            <a:srgbClr val="FCE9E0"/>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457200" lvl="1" marL="800100" marR="0" rtl="0" algn="l">
              <a:lnSpc>
                <a:spcPct val="90000"/>
              </a:lnSpc>
              <a:spcBef>
                <a:spcPts val="1175"/>
              </a:spcBef>
              <a:spcAft>
                <a:spcPts val="0"/>
              </a:spcAft>
              <a:buClr>
                <a:schemeClr val="dk1"/>
              </a:buClr>
              <a:buSzPts val="1800"/>
              <a:buFont typeface="Libre Franklin"/>
              <a:buAutoNum type="arabicPeriod" startAt="5"/>
            </a:pPr>
            <a:r>
              <a:rPr b="0" i="0" lang="en-US" sz="1800" u="none" cap="none" strike="noStrike">
                <a:solidFill>
                  <a:schemeClr val="dk1"/>
                </a:solidFill>
                <a:latin typeface="Calibri"/>
                <a:ea typeface="Calibri"/>
                <a:cs typeface="Calibri"/>
                <a:sym typeface="Calibri"/>
              </a:rPr>
              <a:t>How does the </a:t>
            </a:r>
            <a:r>
              <a:rPr b="1" i="0" lang="en-US" sz="1800" u="none" cap="none" strike="noStrike">
                <a:solidFill>
                  <a:schemeClr val="dk1"/>
                </a:solidFill>
                <a:latin typeface="Calibri"/>
                <a:ea typeface="Calibri"/>
                <a:cs typeface="Calibri"/>
                <a:sym typeface="Calibri"/>
              </a:rPr>
              <a:t>spatial distribution of charging demand evolve over time</a:t>
            </a:r>
            <a:r>
              <a:rPr b="0" i="0" lang="en-US" sz="1800" u="none" cap="none" strike="noStrike">
                <a:solidFill>
                  <a:schemeClr val="dk1"/>
                </a:solidFill>
                <a:latin typeface="Calibri"/>
                <a:ea typeface="Calibri"/>
                <a:cs typeface="Calibri"/>
                <a:sym typeface="Calibri"/>
              </a:rPr>
              <a:t>? Do demand hotspots become more concentrated or do they spread over time? Why?</a:t>
            </a:r>
            <a:endParaRPr/>
          </a:p>
          <a:p>
            <a:pPr indent="-342900" lvl="1" marL="800100" marR="0" rtl="0" algn="l">
              <a:lnSpc>
                <a:spcPct val="90000"/>
              </a:lnSpc>
              <a:spcBef>
                <a:spcPts val="375"/>
              </a:spcBef>
              <a:spcAft>
                <a:spcPts val="0"/>
              </a:spcAft>
              <a:buClr>
                <a:schemeClr val="dk1"/>
              </a:buClr>
              <a:buSzPts val="1800"/>
              <a:buFont typeface="Libre Franklin"/>
              <a:buNone/>
            </a:pPr>
            <a:r>
              <a:t/>
            </a:r>
            <a:endParaRPr b="0" i="0" sz="1800" u="none" cap="none" strike="noStrike">
              <a:solidFill>
                <a:schemeClr val="dk1"/>
              </a:solidFill>
              <a:latin typeface="Calibri"/>
              <a:ea typeface="Calibri"/>
              <a:cs typeface="Calibri"/>
              <a:sym typeface="Calibri"/>
            </a:endParaRPr>
          </a:p>
          <a:p>
            <a:pPr indent="-457200" lvl="1" marL="800100" marR="0" rtl="0" algn="l">
              <a:lnSpc>
                <a:spcPct val="90000"/>
              </a:lnSpc>
              <a:spcBef>
                <a:spcPts val="375"/>
              </a:spcBef>
              <a:spcAft>
                <a:spcPts val="0"/>
              </a:spcAft>
              <a:buClr>
                <a:schemeClr val="dk1"/>
              </a:buClr>
              <a:buSzPts val="1800"/>
              <a:buFont typeface="Libre Franklin"/>
              <a:buAutoNum type="arabicPeriod" startAt="5"/>
            </a:pPr>
            <a:r>
              <a:rPr b="0" i="0" lang="en-US" sz="1800" u="none" cap="none" strike="noStrike">
                <a:solidFill>
                  <a:schemeClr val="dk1"/>
                </a:solidFill>
                <a:latin typeface="Calibri"/>
                <a:ea typeface="Calibri"/>
                <a:cs typeface="Calibri"/>
                <a:sym typeface="Calibri"/>
              </a:rPr>
              <a:t>Which zones consistently remain important hotspots throughout the years?</a:t>
            </a:r>
            <a:endParaRPr/>
          </a:p>
          <a:p>
            <a:pPr indent="-342900" lvl="1" marL="800100" marR="0" rtl="0" algn="l">
              <a:lnSpc>
                <a:spcPct val="90000"/>
              </a:lnSpc>
              <a:spcBef>
                <a:spcPts val="375"/>
              </a:spcBef>
              <a:spcAft>
                <a:spcPts val="0"/>
              </a:spcAft>
              <a:buClr>
                <a:schemeClr val="dk1"/>
              </a:buClr>
              <a:buSzPts val="1800"/>
              <a:buFont typeface="Libre Franklin"/>
              <a:buNone/>
            </a:pPr>
            <a:r>
              <a:t/>
            </a:r>
            <a:endParaRPr b="0" i="0" sz="1800" u="none" cap="none" strike="noStrike">
              <a:solidFill>
                <a:schemeClr val="dk1"/>
              </a:solidFill>
              <a:latin typeface="Calibri"/>
              <a:ea typeface="Calibri"/>
              <a:cs typeface="Calibri"/>
              <a:sym typeface="Calibri"/>
            </a:endParaRPr>
          </a:p>
          <a:p>
            <a:pPr indent="-457200" lvl="1" marL="800100" marR="0" rtl="0" algn="l">
              <a:lnSpc>
                <a:spcPct val="90000"/>
              </a:lnSpc>
              <a:spcBef>
                <a:spcPts val="375"/>
              </a:spcBef>
              <a:spcAft>
                <a:spcPts val="0"/>
              </a:spcAft>
              <a:buClr>
                <a:schemeClr val="dk1"/>
              </a:buClr>
              <a:buSzPts val="1800"/>
              <a:buFont typeface="Libre Franklin"/>
              <a:buAutoNum type="arabicPeriod" startAt="5"/>
            </a:pPr>
            <a:r>
              <a:rPr b="0" i="0" lang="en-US" sz="1800" u="none" cap="none" strike="noStrike">
                <a:solidFill>
                  <a:schemeClr val="dk1"/>
                </a:solidFill>
                <a:latin typeface="Calibri"/>
                <a:ea typeface="Calibri"/>
                <a:cs typeface="Calibri"/>
                <a:sym typeface="Calibri"/>
              </a:rPr>
              <a:t>How does the </a:t>
            </a:r>
            <a:r>
              <a:rPr b="1" i="0" lang="en-US" sz="1800" u="none" cap="none" strike="noStrike">
                <a:solidFill>
                  <a:schemeClr val="dk1"/>
                </a:solidFill>
                <a:latin typeface="Calibri"/>
                <a:ea typeface="Calibri"/>
                <a:cs typeface="Calibri"/>
                <a:sym typeface="Calibri"/>
              </a:rPr>
              <a:t>total charging demand </a:t>
            </a:r>
            <a:r>
              <a:rPr b="0" i="0" lang="en-US" sz="1800" u="none" cap="none" strike="noStrike">
                <a:solidFill>
                  <a:schemeClr val="dk1"/>
                </a:solidFill>
                <a:latin typeface="Calibri"/>
                <a:ea typeface="Calibri"/>
                <a:cs typeface="Calibri"/>
                <a:sym typeface="Calibri"/>
              </a:rPr>
              <a:t>evolve over time? In particular, why does it appear to scale linearly with the number of electric vehicles? What underlying assumptions drive this linear relationship? Which key inputs could be adjusted to refine the model? </a:t>
            </a:r>
            <a:endParaRPr b="0" i="1" sz="2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169122" y="306669"/>
            <a:ext cx="8515350" cy="668691"/>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3. Temporal charging demand</a:t>
            </a:r>
            <a:endParaRPr b="0" sz="3600"/>
          </a:p>
        </p:txBody>
      </p:sp>
      <p:sp>
        <p:nvSpPr>
          <p:cNvPr id="191" name="Google Shape;191;p8"/>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92" name="Google Shape;192;p8"/>
          <p:cNvSpPr txBox="1"/>
          <p:nvPr/>
        </p:nvSpPr>
        <p:spPr>
          <a:xfrm>
            <a:off x="113237" y="1215845"/>
            <a:ext cx="8444024" cy="183977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You know focus on the evolution of the hourly demand on a typical day. This will be an important input as it drives the complementarity with renewables and other loads.</a:t>
            </a:r>
            <a:endParaRPr/>
          </a:p>
        </p:txBody>
      </p:sp>
      <p:sp>
        <p:nvSpPr>
          <p:cNvPr id="193" name="Google Shape;193;p8"/>
          <p:cNvSpPr txBox="1"/>
          <p:nvPr/>
        </p:nvSpPr>
        <p:spPr>
          <a:xfrm>
            <a:off x="388620" y="1909764"/>
            <a:ext cx="8469423" cy="719136"/>
          </a:xfrm>
          <a:prstGeom prst="rect">
            <a:avLst/>
          </a:prstGeom>
          <a:solidFill>
            <a:srgbClr val="CCFFCC"/>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 </a:t>
            </a:r>
            <a:r>
              <a:rPr b="0" i="0" lang="en-US" sz="1800" u="none" cap="none" strike="noStrike">
                <a:solidFill>
                  <a:schemeClr val="dk1"/>
                </a:solidFill>
                <a:latin typeface="Calibri"/>
                <a:ea typeface="Calibri"/>
                <a:cs typeface="Calibri"/>
                <a:sym typeface="Calibri"/>
              </a:rPr>
              <a:t>Make a screenshot of the EV load curves for each year and copy/paste them below. </a:t>
            </a:r>
            <a:endParaRPr/>
          </a:p>
        </p:txBody>
      </p:sp>
      <p:pic>
        <p:nvPicPr>
          <p:cNvPr id="194" name="Google Shape;194;p8"/>
          <p:cNvPicPr preferRelativeResize="0"/>
          <p:nvPr/>
        </p:nvPicPr>
        <p:blipFill rotWithShape="1">
          <a:blip r:embed="rId3">
            <a:alphaModFix/>
          </a:blip>
          <a:srcRect b="0" l="8638" r="10824" t="0"/>
          <a:stretch/>
        </p:blipFill>
        <p:spPr>
          <a:xfrm>
            <a:off x="388620" y="2819672"/>
            <a:ext cx="2442845" cy="1972125"/>
          </a:xfrm>
          <a:prstGeom prst="rect">
            <a:avLst/>
          </a:prstGeom>
          <a:noFill/>
          <a:ln>
            <a:noFill/>
          </a:ln>
        </p:spPr>
      </p:pic>
      <p:pic>
        <p:nvPicPr>
          <p:cNvPr id="195" name="Google Shape;195;p8"/>
          <p:cNvPicPr preferRelativeResize="0"/>
          <p:nvPr/>
        </p:nvPicPr>
        <p:blipFill rotWithShape="1">
          <a:blip r:embed="rId3">
            <a:alphaModFix/>
          </a:blip>
          <a:srcRect b="0" l="8638" r="10824" t="0"/>
          <a:stretch/>
        </p:blipFill>
        <p:spPr>
          <a:xfrm>
            <a:off x="3401908" y="2819673"/>
            <a:ext cx="2442845" cy="1972124"/>
          </a:xfrm>
          <a:prstGeom prst="rect">
            <a:avLst/>
          </a:prstGeom>
          <a:noFill/>
          <a:ln>
            <a:noFill/>
          </a:ln>
        </p:spPr>
      </p:pic>
      <p:pic>
        <p:nvPicPr>
          <p:cNvPr id="196" name="Google Shape;196;p8"/>
          <p:cNvPicPr preferRelativeResize="0"/>
          <p:nvPr/>
        </p:nvPicPr>
        <p:blipFill rotWithShape="1">
          <a:blip r:embed="rId3">
            <a:alphaModFix/>
          </a:blip>
          <a:srcRect b="0" l="8638" r="10824" t="0"/>
          <a:stretch/>
        </p:blipFill>
        <p:spPr>
          <a:xfrm>
            <a:off x="6312537" y="2819673"/>
            <a:ext cx="2442845" cy="1972124"/>
          </a:xfrm>
          <a:prstGeom prst="rect">
            <a:avLst/>
          </a:prstGeom>
          <a:noFill/>
          <a:ln>
            <a:noFill/>
          </a:ln>
        </p:spPr>
      </p:pic>
      <p:sp>
        <p:nvSpPr>
          <p:cNvPr id="197" name="Google Shape;197;p8"/>
          <p:cNvSpPr txBox="1"/>
          <p:nvPr/>
        </p:nvSpPr>
        <p:spPr>
          <a:xfrm>
            <a:off x="1211580" y="4747547"/>
            <a:ext cx="945943" cy="470043"/>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2030</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p:txBody>
      </p:sp>
      <p:sp>
        <p:nvSpPr>
          <p:cNvPr id="198" name="Google Shape;198;p8"/>
          <p:cNvSpPr txBox="1"/>
          <p:nvPr/>
        </p:nvSpPr>
        <p:spPr>
          <a:xfrm>
            <a:off x="4228569" y="4768937"/>
            <a:ext cx="945943" cy="470043"/>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2035</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p:txBody>
      </p:sp>
      <p:sp>
        <p:nvSpPr>
          <p:cNvPr id="199" name="Google Shape;199;p8"/>
          <p:cNvSpPr txBox="1"/>
          <p:nvPr/>
        </p:nvSpPr>
        <p:spPr>
          <a:xfrm>
            <a:off x="7241857" y="4770406"/>
            <a:ext cx="945943" cy="470043"/>
          </a:xfrm>
          <a:prstGeom prst="rect">
            <a:avLst/>
          </a:prstGeom>
          <a:no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2040</a:t>
            </a:r>
            <a:endParaRPr/>
          </a:p>
          <a:p>
            <a:pPr indent="-68580" lvl="0" marL="171450" marR="0" rtl="0" algn="l">
              <a:lnSpc>
                <a:spcPct val="107000"/>
              </a:lnSpc>
              <a:spcBef>
                <a:spcPts val="1550"/>
              </a:spcBef>
              <a:spcAft>
                <a:spcPts val="0"/>
              </a:spcAft>
              <a:buClr>
                <a:schemeClr val="accent1"/>
              </a:buClr>
              <a:buSzPts val="1620"/>
              <a:buFont typeface="Noto Sans Symbols"/>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txBox="1"/>
          <p:nvPr>
            <p:ph type="title"/>
          </p:nvPr>
        </p:nvSpPr>
        <p:spPr>
          <a:xfrm>
            <a:off x="169122" y="306669"/>
            <a:ext cx="8515350" cy="668691"/>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3. Temporal charging demand </a:t>
            </a:r>
            <a:endParaRPr b="0" sz="3600"/>
          </a:p>
        </p:txBody>
      </p:sp>
      <p:sp>
        <p:nvSpPr>
          <p:cNvPr id="206" name="Google Shape;206;p9"/>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07" name="Google Shape;207;p9"/>
          <p:cNvSpPr txBox="1"/>
          <p:nvPr/>
        </p:nvSpPr>
        <p:spPr>
          <a:xfrm>
            <a:off x="368300" y="1268459"/>
            <a:ext cx="7994650" cy="3748041"/>
          </a:xfrm>
          <a:prstGeom prst="rect">
            <a:avLst/>
          </a:prstGeom>
          <a:solidFill>
            <a:srgbClr val="FCE9E0"/>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800"/>
              <a:buFont typeface="Libre Franklin"/>
              <a:buAutoNum type="arabicPeriod" startAt="8"/>
            </a:pPr>
            <a:r>
              <a:rPr b="0" i="0" lang="en-US" sz="1800" u="none" cap="none" strike="noStrike">
                <a:solidFill>
                  <a:schemeClr val="dk1"/>
                </a:solidFill>
                <a:latin typeface="Calibri"/>
                <a:ea typeface="Calibri"/>
                <a:cs typeface="Calibri"/>
                <a:sym typeface="Calibri"/>
              </a:rPr>
              <a:t>How does the </a:t>
            </a:r>
            <a:r>
              <a:rPr b="1" i="0" lang="en-US" sz="1800" u="none" cap="none" strike="noStrike">
                <a:solidFill>
                  <a:schemeClr val="dk1"/>
                </a:solidFill>
                <a:latin typeface="Calibri"/>
                <a:ea typeface="Calibri"/>
                <a:cs typeface="Calibri"/>
                <a:sym typeface="Calibri"/>
              </a:rPr>
              <a:t>shape of the total demand </a:t>
            </a:r>
            <a:r>
              <a:rPr b="0" i="0" lang="en-US" sz="1800" u="none" cap="none" strike="noStrike">
                <a:solidFill>
                  <a:schemeClr val="dk1"/>
                </a:solidFill>
                <a:latin typeface="Calibri"/>
                <a:ea typeface="Calibri"/>
                <a:cs typeface="Calibri"/>
                <a:sym typeface="Calibri"/>
              </a:rPr>
              <a:t>evolve over time? Which charging mode (home/work/POI) contributes the most to the total charging demand peak in each year?</a:t>
            </a:r>
            <a:endParaRPr/>
          </a:p>
          <a:p>
            <a:pPr indent="-342900" lvl="1" marL="685800" marR="0" rtl="0" algn="l">
              <a:lnSpc>
                <a:spcPct val="107000"/>
              </a:lnSpc>
              <a:spcBef>
                <a:spcPts val="1175"/>
              </a:spcBef>
              <a:spcAft>
                <a:spcPts val="0"/>
              </a:spcAft>
              <a:buClr>
                <a:schemeClr val="dk1"/>
              </a:buClr>
              <a:buSzPts val="1800"/>
              <a:buFont typeface="Libre Franklin"/>
              <a:buAutoNum type="arabicPeriod" startAt="8"/>
            </a:pPr>
            <a:r>
              <a:rPr b="0" i="0" lang="en-US" sz="1800" u="none" cap="none" strike="noStrike">
                <a:solidFill>
                  <a:schemeClr val="dk1"/>
                </a:solidFill>
                <a:latin typeface="Calibri"/>
                <a:ea typeface="Calibri"/>
                <a:cs typeface="Calibri"/>
                <a:sym typeface="Calibri"/>
              </a:rPr>
              <a:t>In </a:t>
            </a:r>
            <a:r>
              <a:rPr b="1" i="0" lang="en-US" sz="1800" u="none" cap="none" strike="noStrike">
                <a:solidFill>
                  <a:schemeClr val="dk1"/>
                </a:solidFill>
                <a:latin typeface="Calibri"/>
                <a:ea typeface="Calibri"/>
                <a:cs typeface="Calibri"/>
                <a:sym typeface="Calibri"/>
              </a:rPr>
              <a:t>2040</a:t>
            </a:r>
            <a:r>
              <a:rPr b="0" i="0" lang="en-US" sz="1800" u="none" cap="none" strike="noStrike">
                <a:solidFill>
                  <a:schemeClr val="dk1"/>
                </a:solidFill>
                <a:latin typeface="Calibri"/>
                <a:ea typeface="Calibri"/>
                <a:cs typeface="Calibri"/>
                <a:sym typeface="Calibri"/>
              </a:rPr>
              <a:t>, the share of home charging is higher than at work. Why is the peak contribution from workplaces still so high?</a:t>
            </a:r>
            <a:endParaRPr/>
          </a:p>
          <a:p>
            <a:pPr indent="-342900" lvl="1" marL="685800" marR="0" rtl="0" algn="l">
              <a:lnSpc>
                <a:spcPct val="107000"/>
              </a:lnSpc>
              <a:spcBef>
                <a:spcPts val="1175"/>
              </a:spcBef>
              <a:spcAft>
                <a:spcPts val="0"/>
              </a:spcAft>
              <a:buClr>
                <a:schemeClr val="dk1"/>
              </a:buClr>
              <a:buSzPts val="1800"/>
              <a:buFont typeface="Libre Franklin"/>
              <a:buAutoNum type="arabicPeriod" startAt="8"/>
            </a:pPr>
            <a:r>
              <a:rPr b="0" i="0" lang="en-US" sz="1800" u="none" cap="none" strike="noStrike">
                <a:solidFill>
                  <a:schemeClr val="dk1"/>
                </a:solidFill>
                <a:latin typeface="Calibri"/>
                <a:ea typeface="Calibri"/>
                <a:cs typeface="Calibri"/>
                <a:sym typeface="Calibri"/>
              </a:rPr>
              <a:t>In </a:t>
            </a:r>
            <a:r>
              <a:rPr b="1" i="0" lang="en-US" sz="1800" u="none" cap="none" strike="noStrike">
                <a:solidFill>
                  <a:schemeClr val="dk1"/>
                </a:solidFill>
                <a:latin typeface="Calibri"/>
                <a:ea typeface="Calibri"/>
                <a:cs typeface="Calibri"/>
                <a:sym typeface="Calibri"/>
              </a:rPr>
              <a:t>2030</a:t>
            </a:r>
            <a:r>
              <a:rPr b="0" i="0" lang="en-US" sz="1800" u="none" cap="none" strike="noStrike">
                <a:solidFill>
                  <a:schemeClr val="dk1"/>
                </a:solidFill>
                <a:latin typeface="Calibri"/>
                <a:ea typeface="Calibri"/>
                <a:cs typeface="Calibri"/>
                <a:sym typeface="Calibri"/>
              </a:rPr>
              <a:t>, why does the load curve appear somewhat </a:t>
            </a:r>
            <a:r>
              <a:rPr b="1" i="0" lang="en-US" sz="1800" u="none" cap="none" strike="noStrike">
                <a:solidFill>
                  <a:schemeClr val="dk1"/>
                </a:solidFill>
                <a:latin typeface="Calibri"/>
                <a:ea typeface="Calibri"/>
                <a:cs typeface="Calibri"/>
                <a:sym typeface="Calibri"/>
              </a:rPr>
              <a:t>“noisy”? </a:t>
            </a:r>
            <a:r>
              <a:rPr b="0" i="0" lang="en-US" sz="1800" u="none" cap="none" strike="noStrike">
                <a:solidFill>
                  <a:schemeClr val="dk1"/>
                </a:solidFill>
                <a:latin typeface="Calibri"/>
                <a:ea typeface="Calibri"/>
                <a:cs typeface="Calibri"/>
                <a:sym typeface="Calibri"/>
              </a:rPr>
              <a:t>Download the data and note the value of the peak power, then rerun the simulation: Is it the same? Why? </a:t>
            </a:r>
            <a:endParaRPr/>
          </a:p>
          <a:p>
            <a:pPr indent="-228600" lvl="1" marL="685800" marR="0" rtl="0" algn="l">
              <a:lnSpc>
                <a:spcPct val="107000"/>
              </a:lnSpc>
              <a:spcBef>
                <a:spcPts val="1175"/>
              </a:spcBef>
              <a:spcAft>
                <a:spcPts val="0"/>
              </a:spcAft>
              <a:buClr>
                <a:schemeClr val="dk1"/>
              </a:buClr>
              <a:buSzPts val="1800"/>
              <a:buFont typeface="Libre Franklin"/>
              <a:buNone/>
            </a:pPr>
            <a:r>
              <a:t/>
            </a:r>
            <a:endParaRPr b="0" i="1"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txBox="1"/>
          <p:nvPr>
            <p:ph type="title"/>
          </p:nvPr>
        </p:nvSpPr>
        <p:spPr>
          <a:xfrm>
            <a:off x="169122" y="306669"/>
            <a:ext cx="8515350" cy="668691"/>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4. EV-PV Complementarity</a:t>
            </a:r>
            <a:endParaRPr b="0" sz="3600"/>
          </a:p>
        </p:txBody>
      </p:sp>
      <p:sp>
        <p:nvSpPr>
          <p:cNvPr id="214" name="Google Shape;214;p10"/>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15" name="Google Shape;215;p10"/>
          <p:cNvSpPr txBox="1"/>
          <p:nvPr/>
        </p:nvSpPr>
        <p:spPr>
          <a:xfrm>
            <a:off x="388621" y="1229675"/>
            <a:ext cx="8366762" cy="469585"/>
          </a:xfrm>
          <a:prstGeom prst="rect">
            <a:avLst/>
          </a:prstGeom>
          <a:solidFill>
            <a:srgbClr val="CCFFCC"/>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 </a:t>
            </a:r>
            <a:r>
              <a:rPr b="0" i="0" lang="en-US" sz="1800" u="none" cap="none" strike="noStrike">
                <a:solidFill>
                  <a:schemeClr val="dk1"/>
                </a:solidFill>
                <a:latin typeface="Calibri"/>
                <a:ea typeface="Calibri"/>
                <a:cs typeface="Calibri"/>
                <a:sym typeface="Calibri"/>
              </a:rPr>
              <a:t>Simulate 10 MW of PV installed capacity under the 2030 scenario.</a:t>
            </a:r>
            <a:endParaRPr/>
          </a:p>
        </p:txBody>
      </p:sp>
      <p:sp>
        <p:nvSpPr>
          <p:cNvPr id="216" name="Google Shape;216;p10"/>
          <p:cNvSpPr txBox="1"/>
          <p:nvPr/>
        </p:nvSpPr>
        <p:spPr>
          <a:xfrm>
            <a:off x="388620" y="1846221"/>
            <a:ext cx="8366761" cy="3190600"/>
          </a:xfrm>
          <a:prstGeom prst="rect">
            <a:avLst/>
          </a:prstGeom>
          <a:solidFill>
            <a:srgbClr val="FCE9E0"/>
          </a:solidFill>
          <a:ln>
            <a:noFill/>
          </a:ln>
        </p:spPr>
        <p:txBody>
          <a:bodyPr anchorCtr="0" anchor="t" bIns="45700" lIns="180000" spcFirstLastPara="1" rIns="91425" wrap="square" tIns="45700">
            <a:normAutofit lnSpcReduction="10000"/>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11"/>
            </a:pPr>
            <a:r>
              <a:rPr b="0" i="0" lang="en-US" sz="1600" u="none" cap="none" strike="noStrike">
                <a:solidFill>
                  <a:schemeClr val="dk1"/>
                </a:solidFill>
                <a:latin typeface="Calibri"/>
                <a:ea typeface="Calibri"/>
                <a:cs typeface="Calibri"/>
                <a:sym typeface="Calibri"/>
              </a:rPr>
              <a:t>What are the </a:t>
            </a:r>
            <a:r>
              <a:rPr b="1" i="0" lang="en-US" sz="1600" u="none" cap="none" strike="noStrike">
                <a:solidFill>
                  <a:schemeClr val="dk1"/>
                </a:solidFill>
                <a:latin typeface="Calibri"/>
                <a:ea typeface="Calibri"/>
                <a:cs typeface="Calibri"/>
                <a:sym typeface="Calibri"/>
              </a:rPr>
              <a:t>energy coverage ratio </a:t>
            </a:r>
            <a:r>
              <a:rPr b="0" i="0" lang="en-US" sz="1600" u="none" cap="none" strike="noStrike">
                <a:solidFill>
                  <a:schemeClr val="dk1"/>
                </a:solidFill>
                <a:latin typeface="Calibri"/>
                <a:ea typeface="Calibri"/>
                <a:cs typeface="Calibri"/>
                <a:sym typeface="Calibri"/>
              </a:rPr>
              <a:t>and </a:t>
            </a:r>
            <a:r>
              <a:rPr b="1" i="0" lang="en-US" sz="1600" u="none" cap="none" strike="noStrike">
                <a:solidFill>
                  <a:schemeClr val="dk1"/>
                </a:solidFill>
                <a:latin typeface="Calibri"/>
                <a:ea typeface="Calibri"/>
                <a:cs typeface="Calibri"/>
                <a:sym typeface="Calibri"/>
              </a:rPr>
              <a:t>self-sufficiency </a:t>
            </a:r>
            <a:r>
              <a:rPr b="0" i="0" lang="en-US" sz="1600" u="none" cap="none" strike="noStrike">
                <a:solidFill>
                  <a:schemeClr val="dk1"/>
                </a:solidFill>
                <a:latin typeface="Calibri"/>
                <a:ea typeface="Calibri"/>
                <a:cs typeface="Calibri"/>
                <a:sym typeface="Calibri"/>
              </a:rPr>
              <a:t>levels? From an energy demand perspective, would installing PV be effective in reducing the net EV charging demand?</a:t>
            </a:r>
            <a:endParaRPr b="0" i="0" sz="1600" u="none" cap="none" strike="noStrike">
              <a:solidFill>
                <a:schemeClr val="dk1"/>
              </a:solidFill>
              <a:latin typeface="Calibri"/>
              <a:ea typeface="Calibri"/>
              <a:cs typeface="Calibri"/>
              <a:sym typeface="Calibri"/>
            </a:endParaRPr>
          </a:p>
          <a:p>
            <a:pPr indent="-342900" lvl="1" marL="685800" marR="0" rtl="0" algn="l">
              <a:lnSpc>
                <a:spcPct val="107000"/>
              </a:lnSpc>
              <a:spcBef>
                <a:spcPts val="1175"/>
              </a:spcBef>
              <a:spcAft>
                <a:spcPts val="0"/>
              </a:spcAft>
              <a:buClr>
                <a:schemeClr val="dk1"/>
              </a:buClr>
              <a:buSzPts val="1600"/>
              <a:buFont typeface="Libre Franklin"/>
              <a:buAutoNum type="arabicPeriod" startAt="11"/>
            </a:pPr>
            <a:r>
              <a:rPr b="0" i="0" lang="en-US" sz="1600" u="none" cap="none" strike="noStrike">
                <a:solidFill>
                  <a:schemeClr val="dk1"/>
                </a:solidFill>
                <a:latin typeface="Calibri"/>
                <a:ea typeface="Calibri"/>
                <a:cs typeface="Calibri"/>
                <a:sym typeface="Calibri"/>
              </a:rPr>
              <a:t>What does a </a:t>
            </a:r>
            <a:r>
              <a:rPr b="1" i="0" lang="en-US" sz="1600" u="none" cap="none" strike="noStrike">
                <a:solidFill>
                  <a:schemeClr val="dk1"/>
                </a:solidFill>
                <a:latin typeface="Calibri"/>
                <a:ea typeface="Calibri"/>
                <a:cs typeface="Calibri"/>
                <a:sym typeface="Calibri"/>
              </a:rPr>
              <a:t>self-consumption value &lt; 1 </a:t>
            </a:r>
            <a:r>
              <a:rPr b="0" i="0" lang="en-US" sz="1600" u="none" cap="none" strike="noStrike">
                <a:solidFill>
                  <a:schemeClr val="dk1"/>
                </a:solidFill>
                <a:latin typeface="Calibri"/>
                <a:ea typeface="Calibri"/>
                <a:cs typeface="Calibri"/>
                <a:sym typeface="Calibri"/>
              </a:rPr>
              <a:t>indicate? What additional analysis would you perform to assess:</a:t>
            </a:r>
            <a:endParaRPr b="0" i="0" sz="1600" u="none" cap="none" strike="noStrike">
              <a:solidFill>
                <a:schemeClr val="dk1"/>
              </a:solidFill>
              <a:latin typeface="Calibri"/>
              <a:ea typeface="Calibri"/>
              <a:cs typeface="Calibri"/>
              <a:sym typeface="Calibri"/>
            </a:endParaRPr>
          </a:p>
          <a:p>
            <a:pPr indent="-171450" lvl="2" marL="857250" marR="0" rtl="0" algn="l">
              <a:lnSpc>
                <a:spcPct val="107000"/>
              </a:lnSpc>
              <a:spcBef>
                <a:spcPts val="1175"/>
              </a:spcBef>
              <a:spcAft>
                <a:spcPts val="0"/>
              </a:spcAft>
              <a:buClr>
                <a:schemeClr val="dk1"/>
              </a:buClr>
              <a:buSzPts val="1440"/>
              <a:buFont typeface="Noto Sans Symbols"/>
              <a:buChar char="▪"/>
            </a:pPr>
            <a:r>
              <a:rPr b="0" i="0" lang="en-US" sz="1600" u="none" cap="none" strike="noStrike">
                <a:solidFill>
                  <a:schemeClr val="dk1"/>
                </a:solidFill>
                <a:latin typeface="Calibri"/>
                <a:ea typeface="Calibri"/>
                <a:cs typeface="Calibri"/>
                <a:sym typeface="Calibri"/>
              </a:rPr>
              <a:t>Peak power reduction potential (impact on peak grid import / net load peaks)</a:t>
            </a:r>
            <a:endParaRPr b="0" i="0" sz="1600" u="none" cap="none" strike="noStrike">
              <a:solidFill>
                <a:schemeClr val="dk1"/>
              </a:solidFill>
              <a:latin typeface="Calibri"/>
              <a:ea typeface="Calibri"/>
              <a:cs typeface="Calibri"/>
              <a:sym typeface="Calibri"/>
            </a:endParaRPr>
          </a:p>
          <a:p>
            <a:pPr indent="-171450" lvl="2" marL="857250" marR="0" rtl="0" algn="l">
              <a:lnSpc>
                <a:spcPct val="107000"/>
              </a:lnSpc>
              <a:spcBef>
                <a:spcPts val="1175"/>
              </a:spcBef>
              <a:spcAft>
                <a:spcPts val="0"/>
              </a:spcAft>
              <a:buClr>
                <a:schemeClr val="dk1"/>
              </a:buClr>
              <a:buSzPts val="1440"/>
              <a:buFont typeface="Noto Sans Symbols"/>
              <a:buChar char="▪"/>
            </a:pPr>
            <a:r>
              <a:rPr b="0" i="0" lang="en-US" sz="1600" u="none" cap="none" strike="noStrike">
                <a:solidFill>
                  <a:schemeClr val="dk1"/>
                </a:solidFill>
                <a:latin typeface="Calibri"/>
                <a:ea typeface="Calibri"/>
                <a:cs typeface="Calibri"/>
                <a:sym typeface="Calibri"/>
              </a:rPr>
              <a:t>Appropriate PV sizing guidelines, i.e. how much PV capacity should be deployed to:</a:t>
            </a:r>
            <a:endParaRPr b="0" i="0" sz="1600" u="none" cap="none" strike="noStrike">
              <a:solidFill>
                <a:schemeClr val="dk1"/>
              </a:solidFill>
              <a:latin typeface="Calibri"/>
              <a:ea typeface="Calibri"/>
              <a:cs typeface="Calibri"/>
              <a:sym typeface="Calibri"/>
            </a:endParaRPr>
          </a:p>
          <a:p>
            <a:pPr indent="-285750" lvl="3" marL="1428750" marR="0" rtl="0" algn="l">
              <a:lnSpc>
                <a:spcPct val="107000"/>
              </a:lnSpc>
              <a:spcBef>
                <a:spcPts val="117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minimize grid demand,</a:t>
            </a:r>
            <a:endParaRPr b="0" i="0" sz="1600" u="none" cap="none" strike="noStrike">
              <a:solidFill>
                <a:schemeClr val="dk1"/>
              </a:solidFill>
              <a:latin typeface="Calibri"/>
              <a:ea typeface="Calibri"/>
              <a:cs typeface="Calibri"/>
              <a:sym typeface="Calibri"/>
            </a:endParaRPr>
          </a:p>
          <a:p>
            <a:pPr indent="-285750" lvl="3" marL="1428750" marR="0" rtl="0" algn="l">
              <a:lnSpc>
                <a:spcPct val="107000"/>
              </a:lnSpc>
              <a:spcBef>
                <a:spcPts val="375"/>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while maximizing self-consumption and avoiding excess generation/export?</a:t>
            </a:r>
            <a:endParaRPr b="0" i="1" sz="1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1"/>
          <p:cNvSpPr txBox="1"/>
          <p:nvPr>
            <p:ph type="title"/>
          </p:nvPr>
        </p:nvSpPr>
        <p:spPr>
          <a:xfrm>
            <a:off x="169122" y="306669"/>
            <a:ext cx="8515350" cy="668691"/>
          </a:xfrm>
          <a:prstGeom prst="rect">
            <a:avLst/>
          </a:prstGeom>
          <a:noFill/>
          <a:ln>
            <a:noFill/>
          </a:ln>
        </p:spPr>
        <p:txBody>
          <a:bodyPr anchorCtr="0" anchor="t" bIns="46800" lIns="180000" spcFirstLastPara="1" rIns="72000" wrap="square" tIns="0">
            <a:noAutofit/>
          </a:bodyPr>
          <a:lstStyle/>
          <a:p>
            <a:pPr indent="0" lvl="0" marL="0" rtl="0" algn="l">
              <a:lnSpc>
                <a:spcPct val="90000"/>
              </a:lnSpc>
              <a:spcBef>
                <a:spcPts val="0"/>
              </a:spcBef>
              <a:spcAft>
                <a:spcPts val="0"/>
              </a:spcAft>
              <a:buClr>
                <a:schemeClr val="dk1"/>
              </a:buClr>
              <a:buSzPts val="3240"/>
              <a:buFont typeface="Libre Franklin"/>
              <a:buNone/>
            </a:pPr>
            <a:r>
              <a:rPr b="0" lang="en-US" sz="2940"/>
              <a:t>5. </a:t>
            </a:r>
            <a:r>
              <a:rPr b="0" lang="en-US" sz="2840"/>
              <a:t>Sensitivity, charging power, recommendations </a:t>
            </a:r>
            <a:endParaRPr b="0" sz="2840"/>
          </a:p>
        </p:txBody>
      </p:sp>
      <p:sp>
        <p:nvSpPr>
          <p:cNvPr id="223" name="Google Shape;223;p1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24" name="Google Shape;224;p11"/>
          <p:cNvSpPr txBox="1"/>
          <p:nvPr/>
        </p:nvSpPr>
        <p:spPr>
          <a:xfrm>
            <a:off x="388620" y="1221381"/>
            <a:ext cx="8366761" cy="3615450"/>
          </a:xfrm>
          <a:prstGeom prst="rect">
            <a:avLst/>
          </a:prstGeom>
          <a:solidFill>
            <a:srgbClr val="FCE9E0"/>
          </a:solidFill>
          <a:ln>
            <a:noFill/>
          </a:ln>
        </p:spPr>
        <p:txBody>
          <a:bodyPr anchorCtr="0" anchor="t" bIns="45700" lIns="180000" spcFirstLastPara="1" rIns="91425" wrap="square" tIns="45700">
            <a:normAutofit lnSpcReduction="10000"/>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13"/>
            </a:pPr>
            <a:r>
              <a:rPr b="0" i="0" lang="en-US" sz="1600" u="none" cap="none" strike="noStrike">
                <a:solidFill>
                  <a:schemeClr val="dk1"/>
                </a:solidFill>
                <a:latin typeface="Calibri"/>
                <a:ea typeface="Calibri"/>
                <a:cs typeface="Calibri"/>
                <a:sym typeface="Calibri"/>
              </a:rPr>
              <a:t>Assuming that the spatial resolution (3 × 3 km) is acceptable for a first-order planning model, which key results, temporal or spatial, are </a:t>
            </a:r>
            <a:r>
              <a:rPr b="1" i="0" lang="en-US" sz="1600" u="none" cap="none" strike="noStrike">
                <a:solidFill>
                  <a:schemeClr val="dk1"/>
                </a:solidFill>
                <a:latin typeface="Calibri"/>
                <a:ea typeface="Calibri"/>
                <a:cs typeface="Calibri"/>
                <a:sym typeface="Calibri"/>
              </a:rPr>
              <a:t>most sensitive </a:t>
            </a:r>
            <a:r>
              <a:rPr b="0" i="0" lang="en-US" sz="1600" u="none" cap="none" strike="noStrike">
                <a:solidFill>
                  <a:schemeClr val="dk1"/>
                </a:solidFill>
                <a:latin typeface="Calibri"/>
                <a:ea typeface="Calibri"/>
                <a:cs typeface="Calibri"/>
                <a:sym typeface="Calibri"/>
              </a:rPr>
              <a:t>to charging behaviour?</a:t>
            </a:r>
            <a:endParaRPr/>
          </a:p>
          <a:p>
            <a:pPr indent="-228600" lvl="1" marL="571500" marR="0" rtl="0" algn="l">
              <a:lnSpc>
                <a:spcPct val="107000"/>
              </a:lnSpc>
              <a:spcBef>
                <a:spcPts val="1175"/>
              </a:spcBef>
              <a:spcAft>
                <a:spcPts val="0"/>
              </a:spcAft>
              <a:buClr>
                <a:schemeClr val="dk1"/>
              </a:buClr>
              <a:buSzPts val="1600"/>
              <a:buFont typeface="Libre Franklin"/>
              <a:buAutoNum type="arabicPeriod" startAt="13"/>
            </a:pPr>
            <a:r>
              <a:rPr b="0" i="0" lang="en-US" sz="1600" u="none" cap="none" strike="noStrike">
                <a:solidFill>
                  <a:schemeClr val="dk1"/>
                </a:solidFill>
                <a:latin typeface="Calibri"/>
                <a:ea typeface="Calibri"/>
                <a:cs typeface="Calibri"/>
                <a:sym typeface="Calibri"/>
              </a:rPr>
              <a:t> How does </a:t>
            </a:r>
            <a:r>
              <a:rPr b="1" i="0" lang="en-US" sz="1600" u="none" cap="none" strike="noStrike">
                <a:solidFill>
                  <a:schemeClr val="dk1"/>
                </a:solidFill>
                <a:latin typeface="Calibri"/>
                <a:ea typeface="Calibri"/>
                <a:cs typeface="Calibri"/>
                <a:sym typeface="Calibri"/>
              </a:rPr>
              <a:t>charging power </a:t>
            </a:r>
            <a:r>
              <a:rPr b="0" i="0" lang="en-US" sz="1600" u="none" cap="none" strike="noStrike">
                <a:solidFill>
                  <a:schemeClr val="dk1"/>
                </a:solidFill>
                <a:latin typeface="Calibri"/>
                <a:ea typeface="Calibri"/>
                <a:cs typeface="Calibri"/>
                <a:sym typeface="Calibri"/>
              </a:rPr>
              <a:t>influence system peaks and load shape? What happens to the demand profile if you change charging power assumptions?</a:t>
            </a:r>
            <a:endParaRPr/>
          </a:p>
          <a:p>
            <a:pPr indent="-171450" lvl="2" marL="857250" marR="0" rtl="0" algn="l">
              <a:lnSpc>
                <a:spcPct val="107000"/>
              </a:lnSpc>
              <a:spcBef>
                <a:spcPts val="1175"/>
              </a:spcBef>
              <a:spcAft>
                <a:spcPts val="0"/>
              </a:spcAft>
              <a:buClr>
                <a:schemeClr val="dk1"/>
              </a:buClr>
              <a:buSzPts val="1260"/>
              <a:buFont typeface="Noto Sans Symbols"/>
              <a:buChar char="▪"/>
            </a:pPr>
            <a:r>
              <a:rPr b="0" i="0" lang="en-US" sz="1400" u="none" cap="none" strike="noStrike">
                <a:solidFill>
                  <a:schemeClr val="dk1"/>
                </a:solidFill>
                <a:latin typeface="Calibri"/>
                <a:ea typeface="Calibri"/>
                <a:cs typeface="Calibri"/>
                <a:sym typeface="Calibri"/>
              </a:rPr>
              <a:t>At workplace charging, what is the impact of reducing charging power to 3 kW (slow charging)? </a:t>
            </a:r>
            <a:endParaRPr/>
          </a:p>
          <a:p>
            <a:pPr indent="-171450" lvl="2" marL="857250" marR="0" rtl="0" algn="l">
              <a:lnSpc>
                <a:spcPct val="107000"/>
              </a:lnSpc>
              <a:spcBef>
                <a:spcPts val="1175"/>
              </a:spcBef>
              <a:spcAft>
                <a:spcPts val="0"/>
              </a:spcAft>
              <a:buClr>
                <a:schemeClr val="dk1"/>
              </a:buClr>
              <a:buSzPts val="1260"/>
              <a:buFont typeface="Noto Sans Symbols"/>
              <a:buChar char="▪"/>
            </a:pPr>
            <a:r>
              <a:rPr b="0" i="0" lang="en-US" sz="1400" u="none" cap="none" strike="noStrike">
                <a:solidFill>
                  <a:schemeClr val="dk1"/>
                </a:solidFill>
                <a:latin typeface="Calibri"/>
                <a:ea typeface="Calibri"/>
                <a:cs typeface="Calibri"/>
                <a:sym typeface="Calibri"/>
              </a:rPr>
              <a:t>At POI charging, what is the effect of increasing charging power from 50 kW to 200 kW (fast charging)?</a:t>
            </a:r>
            <a:endParaRPr/>
          </a:p>
          <a:p>
            <a:pPr indent="-342900" lvl="1" marL="685800" marR="0" rtl="0" algn="l">
              <a:lnSpc>
                <a:spcPct val="107000"/>
              </a:lnSpc>
              <a:spcBef>
                <a:spcPts val="1175"/>
              </a:spcBef>
              <a:spcAft>
                <a:spcPts val="0"/>
              </a:spcAft>
              <a:buClr>
                <a:schemeClr val="dk1"/>
              </a:buClr>
              <a:buSzPts val="1600"/>
              <a:buFont typeface="Libre Franklin"/>
              <a:buAutoNum type="arabicPeriod" startAt="13"/>
            </a:pPr>
            <a:r>
              <a:rPr b="0" i="0" lang="en-US" sz="1600" u="none" cap="none" strike="noStrike">
                <a:solidFill>
                  <a:schemeClr val="dk1"/>
                </a:solidFill>
                <a:latin typeface="Calibri"/>
                <a:ea typeface="Calibri"/>
                <a:cs typeface="Calibri"/>
                <a:sym typeface="Calibri"/>
              </a:rPr>
              <a:t>Is the expected long-term </a:t>
            </a:r>
            <a:r>
              <a:rPr b="1" i="0" lang="en-US" sz="1600" u="none" cap="none" strike="noStrike">
                <a:solidFill>
                  <a:schemeClr val="dk1"/>
                </a:solidFill>
                <a:latin typeface="Calibri"/>
                <a:ea typeface="Calibri"/>
                <a:cs typeface="Calibri"/>
                <a:sym typeface="Calibri"/>
              </a:rPr>
              <a:t>shift toward more home charging </a:t>
            </a:r>
            <a:r>
              <a:rPr b="0" i="0" lang="en-US" sz="1600" u="none" cap="none" strike="noStrike">
                <a:solidFill>
                  <a:schemeClr val="dk1"/>
                </a:solidFill>
                <a:latin typeface="Calibri"/>
                <a:ea typeface="Calibri"/>
                <a:cs typeface="Calibri"/>
                <a:sym typeface="Calibri"/>
              </a:rPr>
              <a:t>inherently beneficial or could it create new challenges? Which </a:t>
            </a:r>
            <a:r>
              <a:rPr b="1" i="0" lang="en-US" sz="1600" u="none" cap="none" strike="noStrike">
                <a:solidFill>
                  <a:schemeClr val="dk1"/>
                </a:solidFill>
                <a:latin typeface="Calibri"/>
                <a:ea typeface="Calibri"/>
                <a:cs typeface="Calibri"/>
                <a:sym typeface="Calibri"/>
              </a:rPr>
              <a:t>policy</a:t>
            </a:r>
            <a:r>
              <a:rPr b="0" i="0" lang="en-US" sz="1600" u="none" cap="none" strike="noStrike">
                <a:solidFill>
                  <a:schemeClr val="dk1"/>
                </a:solidFill>
                <a:latin typeface="Calibri"/>
                <a:ea typeface="Calibri"/>
                <a:cs typeface="Calibri"/>
                <a:sym typeface="Calibri"/>
              </a:rPr>
              <a:t> or </a:t>
            </a:r>
            <a:r>
              <a:rPr b="1" i="0" lang="en-US" sz="1600" u="none" cap="none" strike="noStrike">
                <a:solidFill>
                  <a:schemeClr val="dk1"/>
                </a:solidFill>
                <a:latin typeface="Calibri"/>
                <a:ea typeface="Calibri"/>
                <a:cs typeface="Calibri"/>
                <a:sym typeface="Calibri"/>
              </a:rPr>
              <a:t>economic instruments </a:t>
            </a:r>
            <a:r>
              <a:rPr b="0" i="0" lang="en-US" sz="1600" u="none" cap="none" strike="noStrike">
                <a:solidFill>
                  <a:schemeClr val="dk1"/>
                </a:solidFill>
                <a:latin typeface="Calibri"/>
                <a:ea typeface="Calibri"/>
                <a:cs typeface="Calibri"/>
                <a:sym typeface="Calibri"/>
              </a:rPr>
              <a:t>could encourage people to charge during the day?</a:t>
            </a:r>
            <a:endParaRPr/>
          </a:p>
          <a:p>
            <a:pPr indent="-139700" lvl="1" marL="571500" marR="0" rtl="0" algn="l">
              <a:lnSpc>
                <a:spcPct val="107000"/>
              </a:lnSpc>
              <a:spcBef>
                <a:spcPts val="1175"/>
              </a:spcBef>
              <a:spcAft>
                <a:spcPts val="0"/>
              </a:spcAft>
              <a:buClr>
                <a:schemeClr val="dk1"/>
              </a:buClr>
              <a:buSzPts val="1400"/>
              <a:buFont typeface="Libre Franklin"/>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2023-05-04T11:30:15Z</dcterms:created>
  <dc:creator>Jeannin Noémie Alice Yvonne Ségolène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0x0101008306E5EE50F21A438A203B1346065F81</vt:lpwstr>
  </property>
</Properties>
</file>