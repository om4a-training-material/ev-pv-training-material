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Libre Franklin"/>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 roundtripDataSignature="AMtx7miHs4dL1L/P0JqYh9u2Xa9KhCqO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352E14-49DC-4EF3-90FB-B5F05AE69CBF}">
  <a:tblStyle styleId="{CF352E14-49DC-4EF3-90FB-B5F05AE69CBF}"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6E6"/>
          </a:solidFill>
        </a:fill>
      </a:tcStyle>
    </a:wholeTbl>
    <a:band1H>
      <a:tcTxStyle/>
      <a:tcStyle>
        <a:fill>
          <a:solidFill>
            <a:srgbClr val="F4CACA"/>
          </a:solidFill>
        </a:fill>
      </a:tcStyle>
    </a:band1H>
    <a:band2H>
      <a:tcTxStyle/>
    </a:band2H>
    <a:band1V>
      <a:tcTxStyle/>
      <a:tcStyle>
        <a:fill>
          <a:solidFill>
            <a:srgbClr val="F4CAC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LibreFranklin-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LibreFranklin-italic.fntdata"/><Relationship Id="rId6" Type="http://schemas.openxmlformats.org/officeDocument/2006/relationships/notesMaster" Target="notesMasters/notesMaster1.xml"/><Relationship Id="rId18" Type="http://schemas.openxmlformats.org/officeDocument/2006/relationships/font" Target="fonts/LibreFranklin-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et contenu">
  <p:cSld name="3_Titre et contenu">
    <p:spTree>
      <p:nvGrpSpPr>
        <p:cNvPr id="17" name="Shape 17"/>
        <p:cNvGrpSpPr/>
        <p:nvPr/>
      </p:nvGrpSpPr>
      <p:grpSpPr>
        <a:xfrm>
          <a:off x="0" y="0"/>
          <a:ext cx="0" cy="0"/>
          <a:chOff x="0" y="0"/>
          <a:chExt cx="0" cy="0"/>
        </a:xfrm>
      </p:grpSpPr>
      <p:sp>
        <p:nvSpPr>
          <p:cNvPr id="18" name="Google Shape;18;p12"/>
          <p:cNvSpPr/>
          <p:nvPr>
            <p:ph idx="2" type="pic"/>
          </p:nvPr>
        </p:nvSpPr>
        <p:spPr>
          <a:xfrm>
            <a:off x="904875" y="1563688"/>
            <a:ext cx="3144838" cy="3579812"/>
          </a:xfrm>
          <a:prstGeom prst="rect">
            <a:avLst/>
          </a:prstGeom>
          <a:noFill/>
          <a:ln>
            <a:noFill/>
          </a:ln>
        </p:spPr>
      </p:sp>
      <p:sp>
        <p:nvSpPr>
          <p:cNvPr id="19" name="Google Shape;19;p12"/>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 name="Google Shape;20;p12"/>
          <p:cNvSpPr txBox="1"/>
          <p:nvPr>
            <p:ph type="title"/>
          </p:nvPr>
        </p:nvSpPr>
        <p:spPr>
          <a:xfrm>
            <a:off x="989542" y="277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2"/>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2"/>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p:cSld name="Diapositive de titre">
    <p:spTree>
      <p:nvGrpSpPr>
        <p:cNvPr id="24" name="Shape 24"/>
        <p:cNvGrpSpPr/>
        <p:nvPr/>
      </p:nvGrpSpPr>
      <p:grpSpPr>
        <a:xfrm>
          <a:off x="0" y="0"/>
          <a:ext cx="0" cy="0"/>
          <a:chOff x="0" y="0"/>
          <a:chExt cx="0" cy="0"/>
        </a:xfrm>
      </p:grpSpPr>
      <p:sp>
        <p:nvSpPr>
          <p:cNvPr id="25" name="Google Shape;25;p13"/>
          <p:cNvSpPr/>
          <p:nvPr>
            <p:ph idx="2" type="pic"/>
          </p:nvPr>
        </p:nvSpPr>
        <p:spPr>
          <a:xfrm>
            <a:off x="1331913" y="0"/>
            <a:ext cx="7812087" cy="4948238"/>
          </a:xfrm>
          <a:prstGeom prst="rect">
            <a:avLst/>
          </a:prstGeom>
          <a:noFill/>
          <a:ln>
            <a:noFill/>
          </a:ln>
        </p:spPr>
      </p:sp>
      <p:sp>
        <p:nvSpPr>
          <p:cNvPr id="26" name="Google Shape;26;p13"/>
          <p:cNvSpPr txBox="1"/>
          <p:nvPr>
            <p:ph type="ctrTitle"/>
          </p:nvPr>
        </p:nvSpPr>
        <p:spPr>
          <a:xfrm>
            <a:off x="6405563" y="786535"/>
            <a:ext cx="2738437" cy="2338387"/>
          </a:xfrm>
          <a:prstGeom prst="rect">
            <a:avLst/>
          </a:prstGeom>
          <a:solidFill>
            <a:schemeClr val="accent1"/>
          </a:solidFill>
          <a:ln>
            <a:noFill/>
          </a:ln>
        </p:spPr>
        <p:txBody>
          <a:bodyPr anchorCtr="0" anchor="ctr" bIns="46800" lIns="216000" spcFirstLastPara="1" rIns="72000" wrap="square" tIns="0">
            <a:normAutofit/>
          </a:bodyPr>
          <a:lstStyle>
            <a:lvl1pPr lvl="0" algn="l">
              <a:lnSpc>
                <a:spcPct val="90000"/>
              </a:lnSpc>
              <a:spcBef>
                <a:spcPts val="0"/>
              </a:spcBef>
              <a:spcAft>
                <a:spcPts val="0"/>
              </a:spcAft>
              <a:buClr>
                <a:schemeClr val="lt1"/>
              </a:buClr>
              <a:buSzPts val="3600"/>
              <a:buFont typeface="Libre Frankli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3"/>
          <p:cNvSpPr txBox="1"/>
          <p:nvPr>
            <p:ph idx="1" type="subTitle"/>
          </p:nvPr>
        </p:nvSpPr>
        <p:spPr>
          <a:xfrm>
            <a:off x="4576763" y="3124922"/>
            <a:ext cx="1828800" cy="1568450"/>
          </a:xfrm>
          <a:prstGeom prst="rect">
            <a:avLst/>
          </a:prstGeom>
          <a:solidFill>
            <a:schemeClr val="dk1"/>
          </a:solidFill>
          <a:ln>
            <a:noFill/>
          </a:ln>
        </p:spPr>
        <p:txBody>
          <a:bodyPr anchorCtr="0" anchor="ctr" bIns="45700" lIns="90000" spcFirstLastPara="1" rIns="91425" wrap="square" tIns="45700">
            <a:normAutofit/>
          </a:bodyPr>
          <a:lstStyle>
            <a:lvl1pPr lvl="0" algn="ctr">
              <a:lnSpc>
                <a:spcPct val="90000"/>
              </a:lnSpc>
              <a:spcBef>
                <a:spcPts val="750"/>
              </a:spcBef>
              <a:spcAft>
                <a:spcPts val="0"/>
              </a:spcAft>
              <a:buSzPts val="1080"/>
              <a:buNone/>
              <a:defRPr sz="1200">
                <a:solidFill>
                  <a:schemeClr val="lt1"/>
                </a:solidFill>
              </a:defRPr>
            </a:lvl1pPr>
            <a:lvl2pPr lvl="1" algn="ctr">
              <a:lnSpc>
                <a:spcPct val="90000"/>
              </a:lnSpc>
              <a:spcBef>
                <a:spcPts val="375"/>
              </a:spcBef>
              <a:spcAft>
                <a:spcPts val="0"/>
              </a:spcAft>
              <a:buSzPts val="1500"/>
              <a:buNone/>
              <a:defRPr sz="1500"/>
            </a:lvl2pPr>
            <a:lvl3pPr lvl="2" algn="ctr">
              <a:lnSpc>
                <a:spcPct val="90000"/>
              </a:lnSpc>
              <a:spcBef>
                <a:spcPts val="375"/>
              </a:spcBef>
              <a:spcAft>
                <a:spcPts val="0"/>
              </a:spcAft>
              <a:buClr>
                <a:schemeClr val="dk1"/>
              </a:buClr>
              <a:buSzPts val="1215"/>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8" name="Google Shape;28;p13"/>
          <p:cNvSpPr txBox="1"/>
          <p:nvPr>
            <p:ph idx="3" type="body"/>
          </p:nvPr>
        </p:nvSpPr>
        <p:spPr>
          <a:xfrm>
            <a:off x="6400800" y="4683125"/>
            <a:ext cx="1828800" cy="460375"/>
          </a:xfrm>
          <a:prstGeom prst="rect">
            <a:avLst/>
          </a:prstGeom>
          <a:solidFill>
            <a:schemeClr val="lt1"/>
          </a:solidFill>
          <a:ln>
            <a:noFill/>
          </a:ln>
        </p:spPr>
        <p:txBody>
          <a:bodyPr anchorCtr="0" anchor="ctr" bIns="45700" lIns="90000" spcFirstLastPara="1" rIns="91425" wrap="square" tIns="45700">
            <a:noAutofit/>
          </a:bodyPr>
          <a:lstStyle>
            <a:lvl1pPr indent="-228600" lvl="0" marL="457200" algn="ctr">
              <a:lnSpc>
                <a:spcPct val="90000"/>
              </a:lnSpc>
              <a:spcBef>
                <a:spcPts val="750"/>
              </a:spcBef>
              <a:spcAft>
                <a:spcPts val="0"/>
              </a:spcAft>
              <a:buSzPts val="990"/>
              <a:buNone/>
              <a:defRPr sz="1100"/>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13"/>
          <p:cNvSpPr txBox="1"/>
          <p:nvPr>
            <p:ph idx="4" type="body"/>
          </p:nvPr>
        </p:nvSpPr>
        <p:spPr>
          <a:xfrm>
            <a:off x="82550" y="4440264"/>
            <a:ext cx="698500" cy="507975"/>
          </a:xfrm>
          <a:prstGeom prst="rect">
            <a:avLst/>
          </a:prstGeom>
          <a:noFill/>
          <a:ln>
            <a:noFill/>
          </a:ln>
        </p:spPr>
        <p:txBody>
          <a:bodyPr anchorCtr="0" anchor="b" bIns="0" lIns="0" spcFirstLastPara="1" rIns="0" wrap="square" tIns="0">
            <a:noAutofit/>
          </a:bodyPr>
          <a:lstStyle>
            <a:lvl1pPr indent="-268605" lvl="0" marL="457200" algn="l">
              <a:lnSpc>
                <a:spcPct val="90000"/>
              </a:lnSpc>
              <a:spcBef>
                <a:spcPts val="750"/>
              </a:spcBef>
              <a:spcAft>
                <a:spcPts val="0"/>
              </a:spcAft>
              <a:buSzPts val="630"/>
              <a:buFont typeface="Arial"/>
              <a:buChar char="•"/>
              <a:defRPr sz="700">
                <a:solidFill>
                  <a:schemeClr val="dk1"/>
                </a:solidFill>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126">
          <p15:clr>
            <a:srgbClr val="FBAE40"/>
          </p15:clr>
        </p15:guide>
        <p15:guide id="4" orient="horz" pos="123">
          <p15:clr>
            <a:srgbClr val="FBAE40"/>
          </p15:clr>
        </p15:guide>
        <p15:guide id="5" orient="horz" pos="3117">
          <p15:clr>
            <a:srgbClr val="FBAE40"/>
          </p15:clr>
        </p15:guide>
        <p15:guide id="6" pos="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spTree>
      <p:nvGrpSpPr>
        <p:cNvPr id="30" name="Shape 30"/>
        <p:cNvGrpSpPr/>
        <p:nvPr/>
      </p:nvGrpSpPr>
      <p:grpSpPr>
        <a:xfrm>
          <a:off x="0" y="0"/>
          <a:ext cx="0" cy="0"/>
          <a:chOff x="0" y="0"/>
          <a:chExt cx="0" cy="0"/>
        </a:xfrm>
      </p:grpSpPr>
      <p:sp>
        <p:nvSpPr>
          <p:cNvPr id="31" name="Google Shape;31;p14"/>
          <p:cNvSpPr/>
          <p:nvPr/>
        </p:nvSpPr>
        <p:spPr>
          <a:xfrm>
            <a:off x="4572000" y="0"/>
            <a:ext cx="4572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32" name="Google Shape;32;p14"/>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34" name="Google Shape;34;p14"/>
          <p:cNvSpPr/>
          <p:nvPr>
            <p:ph idx="2" type="pic"/>
          </p:nvPr>
        </p:nvSpPr>
        <p:spPr>
          <a:xfrm>
            <a:off x="904875" y="0"/>
            <a:ext cx="3667125" cy="5143500"/>
          </a:xfrm>
          <a:prstGeom prst="rect">
            <a:avLst/>
          </a:prstGeom>
          <a:noFill/>
          <a:ln>
            <a:noFill/>
          </a:ln>
        </p:spPr>
      </p:sp>
      <p:sp>
        <p:nvSpPr>
          <p:cNvPr id="35" name="Google Shape;35;p14"/>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de section">
  <p:cSld name="2_Titre de section">
    <p:spTree>
      <p:nvGrpSpPr>
        <p:cNvPr id="38" name="Shape 38"/>
        <p:cNvGrpSpPr/>
        <p:nvPr/>
      </p:nvGrpSpPr>
      <p:grpSpPr>
        <a:xfrm>
          <a:off x="0" y="0"/>
          <a:ext cx="0" cy="0"/>
          <a:chOff x="0" y="0"/>
          <a:chExt cx="0" cy="0"/>
        </a:xfrm>
      </p:grpSpPr>
      <p:sp>
        <p:nvSpPr>
          <p:cNvPr id="39" name="Google Shape;39;p15"/>
          <p:cNvSpPr/>
          <p:nvPr/>
        </p:nvSpPr>
        <p:spPr>
          <a:xfrm>
            <a:off x="4572000" y="0"/>
            <a:ext cx="4572000" cy="5143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0" name="Google Shape;40;p15"/>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5"/>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42" name="Google Shape;42;p15"/>
          <p:cNvSpPr/>
          <p:nvPr>
            <p:ph idx="2" type="pic"/>
          </p:nvPr>
        </p:nvSpPr>
        <p:spPr>
          <a:xfrm>
            <a:off x="904875" y="0"/>
            <a:ext cx="3667125" cy="5143500"/>
          </a:xfrm>
          <a:prstGeom prst="rect">
            <a:avLst/>
          </a:prstGeom>
          <a:noFill/>
          <a:ln>
            <a:noFill/>
          </a:ln>
        </p:spPr>
      </p:sp>
      <p:sp>
        <p:nvSpPr>
          <p:cNvPr id="43" name="Google Shape;43;p15"/>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de section">
  <p:cSld name="1_Titre de section">
    <p:spTree>
      <p:nvGrpSpPr>
        <p:cNvPr id="46" name="Shape 46"/>
        <p:cNvGrpSpPr/>
        <p:nvPr/>
      </p:nvGrpSpPr>
      <p:grpSpPr>
        <a:xfrm>
          <a:off x="0" y="0"/>
          <a:ext cx="0" cy="0"/>
          <a:chOff x="0" y="0"/>
          <a:chExt cx="0" cy="0"/>
        </a:xfrm>
      </p:grpSpPr>
      <p:sp>
        <p:nvSpPr>
          <p:cNvPr id="47" name="Google Shape;47;p16"/>
          <p:cNvSpPr/>
          <p:nvPr/>
        </p:nvSpPr>
        <p:spPr>
          <a:xfrm>
            <a:off x="4572000" y="0"/>
            <a:ext cx="4572000" cy="5143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48" name="Google Shape;48;p16"/>
          <p:cNvSpPr txBox="1"/>
          <p:nvPr>
            <p:ph type="title"/>
          </p:nvPr>
        </p:nvSpPr>
        <p:spPr>
          <a:xfrm>
            <a:off x="4572000" y="777875"/>
            <a:ext cx="4058920" cy="1793875"/>
          </a:xfrm>
          <a:prstGeom prst="rect">
            <a:avLst/>
          </a:prstGeom>
          <a:no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6"/>
          <p:cNvSpPr txBox="1"/>
          <p:nvPr>
            <p:ph idx="1" type="body"/>
          </p:nvPr>
        </p:nvSpPr>
        <p:spPr>
          <a:xfrm>
            <a:off x="4572000" y="2571750"/>
            <a:ext cx="4058920" cy="2156508"/>
          </a:xfrm>
          <a:prstGeom prst="rect">
            <a:avLst/>
          </a:prstGeom>
          <a:noFill/>
          <a:ln>
            <a:noFill/>
          </a:ln>
        </p:spPr>
        <p:txBody>
          <a:bodyPr anchorCtr="0" anchor="t" bIns="45700" lIns="180000" spcFirstLastPara="1" rIns="91425" wrap="square" tIns="45700">
            <a:normAutofit/>
          </a:bodyPr>
          <a:lstStyle>
            <a:lvl1pPr indent="-228600" lvl="0" marL="457200" algn="l">
              <a:lnSpc>
                <a:spcPct val="90000"/>
              </a:lnSpc>
              <a:spcBef>
                <a:spcPts val="750"/>
              </a:spcBef>
              <a:spcAft>
                <a:spcPts val="0"/>
              </a:spcAft>
              <a:buSzPts val="1620"/>
              <a:buNone/>
              <a:defRPr sz="1800">
                <a:solidFill>
                  <a:schemeClr val="lt1"/>
                </a:solidFill>
              </a:defRPr>
            </a:lvl1pPr>
            <a:lvl2pPr indent="-228600" lvl="1" marL="914400" algn="l">
              <a:lnSpc>
                <a:spcPct val="90000"/>
              </a:lnSpc>
              <a:spcBef>
                <a:spcPts val="375"/>
              </a:spcBef>
              <a:spcAft>
                <a:spcPts val="0"/>
              </a:spcAft>
              <a:buSzPts val="1500"/>
              <a:buNone/>
              <a:defRPr sz="1500">
                <a:solidFill>
                  <a:srgbClr val="918F8F"/>
                </a:solidFill>
              </a:defRPr>
            </a:lvl2pPr>
            <a:lvl3pPr indent="-228600" lvl="2" marL="1371600" algn="l">
              <a:lnSpc>
                <a:spcPct val="90000"/>
              </a:lnSpc>
              <a:spcBef>
                <a:spcPts val="375"/>
              </a:spcBef>
              <a:spcAft>
                <a:spcPts val="0"/>
              </a:spcAft>
              <a:buClr>
                <a:srgbClr val="918F8F"/>
              </a:buClr>
              <a:buSzPts val="1215"/>
              <a:buNone/>
              <a:defRPr sz="1350">
                <a:solidFill>
                  <a:srgbClr val="918F8F"/>
                </a:solidFill>
              </a:defRPr>
            </a:lvl3pPr>
            <a:lvl4pPr indent="-228600" lvl="3" marL="1828800" algn="l">
              <a:lnSpc>
                <a:spcPct val="90000"/>
              </a:lnSpc>
              <a:spcBef>
                <a:spcPts val="375"/>
              </a:spcBef>
              <a:spcAft>
                <a:spcPts val="0"/>
              </a:spcAft>
              <a:buClr>
                <a:srgbClr val="918F8F"/>
              </a:buClr>
              <a:buSzPts val="1200"/>
              <a:buNone/>
              <a:defRPr sz="1200">
                <a:solidFill>
                  <a:srgbClr val="918F8F"/>
                </a:solidFill>
              </a:defRPr>
            </a:lvl4pPr>
            <a:lvl5pPr indent="-228600" lvl="4" marL="2286000" algn="l">
              <a:lnSpc>
                <a:spcPct val="90000"/>
              </a:lnSpc>
              <a:spcBef>
                <a:spcPts val="375"/>
              </a:spcBef>
              <a:spcAft>
                <a:spcPts val="0"/>
              </a:spcAft>
              <a:buClr>
                <a:srgbClr val="918F8F"/>
              </a:buClr>
              <a:buSzPts val="1200"/>
              <a:buNone/>
              <a:defRPr sz="1200">
                <a:solidFill>
                  <a:srgbClr val="918F8F"/>
                </a:solidFill>
              </a:defRPr>
            </a:lvl5pPr>
            <a:lvl6pPr indent="-228600" lvl="5" marL="2743200" algn="l">
              <a:lnSpc>
                <a:spcPct val="90000"/>
              </a:lnSpc>
              <a:spcBef>
                <a:spcPts val="375"/>
              </a:spcBef>
              <a:spcAft>
                <a:spcPts val="0"/>
              </a:spcAft>
              <a:buClr>
                <a:srgbClr val="918F8F"/>
              </a:buClr>
              <a:buSzPts val="1200"/>
              <a:buNone/>
              <a:defRPr sz="1200">
                <a:solidFill>
                  <a:srgbClr val="918F8F"/>
                </a:solidFill>
              </a:defRPr>
            </a:lvl6pPr>
            <a:lvl7pPr indent="-228600" lvl="6" marL="3200400" algn="l">
              <a:lnSpc>
                <a:spcPct val="90000"/>
              </a:lnSpc>
              <a:spcBef>
                <a:spcPts val="375"/>
              </a:spcBef>
              <a:spcAft>
                <a:spcPts val="0"/>
              </a:spcAft>
              <a:buClr>
                <a:srgbClr val="918F8F"/>
              </a:buClr>
              <a:buSzPts val="1200"/>
              <a:buNone/>
              <a:defRPr sz="1200">
                <a:solidFill>
                  <a:srgbClr val="918F8F"/>
                </a:solidFill>
              </a:defRPr>
            </a:lvl7pPr>
            <a:lvl8pPr indent="-228600" lvl="7" marL="3657600" algn="l">
              <a:lnSpc>
                <a:spcPct val="90000"/>
              </a:lnSpc>
              <a:spcBef>
                <a:spcPts val="375"/>
              </a:spcBef>
              <a:spcAft>
                <a:spcPts val="0"/>
              </a:spcAft>
              <a:buClr>
                <a:srgbClr val="918F8F"/>
              </a:buClr>
              <a:buSzPts val="1200"/>
              <a:buNone/>
              <a:defRPr sz="1200">
                <a:solidFill>
                  <a:srgbClr val="918F8F"/>
                </a:solidFill>
              </a:defRPr>
            </a:lvl8pPr>
            <a:lvl9pPr indent="-228600" lvl="8" marL="4114800" algn="l">
              <a:lnSpc>
                <a:spcPct val="90000"/>
              </a:lnSpc>
              <a:spcBef>
                <a:spcPts val="375"/>
              </a:spcBef>
              <a:spcAft>
                <a:spcPts val="0"/>
              </a:spcAft>
              <a:buClr>
                <a:srgbClr val="918F8F"/>
              </a:buClr>
              <a:buSzPts val="1200"/>
              <a:buNone/>
              <a:defRPr sz="1200">
                <a:solidFill>
                  <a:srgbClr val="918F8F"/>
                </a:solidFill>
              </a:defRPr>
            </a:lvl9pPr>
          </a:lstStyle>
          <a:p/>
        </p:txBody>
      </p:sp>
      <p:sp>
        <p:nvSpPr>
          <p:cNvPr id="50" name="Google Shape;50;p16"/>
          <p:cNvSpPr/>
          <p:nvPr>
            <p:ph idx="2" type="pic"/>
          </p:nvPr>
        </p:nvSpPr>
        <p:spPr>
          <a:xfrm>
            <a:off x="904875" y="0"/>
            <a:ext cx="3667125" cy="5143500"/>
          </a:xfrm>
          <a:prstGeom prst="rect">
            <a:avLst/>
          </a:prstGeom>
          <a:noFill/>
          <a:ln>
            <a:noFill/>
          </a:ln>
        </p:spPr>
      </p:sp>
      <p:sp>
        <p:nvSpPr>
          <p:cNvPr id="51" name="Google Shape;51;p16"/>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b="1" i="0" sz="700" u="none" cap="none" strike="noStrike">
                <a:solidFill>
                  <a:schemeClr val="lt1"/>
                </a:solidFill>
                <a:latin typeface="Libre Franklin"/>
                <a:ea typeface="Libre Franklin"/>
                <a:cs typeface="Libre Franklin"/>
                <a:sym typeface="Libre Franklin"/>
              </a:defRPr>
            </a:lvl1pPr>
            <a:lvl2pPr indent="0" lvl="1" marL="0" algn="ctr">
              <a:spcBef>
                <a:spcPts val="0"/>
              </a:spcBef>
              <a:buNone/>
              <a:defRPr b="1" i="0" sz="700" u="none" cap="none" strike="noStrike">
                <a:solidFill>
                  <a:schemeClr val="lt1"/>
                </a:solidFill>
                <a:latin typeface="Libre Franklin"/>
                <a:ea typeface="Libre Franklin"/>
                <a:cs typeface="Libre Franklin"/>
                <a:sym typeface="Libre Franklin"/>
              </a:defRPr>
            </a:lvl2pPr>
            <a:lvl3pPr indent="0" lvl="2" marL="0" algn="ctr">
              <a:spcBef>
                <a:spcPts val="0"/>
              </a:spcBef>
              <a:buNone/>
              <a:defRPr b="1" i="0" sz="700" u="none" cap="none" strike="noStrike">
                <a:solidFill>
                  <a:schemeClr val="lt1"/>
                </a:solidFill>
                <a:latin typeface="Libre Franklin"/>
                <a:ea typeface="Libre Franklin"/>
                <a:cs typeface="Libre Franklin"/>
                <a:sym typeface="Libre Franklin"/>
              </a:defRPr>
            </a:lvl3pPr>
            <a:lvl4pPr indent="0" lvl="3" marL="0" algn="ctr">
              <a:spcBef>
                <a:spcPts val="0"/>
              </a:spcBef>
              <a:buNone/>
              <a:defRPr b="1" i="0" sz="700" u="none" cap="none" strike="noStrike">
                <a:solidFill>
                  <a:schemeClr val="lt1"/>
                </a:solidFill>
                <a:latin typeface="Libre Franklin"/>
                <a:ea typeface="Libre Franklin"/>
                <a:cs typeface="Libre Franklin"/>
                <a:sym typeface="Libre Franklin"/>
              </a:defRPr>
            </a:lvl4pPr>
            <a:lvl5pPr indent="0" lvl="4" marL="0" algn="ctr">
              <a:spcBef>
                <a:spcPts val="0"/>
              </a:spcBef>
              <a:buNone/>
              <a:defRPr b="1" i="0" sz="700" u="none" cap="none" strike="noStrike">
                <a:solidFill>
                  <a:schemeClr val="lt1"/>
                </a:solidFill>
                <a:latin typeface="Libre Franklin"/>
                <a:ea typeface="Libre Franklin"/>
                <a:cs typeface="Libre Franklin"/>
                <a:sym typeface="Libre Franklin"/>
              </a:defRPr>
            </a:lvl5pPr>
            <a:lvl6pPr indent="0" lvl="5" marL="0" algn="ctr">
              <a:spcBef>
                <a:spcPts val="0"/>
              </a:spcBef>
              <a:buNone/>
              <a:defRPr b="1" i="0" sz="700" u="none" cap="none" strike="noStrike">
                <a:solidFill>
                  <a:schemeClr val="lt1"/>
                </a:solidFill>
                <a:latin typeface="Libre Franklin"/>
                <a:ea typeface="Libre Franklin"/>
                <a:cs typeface="Libre Franklin"/>
                <a:sym typeface="Libre Franklin"/>
              </a:defRPr>
            </a:lvl6pPr>
            <a:lvl7pPr indent="0" lvl="6" marL="0" algn="ctr">
              <a:spcBef>
                <a:spcPts val="0"/>
              </a:spcBef>
              <a:buNone/>
              <a:defRPr b="1" i="0" sz="700" u="none" cap="none" strike="noStrike">
                <a:solidFill>
                  <a:schemeClr val="lt1"/>
                </a:solidFill>
                <a:latin typeface="Libre Franklin"/>
                <a:ea typeface="Libre Franklin"/>
                <a:cs typeface="Libre Franklin"/>
                <a:sym typeface="Libre Franklin"/>
              </a:defRPr>
            </a:lvl7pPr>
            <a:lvl8pPr indent="0" lvl="7" marL="0" algn="ctr">
              <a:spcBef>
                <a:spcPts val="0"/>
              </a:spcBef>
              <a:buNone/>
              <a:defRPr b="1" i="0" sz="700" u="none" cap="none" strike="noStrike">
                <a:solidFill>
                  <a:schemeClr val="lt1"/>
                </a:solidFill>
                <a:latin typeface="Libre Franklin"/>
                <a:ea typeface="Libre Franklin"/>
                <a:cs typeface="Libre Franklin"/>
                <a:sym typeface="Libre Franklin"/>
              </a:defRPr>
            </a:lvl8pPr>
            <a:lvl9pPr indent="0" lvl="8" marL="0" algn="ctr">
              <a:spcBef>
                <a:spcPts val="0"/>
              </a:spcBef>
              <a:buNone/>
              <a:defRPr b="1" i="0" sz="700" u="none" cap="none" strike="noStrike">
                <a:solidFill>
                  <a:schemeClr val="lt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p:cSld name="Titre et contenu">
    <p:spTree>
      <p:nvGrpSpPr>
        <p:cNvPr id="54" name="Shape 54"/>
        <p:cNvGrpSpPr/>
        <p:nvPr/>
      </p:nvGrpSpPr>
      <p:grpSpPr>
        <a:xfrm>
          <a:off x="0" y="0"/>
          <a:ext cx="0" cy="0"/>
          <a:chOff x="0" y="0"/>
          <a:chExt cx="0" cy="0"/>
        </a:xfrm>
      </p:grpSpPr>
      <p:sp>
        <p:nvSpPr>
          <p:cNvPr id="55" name="Google Shape;55;p17"/>
          <p:cNvSpPr txBox="1"/>
          <p:nvPr>
            <p:ph idx="1" type="body"/>
          </p:nvPr>
        </p:nvSpPr>
        <p:spPr>
          <a:xfrm>
            <a:off x="904875" y="1563688"/>
            <a:ext cx="7726363"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17"/>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7"/>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7"/>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et contenu">
  <p:cSld name="1_Titre et contenu">
    <p:spTree>
      <p:nvGrpSpPr>
        <p:cNvPr id="60" name="Shape 60"/>
        <p:cNvGrpSpPr/>
        <p:nvPr/>
      </p:nvGrpSpPr>
      <p:grpSpPr>
        <a:xfrm>
          <a:off x="0" y="0"/>
          <a:ext cx="0" cy="0"/>
          <a:chOff x="0" y="0"/>
          <a:chExt cx="0" cy="0"/>
        </a:xfrm>
      </p:grpSpPr>
      <p:sp>
        <p:nvSpPr>
          <p:cNvPr id="61" name="Google Shape;61;p18"/>
          <p:cNvSpPr txBox="1"/>
          <p:nvPr>
            <p:ph idx="1" type="body"/>
          </p:nvPr>
        </p:nvSpPr>
        <p:spPr>
          <a:xfrm>
            <a:off x="90487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2" name="Google Shape;62;p18"/>
          <p:cNvSpPr/>
          <p:nvPr>
            <p:ph idx="2" type="pic"/>
          </p:nvPr>
        </p:nvSpPr>
        <p:spPr>
          <a:xfrm>
            <a:off x="5486400" y="0"/>
            <a:ext cx="3144838" cy="5143500"/>
          </a:xfrm>
          <a:prstGeom prst="rect">
            <a:avLst/>
          </a:prstGeom>
          <a:noFill/>
          <a:ln>
            <a:noFill/>
          </a:ln>
        </p:spPr>
      </p:sp>
      <p:sp>
        <p:nvSpPr>
          <p:cNvPr id="63" name="Google Shape;63;p18"/>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8"/>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8"/>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et contenu">
  <p:cSld name="2_Titre et contenu">
    <p:spTree>
      <p:nvGrpSpPr>
        <p:cNvPr id="67" name="Shape 67"/>
        <p:cNvGrpSpPr/>
        <p:nvPr/>
      </p:nvGrpSpPr>
      <p:grpSpPr>
        <a:xfrm>
          <a:off x="0" y="0"/>
          <a:ext cx="0" cy="0"/>
          <a:chOff x="0" y="0"/>
          <a:chExt cx="0" cy="0"/>
        </a:xfrm>
      </p:grpSpPr>
      <p:sp>
        <p:nvSpPr>
          <p:cNvPr id="68" name="Google Shape;68;p19"/>
          <p:cNvSpPr/>
          <p:nvPr>
            <p:ph idx="2" type="pic"/>
          </p:nvPr>
        </p:nvSpPr>
        <p:spPr>
          <a:xfrm>
            <a:off x="904875" y="0"/>
            <a:ext cx="3144838" cy="5143500"/>
          </a:xfrm>
          <a:prstGeom prst="rect">
            <a:avLst/>
          </a:prstGeom>
          <a:noFill/>
          <a:ln>
            <a:noFill/>
          </a:ln>
        </p:spPr>
      </p:sp>
      <p:sp>
        <p:nvSpPr>
          <p:cNvPr id="69" name="Google Shape;69;p19"/>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0" name="Google Shape;70;p19"/>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9"/>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3" name="Google Shape;73;p19"/>
          <p:cNvSpPr txBox="1"/>
          <p:nvPr>
            <p:ph type="title"/>
          </p:nvPr>
        </p:nvSpPr>
        <p:spPr>
          <a:xfrm>
            <a:off x="904876" y="131032"/>
            <a:ext cx="3144520" cy="1072753"/>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re et contenu">
  <p:cSld name="4_Titre et contenu">
    <p:spTree>
      <p:nvGrpSpPr>
        <p:cNvPr id="74" name="Shape 74"/>
        <p:cNvGrpSpPr/>
        <p:nvPr/>
      </p:nvGrpSpPr>
      <p:grpSpPr>
        <a:xfrm>
          <a:off x="0" y="0"/>
          <a:ext cx="0" cy="0"/>
          <a:chOff x="0" y="0"/>
          <a:chExt cx="0" cy="0"/>
        </a:xfrm>
      </p:grpSpPr>
      <p:sp>
        <p:nvSpPr>
          <p:cNvPr id="75" name="Google Shape;75;p20"/>
          <p:cNvSpPr/>
          <p:nvPr>
            <p:ph idx="2" type="pic"/>
          </p:nvPr>
        </p:nvSpPr>
        <p:spPr>
          <a:xfrm>
            <a:off x="904875" y="0"/>
            <a:ext cx="3144838" cy="5143500"/>
          </a:xfrm>
          <a:prstGeom prst="rect">
            <a:avLst/>
          </a:prstGeom>
          <a:noFill/>
          <a:ln>
            <a:noFill/>
          </a:ln>
        </p:spPr>
      </p:sp>
      <p:sp>
        <p:nvSpPr>
          <p:cNvPr id="76" name="Google Shape;76;p20"/>
          <p:cNvSpPr txBox="1"/>
          <p:nvPr>
            <p:ph idx="1" type="body"/>
          </p:nvPr>
        </p:nvSpPr>
        <p:spPr>
          <a:xfrm>
            <a:off x="4049395" y="1563688"/>
            <a:ext cx="4581525" cy="3386772"/>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20"/>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0" name="Google Shape;80;p20"/>
          <p:cNvSpPr txBox="1"/>
          <p:nvPr>
            <p:ph type="title"/>
          </p:nvPr>
        </p:nvSpPr>
        <p:spPr>
          <a:xfrm>
            <a:off x="4049395" y="131032"/>
            <a:ext cx="3144520" cy="1072753"/>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spTree>
      <p:nvGrpSpPr>
        <p:cNvPr id="81" name="Shape 81"/>
        <p:cNvGrpSpPr/>
        <p:nvPr/>
      </p:nvGrpSpPr>
      <p:grpSpPr>
        <a:xfrm>
          <a:off x="0" y="0"/>
          <a:ext cx="0" cy="0"/>
          <a:chOff x="0" y="0"/>
          <a:chExt cx="0" cy="0"/>
        </a:xfrm>
      </p:grpSpPr>
      <p:sp>
        <p:nvSpPr>
          <p:cNvPr id="82" name="Google Shape;82;p21"/>
          <p:cNvSpPr txBox="1"/>
          <p:nvPr>
            <p:ph idx="1" type="body"/>
          </p:nvPr>
        </p:nvSpPr>
        <p:spPr>
          <a:xfrm>
            <a:off x="904875" y="1563688"/>
            <a:ext cx="3671466" cy="3263504"/>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3" name="Google Shape;83;p21"/>
          <p:cNvSpPr txBox="1"/>
          <p:nvPr>
            <p:ph idx="2" type="body"/>
          </p:nvPr>
        </p:nvSpPr>
        <p:spPr>
          <a:xfrm>
            <a:off x="4959772" y="1563688"/>
            <a:ext cx="3671466" cy="3263504"/>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4" name="Google Shape;84;p21"/>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1"/>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88" name="Shape 88"/>
        <p:cNvGrpSpPr/>
        <p:nvPr/>
      </p:nvGrpSpPr>
      <p:grpSpPr>
        <a:xfrm>
          <a:off x="0" y="0"/>
          <a:ext cx="0" cy="0"/>
          <a:chOff x="0" y="0"/>
          <a:chExt cx="0" cy="0"/>
        </a:xfrm>
      </p:grpSpPr>
      <p:sp>
        <p:nvSpPr>
          <p:cNvPr id="89" name="Google Shape;89;p22"/>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2"/>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re seul">
  <p:cSld name="1_Titre seul">
    <p:spTree>
      <p:nvGrpSpPr>
        <p:cNvPr id="93" name="Shape 93"/>
        <p:cNvGrpSpPr/>
        <p:nvPr/>
      </p:nvGrpSpPr>
      <p:grpSpPr>
        <a:xfrm>
          <a:off x="0" y="0"/>
          <a:ext cx="0" cy="0"/>
          <a:chOff x="0" y="0"/>
          <a:chExt cx="0" cy="0"/>
        </a:xfrm>
      </p:grpSpPr>
      <p:sp>
        <p:nvSpPr>
          <p:cNvPr id="94" name="Google Shape;94;p23"/>
          <p:cNvSpPr/>
          <p:nvPr>
            <p:ph idx="2" type="pic"/>
          </p:nvPr>
        </p:nvSpPr>
        <p:spPr>
          <a:xfrm>
            <a:off x="904875" y="0"/>
            <a:ext cx="8239125" cy="5143500"/>
          </a:xfrm>
          <a:prstGeom prst="rect">
            <a:avLst/>
          </a:prstGeom>
          <a:noFill/>
          <a:ln>
            <a:noFill/>
          </a:ln>
        </p:spPr>
      </p:sp>
      <p:sp>
        <p:nvSpPr>
          <p:cNvPr id="95" name="Google Shape;95;p23"/>
          <p:cNvSpPr txBox="1"/>
          <p:nvPr>
            <p:ph type="title"/>
          </p:nvPr>
        </p:nvSpPr>
        <p:spPr>
          <a:xfrm>
            <a:off x="6405563" y="2571750"/>
            <a:ext cx="2738437" cy="2111375"/>
          </a:xfrm>
          <a:prstGeom prst="rect">
            <a:avLst/>
          </a:prstGeom>
          <a:solidFill>
            <a:schemeClr val="accent2"/>
          </a:solidFill>
          <a:ln>
            <a:noFill/>
          </a:ln>
        </p:spPr>
        <p:txBody>
          <a:bodyPr anchorCtr="0" anchor="ctr" bIns="46800" lIns="180000" spcFirstLastPara="1" rIns="72000" wrap="square" tIns="0">
            <a:normAutofit/>
          </a:bodyPr>
          <a:lstStyle>
            <a:lvl1pPr lvl="0" algn="l">
              <a:lnSpc>
                <a:spcPct val="90000"/>
              </a:lnSpc>
              <a:spcBef>
                <a:spcPts val="0"/>
              </a:spcBef>
              <a:spcAft>
                <a:spcPts val="0"/>
              </a:spcAft>
              <a:buClr>
                <a:schemeClr val="lt1"/>
              </a:buClr>
              <a:buSzPts val="3200"/>
              <a:buFont typeface="Libre Franklin"/>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3"/>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3"/>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re seul">
  <p:cSld name="2_Titre seul">
    <p:spTree>
      <p:nvGrpSpPr>
        <p:cNvPr id="99" name="Shape 99"/>
        <p:cNvGrpSpPr/>
        <p:nvPr/>
      </p:nvGrpSpPr>
      <p:grpSpPr>
        <a:xfrm>
          <a:off x="0" y="0"/>
          <a:ext cx="0" cy="0"/>
          <a:chOff x="0" y="0"/>
          <a:chExt cx="0" cy="0"/>
        </a:xfrm>
      </p:grpSpPr>
      <p:sp>
        <p:nvSpPr>
          <p:cNvPr id="100" name="Google Shape;100;p24"/>
          <p:cNvSpPr/>
          <p:nvPr>
            <p:ph idx="2" type="pic"/>
          </p:nvPr>
        </p:nvSpPr>
        <p:spPr>
          <a:xfrm>
            <a:off x="904875" y="0"/>
            <a:ext cx="7726363" cy="5143500"/>
          </a:xfrm>
          <a:prstGeom prst="rect">
            <a:avLst/>
          </a:prstGeom>
          <a:noFill/>
          <a:ln>
            <a:noFill/>
          </a:ln>
        </p:spPr>
      </p:sp>
      <p:sp>
        <p:nvSpPr>
          <p:cNvPr id="101" name="Google Shape;101;p24"/>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4"/>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re seul">
  <p:cSld name="3_Titre seul">
    <p:spTree>
      <p:nvGrpSpPr>
        <p:cNvPr id="104" name="Shape 104"/>
        <p:cNvGrpSpPr/>
        <p:nvPr/>
      </p:nvGrpSpPr>
      <p:grpSpPr>
        <a:xfrm>
          <a:off x="0" y="0"/>
          <a:ext cx="0" cy="0"/>
          <a:chOff x="0" y="0"/>
          <a:chExt cx="0" cy="0"/>
        </a:xfrm>
      </p:grpSpPr>
      <p:sp>
        <p:nvSpPr>
          <p:cNvPr id="105" name="Google Shape;105;p25"/>
          <p:cNvSpPr/>
          <p:nvPr>
            <p:ph idx="2" type="pic"/>
          </p:nvPr>
        </p:nvSpPr>
        <p:spPr>
          <a:xfrm>
            <a:off x="904875" y="3114674"/>
            <a:ext cx="8239125" cy="2028825"/>
          </a:xfrm>
          <a:prstGeom prst="rect">
            <a:avLst/>
          </a:prstGeom>
          <a:noFill/>
          <a:ln>
            <a:noFill/>
          </a:ln>
        </p:spPr>
      </p:sp>
      <p:sp>
        <p:nvSpPr>
          <p:cNvPr id="106" name="Google Shape;106;p25"/>
          <p:cNvSpPr txBox="1"/>
          <p:nvPr>
            <p:ph idx="1" type="body"/>
          </p:nvPr>
        </p:nvSpPr>
        <p:spPr>
          <a:xfrm>
            <a:off x="904875" y="1563688"/>
            <a:ext cx="7646988" cy="1436687"/>
          </a:xfrm>
          <a:prstGeom prst="rect">
            <a:avLst/>
          </a:prstGeom>
          <a:noFill/>
          <a:ln>
            <a:noFill/>
          </a:ln>
        </p:spPr>
        <p:txBody>
          <a:bodyPr anchorCtr="0" anchor="t" bIns="45700" lIns="180000" spcFirstLastPara="1" rIns="91425" wrap="square" tIns="45700">
            <a:normAutofit/>
          </a:bodyPr>
          <a:lstStyle>
            <a:lvl1pPr indent="-331470" lvl="0" marL="457200" algn="l">
              <a:lnSpc>
                <a:spcPct val="90000"/>
              </a:lnSpc>
              <a:spcBef>
                <a:spcPts val="750"/>
              </a:spcBef>
              <a:spcAft>
                <a:spcPts val="0"/>
              </a:spcAft>
              <a:buSzPts val="1620"/>
              <a:buChar char="▪"/>
              <a:defRPr/>
            </a:lvl1pPr>
            <a:lvl2pPr indent="-342900" lvl="1" marL="914400" algn="l">
              <a:lnSpc>
                <a:spcPct val="90000"/>
              </a:lnSpc>
              <a:spcBef>
                <a:spcPts val="375"/>
              </a:spcBef>
              <a:spcAft>
                <a:spcPts val="0"/>
              </a:spcAft>
              <a:buSzPts val="1800"/>
              <a:buChar char="•"/>
              <a:defRPr/>
            </a:lvl2pPr>
            <a:lvl3pPr indent="-331470" lvl="2" marL="1371600" algn="l">
              <a:lnSpc>
                <a:spcPct val="90000"/>
              </a:lnSpc>
              <a:spcBef>
                <a:spcPts val="375"/>
              </a:spcBef>
              <a:spcAft>
                <a:spcPts val="0"/>
              </a:spcAft>
              <a:buClr>
                <a:schemeClr val="dk1"/>
              </a:buClr>
              <a:buSzPts val="1620"/>
              <a:buChar char="▪"/>
              <a:defRPr/>
            </a:lvl3pPr>
            <a:lvl4pPr indent="-314325" lvl="3" marL="1828800" algn="l">
              <a:lnSpc>
                <a:spcPct val="90000"/>
              </a:lnSpc>
              <a:spcBef>
                <a:spcPts val="375"/>
              </a:spcBef>
              <a:spcAft>
                <a:spcPts val="0"/>
              </a:spcAft>
              <a:buClr>
                <a:schemeClr val="dk1"/>
              </a:buClr>
              <a:buSzPts val="1350"/>
              <a:buChar char="•"/>
              <a:defRPr>
                <a:latin typeface="Arial"/>
                <a:ea typeface="Arial"/>
                <a:cs typeface="Arial"/>
                <a:sym typeface="Arial"/>
              </a:defRPr>
            </a:lvl4pPr>
            <a:lvl5pPr indent="-314325" lvl="4" marL="2286000" algn="l">
              <a:lnSpc>
                <a:spcPct val="90000"/>
              </a:lnSpc>
              <a:spcBef>
                <a:spcPts val="375"/>
              </a:spcBef>
              <a:spcAft>
                <a:spcPts val="0"/>
              </a:spcAft>
              <a:buClr>
                <a:schemeClr val="dk1"/>
              </a:buClr>
              <a:buSzPts val="1350"/>
              <a:buChar char="•"/>
              <a:defRPr>
                <a:latin typeface="Arial"/>
                <a:ea typeface="Arial"/>
                <a:cs typeface="Arial"/>
                <a:sym typeface="Aria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7" name="Google Shape;107;p25"/>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5"/>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0" name="Google Shape;110;p25"/>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111" name="Shape 111"/>
        <p:cNvGrpSpPr/>
        <p:nvPr/>
      </p:nvGrpSpPr>
      <p:grpSpPr>
        <a:xfrm>
          <a:off x="0" y="0"/>
          <a:ext cx="0" cy="0"/>
          <a:chOff x="0" y="0"/>
          <a:chExt cx="0" cy="0"/>
        </a:xfrm>
      </p:grpSpPr>
      <p:sp>
        <p:nvSpPr>
          <p:cNvPr id="112" name="Google Shape;112;p26"/>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6"/>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74240" y="282039"/>
            <a:ext cx="6786245" cy="472490"/>
          </a:xfrm>
          <a:prstGeom prst="rect">
            <a:avLst/>
          </a:prstGeom>
          <a:noFill/>
          <a:ln>
            <a:noFill/>
          </a:ln>
        </p:spPr>
        <p:txBody>
          <a:bodyPr anchorCtr="0" anchor="t" bIns="46800" lIns="180000" spcFirstLastPara="1" rIns="72000" wrap="square" tIns="0">
            <a:normAutofit/>
          </a:bodyPr>
          <a:lstStyle>
            <a:lvl1pPr lvl="0" marR="0" rtl="0" algn="l">
              <a:lnSpc>
                <a:spcPct val="90000"/>
              </a:lnSpc>
              <a:spcBef>
                <a:spcPts val="0"/>
              </a:spcBef>
              <a:spcAft>
                <a:spcPts val="0"/>
              </a:spcAft>
              <a:buClr>
                <a:schemeClr val="dk1"/>
              </a:buClr>
              <a:buSzPts val="3200"/>
              <a:buFont typeface="Libre Franklin"/>
              <a:buNone/>
              <a:defRPr b="1" i="0" sz="3200" u="none" cap="none" strike="noStrike">
                <a:solidFill>
                  <a:schemeClr val="dk1"/>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904875" y="1563688"/>
            <a:ext cx="7726363" cy="3386772"/>
          </a:xfrm>
          <a:prstGeom prst="rect">
            <a:avLst/>
          </a:prstGeom>
          <a:noFill/>
          <a:ln>
            <a:noFill/>
          </a:ln>
        </p:spPr>
        <p:txBody>
          <a:bodyPr anchorCtr="0" anchor="t" bIns="45700" lIns="180000" spcFirstLastPara="1" rIns="91425" wrap="square" tIns="45700">
            <a:normAutofit/>
          </a:bodyPr>
          <a:lstStyle>
            <a:lvl1pPr indent="-331470" lvl="0" marL="457200" marR="0" rtl="0" algn="l">
              <a:lnSpc>
                <a:spcPct val="90000"/>
              </a:lnSpc>
              <a:spcBef>
                <a:spcPts val="750"/>
              </a:spcBef>
              <a:spcAft>
                <a:spcPts val="0"/>
              </a:spcAft>
              <a:buClr>
                <a:schemeClr val="accent1"/>
              </a:buClr>
              <a:buSzPts val="1620"/>
              <a:buFont typeface="Noto Sans Symbols"/>
              <a:buChar char="▪"/>
              <a:defRPr b="0" i="0" sz="1800" u="none" cap="none" strike="noStrike">
                <a:solidFill>
                  <a:schemeClr val="dk1"/>
                </a:solidFill>
                <a:latin typeface="Arial"/>
                <a:ea typeface="Arial"/>
                <a:cs typeface="Arial"/>
                <a:sym typeface="Arial"/>
              </a:defRPr>
            </a:lvl1pPr>
            <a:lvl2pPr indent="-330200" lvl="1" marL="914400" marR="0" rtl="0" algn="l">
              <a:lnSpc>
                <a:spcPct val="90000"/>
              </a:lnSpc>
              <a:spcBef>
                <a:spcPts val="375"/>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Noto Sans Symbols"/>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2" name="Google Shape;12;p11"/>
          <p:cNvSpPr txBox="1"/>
          <p:nvPr>
            <p:ph idx="10" type="dt"/>
          </p:nvPr>
        </p:nvSpPr>
        <p:spPr>
          <a:xfrm rot="-5400000">
            <a:off x="-1221413" y="2778452"/>
            <a:ext cx="3341052" cy="91152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accen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3" name="Google Shape;13;p11"/>
          <p:cNvSpPr txBox="1"/>
          <p:nvPr>
            <p:ph idx="11" type="ftr"/>
          </p:nvPr>
        </p:nvSpPr>
        <p:spPr>
          <a:xfrm rot="-5400000">
            <a:off x="7115989" y="1874064"/>
            <a:ext cx="3543260" cy="512762"/>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7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14" name="Google Shape;14;p1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lvl1pPr indent="0" lvl="0" marL="0" marR="0" rtl="0" algn="ctr">
              <a:spcBef>
                <a:spcPts val="0"/>
              </a:spcBef>
              <a:buNone/>
              <a:defRPr b="1" i="0" sz="700" u="none" cap="none" strike="noStrike">
                <a:solidFill>
                  <a:schemeClr val="dk1"/>
                </a:solidFill>
                <a:latin typeface="Libre Franklin"/>
                <a:ea typeface="Libre Franklin"/>
                <a:cs typeface="Libre Franklin"/>
                <a:sym typeface="Libre Franklin"/>
              </a:defRPr>
            </a:lvl1pPr>
            <a:lvl2pPr indent="0" lvl="1" marL="0" marR="0" rtl="0" algn="ctr">
              <a:spcBef>
                <a:spcPts val="0"/>
              </a:spcBef>
              <a:buNone/>
              <a:defRPr b="1" i="0" sz="700" u="none" cap="none" strike="noStrike">
                <a:solidFill>
                  <a:schemeClr val="dk1"/>
                </a:solidFill>
                <a:latin typeface="Libre Franklin"/>
                <a:ea typeface="Libre Franklin"/>
                <a:cs typeface="Libre Franklin"/>
                <a:sym typeface="Libre Franklin"/>
              </a:defRPr>
            </a:lvl2pPr>
            <a:lvl3pPr indent="0" lvl="2" marL="0" marR="0" rtl="0" algn="ctr">
              <a:spcBef>
                <a:spcPts val="0"/>
              </a:spcBef>
              <a:buNone/>
              <a:defRPr b="1" i="0" sz="700" u="none" cap="none" strike="noStrike">
                <a:solidFill>
                  <a:schemeClr val="dk1"/>
                </a:solidFill>
                <a:latin typeface="Libre Franklin"/>
                <a:ea typeface="Libre Franklin"/>
                <a:cs typeface="Libre Franklin"/>
                <a:sym typeface="Libre Franklin"/>
              </a:defRPr>
            </a:lvl3pPr>
            <a:lvl4pPr indent="0" lvl="3" marL="0" marR="0" rtl="0" algn="ctr">
              <a:spcBef>
                <a:spcPts val="0"/>
              </a:spcBef>
              <a:buNone/>
              <a:defRPr b="1" i="0" sz="700" u="none" cap="none" strike="noStrike">
                <a:solidFill>
                  <a:schemeClr val="dk1"/>
                </a:solidFill>
                <a:latin typeface="Libre Franklin"/>
                <a:ea typeface="Libre Franklin"/>
                <a:cs typeface="Libre Franklin"/>
                <a:sym typeface="Libre Franklin"/>
              </a:defRPr>
            </a:lvl4pPr>
            <a:lvl5pPr indent="0" lvl="4" marL="0" marR="0" rtl="0" algn="ctr">
              <a:spcBef>
                <a:spcPts val="0"/>
              </a:spcBef>
              <a:buNone/>
              <a:defRPr b="1" i="0" sz="700" u="none" cap="none" strike="noStrike">
                <a:solidFill>
                  <a:schemeClr val="dk1"/>
                </a:solidFill>
                <a:latin typeface="Libre Franklin"/>
                <a:ea typeface="Libre Franklin"/>
                <a:cs typeface="Libre Franklin"/>
                <a:sym typeface="Libre Franklin"/>
              </a:defRPr>
            </a:lvl5pPr>
            <a:lvl6pPr indent="0" lvl="5" marL="0" marR="0" rtl="0" algn="ctr">
              <a:spcBef>
                <a:spcPts val="0"/>
              </a:spcBef>
              <a:buNone/>
              <a:defRPr b="1" i="0" sz="700" u="none" cap="none" strike="noStrike">
                <a:solidFill>
                  <a:schemeClr val="dk1"/>
                </a:solidFill>
                <a:latin typeface="Libre Franklin"/>
                <a:ea typeface="Libre Franklin"/>
                <a:cs typeface="Libre Franklin"/>
                <a:sym typeface="Libre Franklin"/>
              </a:defRPr>
            </a:lvl6pPr>
            <a:lvl7pPr indent="0" lvl="6" marL="0" marR="0" rtl="0" algn="ctr">
              <a:spcBef>
                <a:spcPts val="0"/>
              </a:spcBef>
              <a:buNone/>
              <a:defRPr b="1" i="0" sz="700" u="none" cap="none" strike="noStrike">
                <a:solidFill>
                  <a:schemeClr val="dk1"/>
                </a:solidFill>
                <a:latin typeface="Libre Franklin"/>
                <a:ea typeface="Libre Franklin"/>
                <a:cs typeface="Libre Franklin"/>
                <a:sym typeface="Libre Franklin"/>
              </a:defRPr>
            </a:lvl7pPr>
            <a:lvl8pPr indent="0" lvl="7" marL="0" marR="0" rtl="0" algn="ctr">
              <a:spcBef>
                <a:spcPts val="0"/>
              </a:spcBef>
              <a:buNone/>
              <a:defRPr b="1" i="0" sz="700" u="none" cap="none" strike="noStrike">
                <a:solidFill>
                  <a:schemeClr val="dk1"/>
                </a:solidFill>
                <a:latin typeface="Libre Franklin"/>
                <a:ea typeface="Libre Franklin"/>
                <a:cs typeface="Libre Franklin"/>
                <a:sym typeface="Libre Franklin"/>
              </a:defRPr>
            </a:lvl8pPr>
            <a:lvl9pPr indent="0" lvl="8" marL="0" marR="0" rtl="0" algn="ctr">
              <a:spcBef>
                <a:spcPts val="0"/>
              </a:spcBef>
              <a:buNone/>
              <a:defRPr b="1" i="0" sz="700" u="none" cap="none" strike="noStrike">
                <a:solidFill>
                  <a:schemeClr val="dk1"/>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15" name="Google Shape;15;p11"/>
          <p:cNvSpPr/>
          <p:nvPr/>
        </p:nvSpPr>
        <p:spPr>
          <a:xfrm rot="-5400000">
            <a:off x="430003" y="4897709"/>
            <a:ext cx="45719" cy="5978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6" name="Google Shape;16;p11"/>
          <p:cNvSpPr/>
          <p:nvPr/>
        </p:nvSpPr>
        <p:spPr>
          <a:xfrm>
            <a:off x="248806" y="885115"/>
            <a:ext cx="5121017" cy="28800"/>
          </a:xfrm>
          <a:custGeom>
            <a:rect b="b" l="l" r="r" t="t"/>
            <a:pathLst>
              <a:path extrusionOk="0" h="28800" w="5121017">
                <a:moveTo>
                  <a:pt x="0" y="0"/>
                </a:moveTo>
                <a:lnTo>
                  <a:pt x="5121017" y="0"/>
                </a:lnTo>
                <a:lnTo>
                  <a:pt x="5121017" y="28800"/>
                </a:lnTo>
                <a:lnTo>
                  <a:pt x="0" y="28800"/>
                </a:lnTo>
                <a:lnTo>
                  <a:pt x="0" y="0"/>
                </a:lnTo>
                <a:close/>
              </a:path>
            </a:pathLst>
          </a:custGeom>
          <a:gradFill>
            <a:gsLst>
              <a:gs pos="0">
                <a:srgbClr val="770000"/>
              </a:gs>
              <a:gs pos="30000">
                <a:srgbClr val="AC0000"/>
              </a:gs>
              <a:gs pos="61000">
                <a:srgbClr val="CE0000"/>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126">
          <p15:clr>
            <a:srgbClr val="F26B43"/>
          </p15:clr>
        </p15:guide>
        <p15:guide id="3" pos="5602">
          <p15:clr>
            <a:srgbClr val="F26B43"/>
          </p15:clr>
        </p15:guide>
        <p15:guide id="4" pos="2880">
          <p15:clr>
            <a:srgbClr val="F26B43"/>
          </p15:clr>
        </p15:guide>
        <p15:guide id="5" orient="horz" pos="123">
          <p15:clr>
            <a:srgbClr val="F26B43"/>
          </p15:clr>
        </p15:guide>
        <p15:guide id="6" orient="horz" pos="3117">
          <p15:clr>
            <a:srgbClr val="F26B43"/>
          </p15:clr>
        </p15:guide>
        <p15:guide id="7" pos="570">
          <p15:clr>
            <a:srgbClr val="F26B43"/>
          </p15:clr>
        </p15:guide>
        <p15:guide id="8" pos="1155">
          <p15:clr>
            <a:srgbClr val="F26B43"/>
          </p15:clr>
        </p15:guide>
        <p15:guide id="9" pos="1728">
          <p15:clr>
            <a:srgbClr val="F26B43"/>
          </p15:clr>
        </p15:guide>
        <p15:guide id="10" pos="2304">
          <p15:clr>
            <a:srgbClr val="F26B43"/>
          </p15:clr>
        </p15:guide>
        <p15:guide id="11" pos="3456">
          <p15:clr>
            <a:srgbClr val="F26B43"/>
          </p15:clr>
        </p15:guide>
        <p15:guide id="12" pos="4035">
          <p15:clr>
            <a:srgbClr val="F26B43"/>
          </p15:clr>
        </p15:guide>
        <p15:guide id="13" pos="4608">
          <p15:clr>
            <a:srgbClr val="F26B43"/>
          </p15:clr>
        </p15:guide>
        <p15:guide id="14" pos="5180">
          <p15:clr>
            <a:srgbClr val="F26B43"/>
          </p15:clr>
        </p15:guide>
        <p15:guide id="15" orient="horz" pos="490">
          <p15:clr>
            <a:srgbClr val="F26B43"/>
          </p15:clr>
        </p15:guide>
        <p15:guide id="16" orient="horz" pos="985">
          <p15:clr>
            <a:srgbClr val="F26B43"/>
          </p15:clr>
        </p15:guide>
        <p15:guide id="17" orient="horz" pos="1475">
          <p15:clr>
            <a:srgbClr val="F26B43"/>
          </p15:clr>
        </p15:guide>
        <p15:guide id="18" orient="horz" pos="1962">
          <p15:clr>
            <a:srgbClr val="F26B43"/>
          </p15:clr>
        </p15:guide>
        <p15:guide id="19" orient="horz" pos="2458">
          <p15:clr>
            <a:srgbClr val="F26B43"/>
          </p15:clr>
        </p15:guide>
        <p15:guide id="20" orient="horz" pos="2950">
          <p15:clr>
            <a:srgbClr val="F26B43"/>
          </p15:clr>
        </p15:guide>
        <p15:guide id="21" pos="5437">
          <p15:clr>
            <a:srgbClr val="F26B43"/>
          </p15:clr>
        </p15:guide>
        <p15:guide id="22" orient="horz">
          <p15:clr>
            <a:srgbClr val="F26B43"/>
          </p15:clr>
        </p15:guide>
        <p15:guide id="23" pos="5760">
          <p15:clr>
            <a:srgbClr val="F26B43"/>
          </p15:clr>
        </p15:guide>
        <p15:guide id="24" orient="horz" pos="3240">
          <p15:clr>
            <a:srgbClr val="F26B43"/>
          </p15:clr>
        </p15:guide>
        <p15:guide id="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
          <p:cNvSpPr txBox="1"/>
          <p:nvPr>
            <p:ph idx="1" type="body"/>
          </p:nvPr>
        </p:nvSpPr>
        <p:spPr>
          <a:xfrm>
            <a:off x="5981700" y="1254387"/>
            <a:ext cx="2445900" cy="1953000"/>
          </a:xfrm>
          <a:prstGeom prst="rect">
            <a:avLst/>
          </a:prstGeom>
          <a:noFill/>
          <a:ln>
            <a:noFill/>
          </a:ln>
        </p:spPr>
        <p:txBody>
          <a:bodyPr anchorCtr="0" anchor="t" bIns="45700" lIns="180000" spcFirstLastPara="1" rIns="91425" wrap="square" tIns="45700">
            <a:normAutofit/>
          </a:bodyPr>
          <a:lstStyle/>
          <a:p>
            <a:pPr indent="0" lvl="0" marL="0" rtl="0" algn="l">
              <a:lnSpc>
                <a:spcPct val="90000"/>
              </a:lnSpc>
              <a:spcBef>
                <a:spcPts val="0"/>
              </a:spcBef>
              <a:spcAft>
                <a:spcPts val="0"/>
              </a:spcAft>
              <a:buSzPts val="1620"/>
              <a:buNone/>
            </a:pPr>
            <a:r>
              <a:rPr lang="en-US" u="sng"/>
              <a:t>GROUP</a:t>
            </a:r>
            <a:endParaRPr/>
          </a:p>
          <a:p>
            <a:pPr indent="0" lvl="0" marL="0" rtl="0" algn="l">
              <a:lnSpc>
                <a:spcPct val="90000"/>
              </a:lnSpc>
              <a:spcBef>
                <a:spcPts val="750"/>
              </a:spcBef>
              <a:spcAft>
                <a:spcPts val="0"/>
              </a:spcAft>
              <a:buSzPts val="1620"/>
              <a:buNone/>
            </a:pPr>
            <a:r>
              <a:t/>
            </a:r>
            <a:endParaRPr/>
          </a:p>
          <a:p>
            <a:pPr indent="-171450" lvl="0" marL="171450" rtl="0" algn="l">
              <a:lnSpc>
                <a:spcPct val="90000"/>
              </a:lnSpc>
              <a:spcBef>
                <a:spcPts val="750"/>
              </a:spcBef>
              <a:spcAft>
                <a:spcPts val="0"/>
              </a:spcAft>
              <a:buSzPts val="1620"/>
              <a:buChar char="▪"/>
            </a:pPr>
            <a:r>
              <a:rPr lang="en-US"/>
              <a:t>NAME</a:t>
            </a:r>
            <a:endParaRPr/>
          </a:p>
          <a:p>
            <a:pPr indent="-171450" lvl="0" marL="171450" rtl="0" algn="l">
              <a:lnSpc>
                <a:spcPct val="90000"/>
              </a:lnSpc>
              <a:spcBef>
                <a:spcPts val="750"/>
              </a:spcBef>
              <a:spcAft>
                <a:spcPts val="0"/>
              </a:spcAft>
              <a:buSzPts val="1620"/>
              <a:buChar char="▪"/>
            </a:pPr>
            <a:r>
              <a:rPr lang="en-US"/>
              <a:t>NAME</a:t>
            </a:r>
            <a:endParaRPr/>
          </a:p>
          <a:p>
            <a:pPr indent="-171450" lvl="0" marL="171450" rtl="0" algn="l">
              <a:lnSpc>
                <a:spcPct val="90000"/>
              </a:lnSpc>
              <a:spcBef>
                <a:spcPts val="750"/>
              </a:spcBef>
              <a:spcAft>
                <a:spcPts val="0"/>
              </a:spcAft>
              <a:buSzPts val="1620"/>
              <a:buChar char="▪"/>
            </a:pPr>
            <a:r>
              <a:rPr lang="en-US"/>
              <a:t>NAME</a:t>
            </a:r>
            <a:endParaRPr/>
          </a:p>
        </p:txBody>
      </p:sp>
      <p:sp>
        <p:nvSpPr>
          <p:cNvPr id="120" name="Google Shape;120;p1"/>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21" name="Google Shape;121;p1"/>
          <p:cNvSpPr/>
          <p:nvPr/>
        </p:nvSpPr>
        <p:spPr>
          <a:xfrm>
            <a:off x="0" y="823166"/>
            <a:ext cx="5638800" cy="33233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Arial"/>
              <a:ea typeface="Arial"/>
              <a:cs typeface="Arial"/>
              <a:sym typeface="Arial"/>
            </a:endParaRPr>
          </a:p>
        </p:txBody>
      </p:sp>
      <p:sp>
        <p:nvSpPr>
          <p:cNvPr id="122" name="Google Shape;122;p1"/>
          <p:cNvSpPr txBox="1"/>
          <p:nvPr>
            <p:ph type="title"/>
          </p:nvPr>
        </p:nvSpPr>
        <p:spPr>
          <a:xfrm>
            <a:off x="169123" y="1456018"/>
            <a:ext cx="5349028" cy="2690532"/>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lt1"/>
              </a:buClr>
              <a:buSzPts val="3600"/>
              <a:buFont typeface="Libre Franklin"/>
              <a:buNone/>
            </a:pPr>
            <a:r>
              <a:rPr b="0" lang="en-US" sz="3600">
                <a:solidFill>
                  <a:schemeClr val="lt1"/>
                </a:solidFill>
              </a:rPr>
              <a:t>CASE STUDY 2</a:t>
            </a:r>
            <a:br>
              <a:rPr b="0" lang="en-US" sz="3600">
                <a:solidFill>
                  <a:schemeClr val="lt1"/>
                </a:solidFill>
              </a:rPr>
            </a:br>
            <a:br>
              <a:rPr b="0" lang="en-US" sz="3600">
                <a:solidFill>
                  <a:schemeClr val="lt1"/>
                </a:solidFill>
              </a:rPr>
            </a:br>
            <a:r>
              <a:rPr b="0" lang="en-US" sz="3600">
                <a:solidFill>
                  <a:schemeClr val="lt1"/>
                </a:solidFill>
              </a:rPr>
              <a:t>Distribution System Operator (DSO) in Addis Ababa </a:t>
            </a:r>
            <a:endParaRPr b="0" sz="3600">
              <a:solidFill>
                <a:schemeClr val="lt1"/>
              </a:solidFill>
            </a:endParaRPr>
          </a:p>
        </p:txBody>
      </p:sp>
      <p:sp>
        <p:nvSpPr>
          <p:cNvPr id="123" name="Google Shape;123;p1"/>
          <p:cNvSpPr/>
          <p:nvPr/>
        </p:nvSpPr>
        <p:spPr>
          <a:xfrm>
            <a:off x="1" y="4898177"/>
            <a:ext cx="9144000" cy="245323"/>
          </a:xfrm>
          <a:prstGeom prst="rect">
            <a:avLst/>
          </a:prstGeom>
          <a:solidFill>
            <a:srgbClr val="00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 name="Google Shape;124;p1"/>
          <p:cNvSpPr txBox="1"/>
          <p:nvPr/>
        </p:nvSpPr>
        <p:spPr>
          <a:xfrm>
            <a:off x="0" y="4912708"/>
            <a:ext cx="9133383" cy="2307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900"/>
              <a:buFont typeface="Avenir"/>
              <a:buNone/>
            </a:pPr>
            <a:r>
              <a:rPr b="0" i="0" lang="en-US" sz="900" u="none" cap="none" strike="noStrike">
                <a:solidFill>
                  <a:schemeClr val="lt1"/>
                </a:solidFill>
                <a:latin typeface="Avenir"/>
                <a:ea typeface="Avenir"/>
                <a:cs typeface="Avenir"/>
                <a:sym typeface="Avenir"/>
              </a:rPr>
              <a:t>This project receives funding from the European Union’s Horizon 2023 Framework Programme for Research and Innovation under Grant Agreement no. 101118123</a:t>
            </a:r>
            <a:endParaRPr b="0" i="0" sz="900" u="none" cap="none" strike="noStrike">
              <a:solidFill>
                <a:schemeClr val="lt1"/>
              </a:solidFill>
              <a:latin typeface="Avenir"/>
              <a:ea typeface="Avenir"/>
              <a:cs typeface="Avenir"/>
              <a:sym typeface="Aveni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Rationale</a:t>
            </a:r>
            <a:endParaRPr b="0" sz="3600"/>
          </a:p>
        </p:txBody>
      </p:sp>
      <p:sp>
        <p:nvSpPr>
          <p:cNvPr id="131" name="Google Shape;131;p2"/>
          <p:cNvSpPr txBox="1"/>
          <p:nvPr/>
        </p:nvSpPr>
        <p:spPr>
          <a:xfrm>
            <a:off x="2907237" y="1215845"/>
            <a:ext cx="6192313" cy="3620986"/>
          </a:xfrm>
          <a:prstGeom prst="rect">
            <a:avLst/>
          </a:prstGeom>
          <a:noFill/>
          <a:ln>
            <a:noFill/>
          </a:ln>
        </p:spPr>
        <p:txBody>
          <a:bodyPr anchorCtr="0" anchor="t" bIns="45700" lIns="180000" spcFirstLastPara="1" rIns="91425" wrap="square" tIns="45700">
            <a:normAutofit fontScale="92500" lnSpcReduction="20000"/>
          </a:bodyPr>
          <a:lstStyle/>
          <a:p>
            <a:pPr indent="-171450" lvl="0" marL="171450" marR="0" rtl="0" algn="l">
              <a:lnSpc>
                <a:spcPct val="107000"/>
              </a:lnSpc>
              <a:spcBef>
                <a:spcPts val="0"/>
              </a:spcBef>
              <a:spcAft>
                <a:spcPts val="0"/>
              </a:spcAft>
              <a:buClr>
                <a:schemeClr val="accent1"/>
              </a:buClr>
              <a:buSzPct val="90000"/>
              <a:buFont typeface="Noto Sans Symbols"/>
              <a:buChar char="▪"/>
            </a:pPr>
            <a:r>
              <a:rPr b="0" i="0" lang="en-US" sz="1600" u="none" cap="none" strike="noStrike">
                <a:solidFill>
                  <a:schemeClr val="dk1"/>
                </a:solidFill>
                <a:latin typeface="Calibri"/>
                <a:ea typeface="Calibri"/>
                <a:cs typeface="Calibri"/>
                <a:sym typeface="Calibri"/>
              </a:rPr>
              <a:t>You are the </a:t>
            </a:r>
            <a:r>
              <a:rPr b="1" i="0" lang="en-US" sz="1600" u="none" cap="none" strike="noStrike">
                <a:solidFill>
                  <a:schemeClr val="dk1"/>
                </a:solidFill>
                <a:latin typeface="Calibri"/>
                <a:ea typeface="Calibri"/>
                <a:cs typeface="Calibri"/>
                <a:sym typeface="Calibri"/>
              </a:rPr>
              <a:t>Distribution System Operator </a:t>
            </a:r>
            <a:r>
              <a:rPr b="0" i="0" lang="en-US" sz="1600" u="none" cap="none" strike="noStrike">
                <a:solidFill>
                  <a:schemeClr val="dk1"/>
                </a:solidFill>
                <a:latin typeface="Calibri"/>
                <a:ea typeface="Calibri"/>
                <a:cs typeface="Calibri"/>
                <a:sym typeface="Calibri"/>
              </a:rPr>
              <a:t>(i.e. the Ethiopian Electric Utility) responsible for ensuring the reliability of the electricity grid in Addis Ababa. With the rapid uptake of electric vehicles (EVs), you are concerned about the impact of charging loads on the power network.</a:t>
            </a:r>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600" u="none" cap="none" strike="noStrike">
                <a:solidFill>
                  <a:schemeClr val="dk1"/>
                </a:solidFill>
                <a:latin typeface="Calibri"/>
                <a:ea typeface="Calibri"/>
                <a:cs typeface="Calibri"/>
                <a:sym typeface="Calibri"/>
              </a:rPr>
              <a:t>As a DSO, your primary goal is to anticipate </a:t>
            </a:r>
            <a:r>
              <a:rPr b="1" i="0" lang="en-US" sz="1600" u="none" cap="none" strike="noStrike">
                <a:solidFill>
                  <a:schemeClr val="dk1"/>
                </a:solidFill>
                <a:latin typeface="Calibri"/>
                <a:ea typeface="Calibri"/>
                <a:cs typeface="Calibri"/>
                <a:sym typeface="Calibri"/>
              </a:rPr>
              <a:t>where</a:t>
            </a:r>
            <a:r>
              <a:rPr b="0" i="0" lang="en-US" sz="1600" u="none" cap="none" strike="noStrike">
                <a:solidFill>
                  <a:schemeClr val="dk1"/>
                </a:solidFill>
                <a:latin typeface="Calibri"/>
                <a:ea typeface="Calibri"/>
                <a:cs typeface="Calibri"/>
                <a:sym typeface="Calibri"/>
              </a:rPr>
              <a:t> and </a:t>
            </a:r>
            <a:r>
              <a:rPr b="1" i="0" lang="en-US" sz="1600" u="none" cap="none" strike="noStrike">
                <a:solidFill>
                  <a:schemeClr val="dk1"/>
                </a:solidFill>
                <a:latin typeface="Calibri"/>
                <a:ea typeface="Calibri"/>
                <a:cs typeface="Calibri"/>
                <a:sym typeface="Calibri"/>
              </a:rPr>
              <a:t>when</a:t>
            </a:r>
            <a:r>
              <a:rPr b="0" i="0" lang="en-US" sz="1600" u="none" cap="none" strike="noStrike">
                <a:solidFill>
                  <a:schemeClr val="dk1"/>
                </a:solidFill>
                <a:latin typeface="Calibri"/>
                <a:ea typeface="Calibri"/>
                <a:cs typeface="Calibri"/>
                <a:sym typeface="Calibri"/>
              </a:rPr>
              <a:t> potential new </a:t>
            </a:r>
            <a:r>
              <a:rPr b="1" i="0" lang="en-US" sz="1600" u="none" cap="none" strike="noStrike">
                <a:solidFill>
                  <a:schemeClr val="dk1"/>
                </a:solidFill>
                <a:latin typeface="Calibri"/>
                <a:ea typeface="Calibri"/>
                <a:cs typeface="Calibri"/>
                <a:sym typeface="Calibri"/>
              </a:rPr>
              <a:t>peak loads </a:t>
            </a:r>
            <a:r>
              <a:rPr b="0" i="0" lang="en-US" sz="1600" u="none" cap="none" strike="noStrike">
                <a:solidFill>
                  <a:schemeClr val="dk1"/>
                </a:solidFill>
                <a:latin typeface="Calibri"/>
                <a:ea typeface="Calibri"/>
                <a:cs typeface="Calibri"/>
                <a:sym typeface="Calibri"/>
              </a:rPr>
              <a:t>will occur in order to anticipate potential grid reinforcements and think about strategies to minimize them.</a:t>
            </a:r>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600" u="none" cap="none" strike="noStrike">
                <a:solidFill>
                  <a:schemeClr val="dk1"/>
                </a:solidFill>
                <a:latin typeface="Calibri"/>
                <a:ea typeface="Calibri"/>
                <a:cs typeface="Calibri"/>
                <a:sym typeface="Calibri"/>
              </a:rPr>
              <a:t>Your objective is to obtain a </a:t>
            </a:r>
            <a:r>
              <a:rPr b="1" i="0" lang="en-US" sz="1600" u="none" cap="none" strike="noStrike">
                <a:solidFill>
                  <a:schemeClr val="dk1"/>
                </a:solidFill>
                <a:latin typeface="Calibri"/>
                <a:ea typeface="Calibri"/>
                <a:cs typeface="Calibri"/>
                <a:sym typeface="Calibri"/>
              </a:rPr>
              <a:t>first-order understanding</a:t>
            </a:r>
            <a:r>
              <a:rPr b="0" i="0" lang="en-US" sz="1600" u="none" cap="none" strike="noStrike">
                <a:solidFill>
                  <a:schemeClr val="dk1"/>
                </a:solidFill>
                <a:latin typeface="Calibri"/>
                <a:ea typeface="Calibri"/>
                <a:cs typeface="Calibri"/>
                <a:sym typeface="Calibri"/>
              </a:rPr>
              <a:t> of:</a:t>
            </a:r>
            <a:endParaRPr b="0" i="0" sz="16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accent1"/>
              </a:buClr>
              <a:buSzPct val="72072"/>
              <a:buFont typeface="Libre Franklin"/>
              <a:buAutoNum type="arabicPeriod"/>
            </a:pPr>
            <a:r>
              <a:rPr b="0" i="0" lang="en-US" sz="1500" u="none" cap="none" strike="noStrike">
                <a:solidFill>
                  <a:schemeClr val="dk1"/>
                </a:solidFill>
                <a:latin typeface="Calibri"/>
                <a:ea typeface="Calibri"/>
                <a:cs typeface="Calibri"/>
                <a:sym typeface="Calibri"/>
              </a:rPr>
              <a:t>Where and when the charging demand occurs</a:t>
            </a:r>
            <a:endParaRPr/>
          </a:p>
          <a:p>
            <a:pPr indent="-342900" lvl="1" marL="685800" marR="0" rtl="0" algn="l">
              <a:lnSpc>
                <a:spcPct val="107000"/>
              </a:lnSpc>
              <a:spcBef>
                <a:spcPts val="1175"/>
              </a:spcBef>
              <a:spcAft>
                <a:spcPts val="0"/>
              </a:spcAft>
              <a:buClr>
                <a:schemeClr val="accent1"/>
              </a:buClr>
              <a:buSzPct val="72072"/>
              <a:buFont typeface="Libre Franklin"/>
              <a:buAutoNum type="arabicPeriod"/>
            </a:pPr>
            <a:r>
              <a:rPr b="0" i="0" lang="en-US" sz="1500" u="none" cap="none" strike="noStrike">
                <a:solidFill>
                  <a:schemeClr val="dk1"/>
                </a:solidFill>
                <a:latin typeface="Calibri"/>
                <a:ea typeface="Calibri"/>
                <a:cs typeface="Calibri"/>
                <a:sym typeface="Calibri"/>
              </a:rPr>
              <a:t>Differences in patterns between zones with a lot of home charging and others with charging at workplaces and POIs</a:t>
            </a:r>
            <a:endParaRPr/>
          </a:p>
          <a:p>
            <a:pPr indent="-342900" lvl="1" marL="685800" marR="0" rtl="0" algn="l">
              <a:lnSpc>
                <a:spcPct val="107000"/>
              </a:lnSpc>
              <a:spcBef>
                <a:spcPts val="1175"/>
              </a:spcBef>
              <a:spcAft>
                <a:spcPts val="0"/>
              </a:spcAft>
              <a:buClr>
                <a:schemeClr val="accent1"/>
              </a:buClr>
              <a:buSzPct val="72072"/>
              <a:buFont typeface="Libre Franklin"/>
              <a:buAutoNum type="arabicPeriod"/>
            </a:pPr>
            <a:r>
              <a:rPr b="0" i="0" lang="en-US" sz="1500" u="none" cap="none" strike="noStrike">
                <a:solidFill>
                  <a:schemeClr val="dk1"/>
                </a:solidFill>
                <a:latin typeface="Calibri"/>
                <a:ea typeface="Calibri"/>
                <a:cs typeface="Calibri"/>
                <a:sym typeface="Calibri"/>
              </a:rPr>
              <a:t>Explore some mitigation strategies</a:t>
            </a:r>
            <a:endParaRPr/>
          </a:p>
          <a:p>
            <a:pPr indent="-279400" lvl="1" marL="685800" marR="0" rtl="0" algn="l">
              <a:lnSpc>
                <a:spcPct val="107000"/>
              </a:lnSpc>
              <a:spcBef>
                <a:spcPts val="1175"/>
              </a:spcBef>
              <a:spcAft>
                <a:spcPts val="0"/>
              </a:spcAft>
              <a:buClr>
                <a:schemeClr val="accent1"/>
              </a:buClr>
              <a:buSzPct val="60060"/>
              <a:buFont typeface="Libre Franklin"/>
              <a:buNone/>
            </a:pPr>
            <a:r>
              <a:t/>
            </a:r>
            <a:endParaRPr b="0" i="0" sz="1800" u="none" cap="none" strike="noStrike">
              <a:solidFill>
                <a:schemeClr val="dk1"/>
              </a:solidFill>
              <a:latin typeface="Arial"/>
              <a:ea typeface="Arial"/>
              <a:cs typeface="Arial"/>
              <a:sym typeface="Arial"/>
            </a:endParaRPr>
          </a:p>
        </p:txBody>
      </p:sp>
      <p:sp>
        <p:nvSpPr>
          <p:cNvPr id="132" name="Google Shape;132;p2"/>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descr="Power lines and transformers against a blue sky" id="133" name="Google Shape;133;p2"/>
          <p:cNvPicPr preferRelativeResize="0"/>
          <p:nvPr/>
        </p:nvPicPr>
        <p:blipFill rotWithShape="1">
          <a:blip r:embed="rId3">
            <a:alphaModFix/>
          </a:blip>
          <a:srcRect b="0" l="0" r="0" t="0"/>
          <a:stretch/>
        </p:blipFill>
        <p:spPr>
          <a:xfrm>
            <a:off x="169122" y="1215845"/>
            <a:ext cx="2506677" cy="3760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1. Baseline simulation</a:t>
            </a:r>
            <a:endParaRPr b="0" sz="3600"/>
          </a:p>
        </p:txBody>
      </p:sp>
      <p:sp>
        <p:nvSpPr>
          <p:cNvPr id="140" name="Google Shape;140;p3"/>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41" name="Google Shape;141;p3"/>
          <p:cNvSpPr txBox="1"/>
          <p:nvPr/>
        </p:nvSpPr>
        <p:spPr>
          <a:xfrm>
            <a:off x="113237" y="1215845"/>
            <a:ext cx="6192313" cy="1952805"/>
          </a:xfrm>
          <a:prstGeom prst="rect">
            <a:avLst/>
          </a:prstGeom>
          <a:noFill/>
          <a:ln>
            <a:noFill/>
          </a:ln>
        </p:spPr>
        <p:txBody>
          <a:bodyPr anchorCtr="0" anchor="t" bIns="45700" lIns="180000" spcFirstLastPara="1" rIns="91425" wrap="square" tIns="45700">
            <a:normAutofit lnSpcReduction="10000"/>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You assume the following </a:t>
            </a:r>
            <a:r>
              <a:rPr b="1" i="0" lang="en-US" sz="1800" u="none" cap="none" strike="noStrike">
                <a:solidFill>
                  <a:schemeClr val="dk1"/>
                </a:solidFill>
                <a:latin typeface="Calibri"/>
                <a:ea typeface="Calibri"/>
                <a:cs typeface="Calibri"/>
                <a:sym typeface="Calibri"/>
              </a:rPr>
              <a:t>baseline charging scenario </a:t>
            </a:r>
            <a:r>
              <a:rPr b="0" i="0" lang="en-US" sz="1800" u="none" cap="none" strike="noStrike">
                <a:solidFill>
                  <a:schemeClr val="dk1"/>
                </a:solidFill>
                <a:latin typeface="Calibri"/>
                <a:ea typeface="Calibri"/>
                <a:cs typeface="Calibri"/>
                <a:sym typeface="Calibri"/>
              </a:rPr>
              <a:t>for early adopters of EVs. A few ones have access to private home charging and the majority needs to rely on charging at public POIs and workplaces. </a:t>
            </a:r>
            <a:endParaRPr/>
          </a:p>
          <a:p>
            <a:pPr indent="-171450" lvl="0" marL="171450" marR="0" rtl="0" algn="l">
              <a:lnSpc>
                <a:spcPct val="107000"/>
              </a:lnSpc>
              <a:spcBef>
                <a:spcPts val="155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This is the expected share of charging needs if charging stations would be available at these locations. </a:t>
            </a:r>
            <a:endParaRPr/>
          </a:p>
        </p:txBody>
      </p:sp>
      <p:graphicFrame>
        <p:nvGraphicFramePr>
          <p:cNvPr id="142" name="Google Shape;142;p3"/>
          <p:cNvGraphicFramePr/>
          <p:nvPr/>
        </p:nvGraphicFramePr>
        <p:xfrm>
          <a:off x="6362700" y="1289050"/>
          <a:ext cx="3000000" cy="3000000"/>
        </p:xfrm>
        <a:graphic>
          <a:graphicData uri="http://schemas.openxmlformats.org/drawingml/2006/table">
            <a:tbl>
              <a:tblPr bandRow="1" firstRow="1">
                <a:noFill/>
                <a:tableStyleId>{CF352E14-49DC-4EF3-90FB-B5F05AE69CBF}</a:tableStyleId>
              </a:tblPr>
              <a:tblGrid>
                <a:gridCol w="889350"/>
                <a:gridCol w="889350"/>
                <a:gridCol w="889350"/>
              </a:tblGrid>
              <a:tr h="370850">
                <a:tc>
                  <a:txBody>
                    <a:bodyPr/>
                    <a:lstStyle/>
                    <a:p>
                      <a:pPr indent="0" lvl="0" marL="0" marR="0" rtl="0" algn="l">
                        <a:spcBef>
                          <a:spcPts val="0"/>
                        </a:spcBef>
                        <a:spcAft>
                          <a:spcPts val="0"/>
                        </a:spcAft>
                        <a:buNone/>
                      </a:pPr>
                      <a:r>
                        <a:rPr lang="en-US" sz="1350" u="none" cap="none" strike="noStrike"/>
                        <a:t>Home</a:t>
                      </a:r>
                      <a:endParaRPr sz="1350"/>
                    </a:p>
                  </a:txBody>
                  <a:tcPr marT="45725" marB="45725" marR="91450" marL="91450"/>
                </a:tc>
                <a:tc>
                  <a:txBody>
                    <a:bodyPr/>
                    <a:lstStyle/>
                    <a:p>
                      <a:pPr indent="0" lvl="0" marL="0" marR="0" rtl="0" algn="l">
                        <a:spcBef>
                          <a:spcPts val="0"/>
                        </a:spcBef>
                        <a:spcAft>
                          <a:spcPts val="0"/>
                        </a:spcAft>
                        <a:buNone/>
                      </a:pPr>
                      <a:r>
                        <a:rPr lang="en-US" sz="1350"/>
                        <a:t>Work</a:t>
                      </a:r>
                      <a:endParaRPr sz="1350"/>
                    </a:p>
                  </a:txBody>
                  <a:tcPr marT="45725" marB="45725" marR="91450" marL="91450"/>
                </a:tc>
                <a:tc>
                  <a:txBody>
                    <a:bodyPr/>
                    <a:lstStyle/>
                    <a:p>
                      <a:pPr indent="0" lvl="0" marL="0" marR="0" rtl="0" algn="l">
                        <a:spcBef>
                          <a:spcPts val="0"/>
                        </a:spcBef>
                        <a:spcAft>
                          <a:spcPts val="0"/>
                        </a:spcAft>
                        <a:buNone/>
                      </a:pPr>
                      <a:r>
                        <a:rPr lang="en-US" sz="1350"/>
                        <a:t>POI</a:t>
                      </a:r>
                      <a:endParaRPr sz="1350"/>
                    </a:p>
                  </a:txBody>
                  <a:tcPr marT="45725" marB="45725" marR="91450" marL="91450"/>
                </a:tc>
              </a:tr>
              <a:tr h="370850">
                <a:tc>
                  <a:txBody>
                    <a:bodyPr/>
                    <a:lstStyle/>
                    <a:p>
                      <a:pPr indent="0" lvl="0" marL="0" marR="0" rtl="0" algn="l">
                        <a:spcBef>
                          <a:spcPts val="0"/>
                        </a:spcBef>
                        <a:spcAft>
                          <a:spcPts val="0"/>
                        </a:spcAft>
                        <a:buNone/>
                      </a:pPr>
                      <a:r>
                        <a:rPr lang="en-US" sz="1350"/>
                        <a:t>20%</a:t>
                      </a:r>
                      <a:endParaRPr sz="1350"/>
                    </a:p>
                  </a:txBody>
                  <a:tcPr marT="45725" marB="45725" marR="91450" marL="91450"/>
                </a:tc>
                <a:tc>
                  <a:txBody>
                    <a:bodyPr/>
                    <a:lstStyle/>
                    <a:p>
                      <a:pPr indent="0" lvl="0" marL="0" marR="0" rtl="0" algn="l">
                        <a:spcBef>
                          <a:spcPts val="0"/>
                        </a:spcBef>
                        <a:spcAft>
                          <a:spcPts val="0"/>
                        </a:spcAft>
                        <a:buNone/>
                      </a:pPr>
                      <a:r>
                        <a:rPr lang="en-US" sz="1350"/>
                        <a:t>40%</a:t>
                      </a:r>
                      <a:endParaRPr sz="1350"/>
                    </a:p>
                  </a:txBody>
                  <a:tcPr marT="45725" marB="45725" marR="91450" marL="91450"/>
                </a:tc>
                <a:tc>
                  <a:txBody>
                    <a:bodyPr/>
                    <a:lstStyle/>
                    <a:p>
                      <a:pPr indent="0" lvl="0" marL="0" marR="0" rtl="0" algn="l">
                        <a:spcBef>
                          <a:spcPts val="0"/>
                        </a:spcBef>
                        <a:spcAft>
                          <a:spcPts val="0"/>
                        </a:spcAft>
                        <a:buNone/>
                      </a:pPr>
                      <a:r>
                        <a:rPr lang="en-US" sz="1350"/>
                        <a:t>40%</a:t>
                      </a:r>
                      <a:endParaRPr sz="1350"/>
                    </a:p>
                  </a:txBody>
                  <a:tcPr marT="45725" marB="45725" marR="91450" marL="91450"/>
                </a:tc>
              </a:tr>
            </a:tbl>
          </a:graphicData>
        </a:graphic>
      </p:graphicFrame>
      <p:sp>
        <p:nvSpPr>
          <p:cNvPr id="143" name="Google Shape;143;p3"/>
          <p:cNvSpPr txBox="1"/>
          <p:nvPr/>
        </p:nvSpPr>
        <p:spPr>
          <a:xfrm>
            <a:off x="368300" y="3268709"/>
            <a:ext cx="8515350" cy="1700893"/>
          </a:xfrm>
          <a:prstGeom prst="rect">
            <a:avLst/>
          </a:prstGeom>
          <a:solidFill>
            <a:srgbClr val="CCFFCC"/>
          </a:solidFill>
          <a:ln>
            <a:noFill/>
          </a:ln>
        </p:spPr>
        <p:txBody>
          <a:bodyPr anchorCtr="0" anchor="t" bIns="45700" lIns="180000" spcFirstLastPara="1" rIns="91425" wrap="square" tIns="45700">
            <a:normAutofit fontScale="92500" lnSpcReduction="100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r>
              <a:rPr b="0" i="0" lang="en-US" sz="1800" u="none" cap="none" strike="noStrike">
                <a:solidFill>
                  <a:schemeClr val="dk1"/>
                </a:solidFill>
                <a:latin typeface="Calibri"/>
                <a:ea typeface="Calibri"/>
                <a:cs typeface="Calibri"/>
                <a:sym typeface="Calibri"/>
              </a:rPr>
              <a:t> Run a simulation with the aforementioned scenario and:</a:t>
            </a:r>
            <a:endParaRPr/>
          </a:p>
          <a:p>
            <a:pPr indent="-171479" lvl="2" marL="857250" marR="0" rtl="0" algn="l">
              <a:lnSpc>
                <a:spcPct val="107000"/>
              </a:lnSpc>
              <a:spcBef>
                <a:spcPts val="1175"/>
              </a:spcBef>
              <a:spcAft>
                <a:spcPts val="0"/>
              </a:spcAft>
              <a:buClr>
                <a:schemeClr val="dk1"/>
              </a:buClr>
              <a:buSzPct val="90000"/>
              <a:buFont typeface="Noto Sans Symbols"/>
              <a:buChar char="▪"/>
            </a:pPr>
            <a:r>
              <a:rPr b="0" i="0" lang="en-US" sz="1500" u="none" cap="none" strike="noStrike">
                <a:solidFill>
                  <a:schemeClr val="dk1"/>
                </a:solidFill>
                <a:latin typeface="Calibri"/>
                <a:ea typeface="Calibri"/>
                <a:cs typeface="Calibri"/>
                <a:sym typeface="Calibri"/>
              </a:rPr>
              <a:t>A </a:t>
            </a:r>
            <a:r>
              <a:rPr b="1" i="0" lang="en-US" sz="1500" u="none" cap="none" strike="noStrike">
                <a:solidFill>
                  <a:schemeClr val="dk1"/>
                </a:solidFill>
                <a:latin typeface="Calibri"/>
                <a:ea typeface="Calibri"/>
                <a:cs typeface="Calibri"/>
                <a:sym typeface="Calibri"/>
              </a:rPr>
              <a:t>3 km × 3 km </a:t>
            </a:r>
            <a:r>
              <a:rPr b="0" i="0" lang="en-US" sz="1500" u="none" cap="none" strike="noStrike">
                <a:solidFill>
                  <a:schemeClr val="dk1"/>
                </a:solidFill>
                <a:latin typeface="Calibri"/>
                <a:ea typeface="Calibri"/>
                <a:cs typeface="Calibri"/>
                <a:sym typeface="Calibri"/>
              </a:rPr>
              <a:t>grid (let’s assume this is a the typical spatial scale for planning as it typical contains one MV/LV transformer) </a:t>
            </a:r>
            <a:endParaRPr/>
          </a:p>
          <a:p>
            <a:pPr indent="-171479" lvl="2" marL="857250" marR="0" rtl="0" algn="l">
              <a:lnSpc>
                <a:spcPct val="107000"/>
              </a:lnSpc>
              <a:spcBef>
                <a:spcPts val="1175"/>
              </a:spcBef>
              <a:spcAft>
                <a:spcPts val="0"/>
              </a:spcAft>
              <a:buClr>
                <a:schemeClr val="dk1"/>
              </a:buClr>
              <a:buSzPct val="90000"/>
              <a:buFont typeface="Noto Sans Symbols"/>
              <a:buChar char="▪"/>
            </a:pPr>
            <a:r>
              <a:rPr b="1" i="0" lang="en-US" sz="1500" u="none" cap="none" strike="noStrike">
                <a:solidFill>
                  <a:schemeClr val="dk1"/>
                </a:solidFill>
                <a:latin typeface="Calibri"/>
                <a:ea typeface="Calibri"/>
                <a:cs typeface="Calibri"/>
                <a:sym typeface="Calibri"/>
              </a:rPr>
              <a:t>10,000 EVs </a:t>
            </a:r>
            <a:endParaRPr b="0" i="0" sz="1500" u="none" cap="none" strike="noStrike">
              <a:solidFill>
                <a:schemeClr val="dk1"/>
              </a:solidFill>
              <a:latin typeface="Calibri"/>
              <a:ea typeface="Calibri"/>
              <a:cs typeface="Calibri"/>
              <a:sym typeface="Calibri"/>
            </a:endParaRPr>
          </a:p>
          <a:p>
            <a:pPr indent="-171479" lvl="2" marL="857250" marR="0" rtl="0" algn="l">
              <a:lnSpc>
                <a:spcPct val="107000"/>
              </a:lnSpc>
              <a:spcBef>
                <a:spcPts val="1175"/>
              </a:spcBef>
              <a:spcAft>
                <a:spcPts val="0"/>
              </a:spcAft>
              <a:buClr>
                <a:schemeClr val="dk1"/>
              </a:buClr>
              <a:buSzPct val="90000"/>
              <a:buFont typeface="Noto Sans Symbols"/>
              <a:buChar char="▪"/>
            </a:pPr>
            <a:r>
              <a:rPr b="0" i="0" lang="en-US" sz="1500" u="none" cap="none" strike="noStrike">
                <a:solidFill>
                  <a:schemeClr val="dk1"/>
                </a:solidFill>
                <a:latin typeface="Calibri"/>
                <a:ea typeface="Calibri"/>
                <a:cs typeface="Calibri"/>
                <a:sym typeface="Calibri"/>
              </a:rPr>
              <a:t>Default parameters otherwise.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169122" y="306669"/>
            <a:ext cx="7232801" cy="803674"/>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1. Baseline simulation</a:t>
            </a:r>
            <a:endParaRPr b="0" sz="3600"/>
          </a:p>
        </p:txBody>
      </p:sp>
      <p:sp>
        <p:nvSpPr>
          <p:cNvPr id="150" name="Google Shape;150;p4"/>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51" name="Google Shape;151;p4"/>
          <p:cNvSpPr txBox="1"/>
          <p:nvPr/>
        </p:nvSpPr>
        <p:spPr>
          <a:xfrm>
            <a:off x="368300" y="1268459"/>
            <a:ext cx="4600637" cy="3748041"/>
          </a:xfrm>
          <a:prstGeom prst="rect">
            <a:avLst/>
          </a:prstGeom>
          <a:solidFill>
            <a:srgbClr val="FCE9E0"/>
          </a:solidFill>
          <a:ln>
            <a:noFill/>
          </a:ln>
        </p:spPr>
        <p:txBody>
          <a:bodyPr anchorCtr="0" anchor="t" bIns="45700" lIns="180000" spcFirstLastPara="1" rIns="91425" wrap="square" tIns="45700">
            <a:normAutofit fontScale="77500" lnSpcReduction="200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ct val="100000"/>
              <a:buFont typeface="Libre Franklin"/>
              <a:buAutoNum type="arabicPeriod"/>
            </a:pPr>
            <a:r>
              <a:rPr b="0" i="0" lang="en-US" sz="1800" u="none" cap="none" strike="noStrike">
                <a:solidFill>
                  <a:schemeClr val="dk1"/>
                </a:solidFill>
                <a:latin typeface="Calibri"/>
                <a:ea typeface="Calibri"/>
                <a:cs typeface="Calibri"/>
                <a:sym typeface="Calibri"/>
              </a:rPr>
              <a:t>In which </a:t>
            </a:r>
            <a:r>
              <a:rPr b="1" i="0" lang="en-US" sz="1800" u="none" cap="none" strike="noStrike">
                <a:solidFill>
                  <a:schemeClr val="dk1"/>
                </a:solidFill>
                <a:latin typeface="Calibri"/>
                <a:ea typeface="Calibri"/>
                <a:cs typeface="Calibri"/>
                <a:sym typeface="Calibri"/>
              </a:rPr>
              <a:t>zone</a:t>
            </a:r>
            <a:r>
              <a:rPr b="0" i="0" lang="en-US" sz="1800" u="none" cap="none" strike="noStrike">
                <a:solidFill>
                  <a:schemeClr val="dk1"/>
                </a:solidFill>
                <a:latin typeface="Calibri"/>
                <a:ea typeface="Calibri"/>
                <a:cs typeface="Calibri"/>
                <a:sym typeface="Calibri"/>
              </a:rPr>
              <a:t> is the charging demand the highest? How much is it? Does this represent a lot additional demand compared to the current </a:t>
            </a:r>
            <a:r>
              <a:rPr lang="en-US" sz="1800">
                <a:solidFill>
                  <a:schemeClr val="dk1"/>
                </a:solidFill>
                <a:latin typeface="Calibri"/>
                <a:ea typeface="Calibri"/>
                <a:cs typeface="Calibri"/>
                <a:sym typeface="Calibri"/>
              </a:rPr>
              <a:t>household demand </a:t>
            </a:r>
            <a:r>
              <a:rPr b="0" i="0" lang="en-US" sz="1800" u="none" cap="none" strike="noStrike">
                <a:solidFill>
                  <a:schemeClr val="dk1"/>
                </a:solidFill>
                <a:latin typeface="Calibri"/>
                <a:ea typeface="Calibri"/>
                <a:cs typeface="Calibri"/>
                <a:sym typeface="Calibri"/>
              </a:rPr>
              <a:t>(assume ~2 kWh/day/capita)? </a:t>
            </a:r>
            <a:r>
              <a:rPr b="0" i="1" lang="en-US" sz="1800" u="none" cap="none" strike="noStrike">
                <a:solidFill>
                  <a:schemeClr val="dk1"/>
                </a:solidFill>
                <a:latin typeface="Calibri"/>
                <a:ea typeface="Calibri"/>
                <a:cs typeface="Calibri"/>
                <a:sym typeface="Calibri"/>
              </a:rPr>
              <a:t>🡪 Make a screenshot of the demand map and copy/paste it on this slide</a:t>
            </a:r>
            <a:endParaRPr b="0" i="1" sz="18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dk1"/>
              </a:buClr>
              <a:buSzPct val="100000"/>
              <a:buFont typeface="Libre Franklin"/>
              <a:buAutoNum type="arabicPeriod"/>
            </a:pPr>
            <a:r>
              <a:rPr b="0" i="0" lang="en-US" sz="1800" u="none" cap="none" strike="noStrike">
                <a:solidFill>
                  <a:schemeClr val="dk1"/>
                </a:solidFill>
                <a:latin typeface="Calibri"/>
                <a:ea typeface="Calibri"/>
                <a:cs typeface="Calibri"/>
                <a:sym typeface="Calibri"/>
              </a:rPr>
              <a:t>What is the average total </a:t>
            </a:r>
            <a:r>
              <a:rPr b="1" i="0" lang="en-US" sz="1800" u="none" cap="none" strike="noStrike">
                <a:solidFill>
                  <a:schemeClr val="dk1"/>
                </a:solidFill>
                <a:latin typeface="Calibri"/>
                <a:ea typeface="Calibri"/>
                <a:cs typeface="Calibri"/>
                <a:sym typeface="Calibri"/>
              </a:rPr>
              <a:t>demand per car</a:t>
            </a:r>
            <a:r>
              <a:rPr b="0" i="0" lang="en-US" sz="1800" u="none" cap="none" strike="noStrike">
                <a:solidFill>
                  <a:schemeClr val="dk1"/>
                </a:solidFill>
                <a:latin typeface="Calibri"/>
                <a:ea typeface="Calibri"/>
                <a:cs typeface="Calibri"/>
                <a:sym typeface="Calibri"/>
              </a:rPr>
              <a:t>? </a:t>
            </a:r>
            <a:endParaRPr b="1" i="0" sz="1800" u="none" cap="none" strike="noStrike">
              <a:solidFill>
                <a:schemeClr val="dk1"/>
              </a:solidFill>
              <a:latin typeface="Calibri"/>
              <a:ea typeface="Calibri"/>
              <a:cs typeface="Calibri"/>
              <a:sym typeface="Calibri"/>
            </a:endParaRPr>
          </a:p>
          <a:p>
            <a:pPr indent="-342900" lvl="1" marL="685800" marR="0" rtl="0" algn="l">
              <a:lnSpc>
                <a:spcPct val="107000"/>
              </a:lnSpc>
              <a:spcBef>
                <a:spcPts val="1175"/>
              </a:spcBef>
              <a:spcAft>
                <a:spcPts val="0"/>
              </a:spcAft>
              <a:buClr>
                <a:schemeClr val="dk1"/>
              </a:buClr>
              <a:buSzPct val="100000"/>
              <a:buFont typeface="Libre Franklin"/>
              <a:buAutoNum type="arabicPeriod"/>
            </a:pPr>
            <a:r>
              <a:rPr b="0" i="0" lang="en-US" sz="1800" u="none" cap="none" strike="noStrike">
                <a:solidFill>
                  <a:schemeClr val="dk1"/>
                </a:solidFill>
                <a:latin typeface="Calibri"/>
                <a:ea typeface="Calibri"/>
                <a:cs typeface="Calibri"/>
                <a:sym typeface="Calibri"/>
              </a:rPr>
              <a:t>Do these spatial patterns make sense to you? </a:t>
            </a:r>
            <a:r>
              <a:rPr b="0" i="1" lang="en-US" sz="1800" u="none" cap="none" strike="noStrike">
                <a:solidFill>
                  <a:schemeClr val="dk1"/>
                </a:solidFill>
                <a:latin typeface="Calibri"/>
                <a:ea typeface="Calibri"/>
                <a:cs typeface="Calibri"/>
                <a:sym typeface="Calibri"/>
              </a:rPr>
              <a:t>(HINT: Display the density of workplaces and POIs layers)</a:t>
            </a:r>
            <a:endParaRPr/>
          </a:p>
          <a:p>
            <a:pPr indent="-342900" lvl="1" marL="685800" marR="0" rtl="0" algn="l">
              <a:lnSpc>
                <a:spcPct val="107000"/>
              </a:lnSpc>
              <a:spcBef>
                <a:spcPts val="1175"/>
              </a:spcBef>
              <a:spcAft>
                <a:spcPts val="0"/>
              </a:spcAft>
              <a:buClr>
                <a:schemeClr val="dk1"/>
              </a:buClr>
              <a:buSzPct val="100000"/>
              <a:buFont typeface="Libre Franklin"/>
              <a:buAutoNum type="arabicPeriod"/>
            </a:pPr>
            <a:r>
              <a:rPr b="0" i="0" lang="en-US" sz="1800" u="none" cap="none" strike="noStrike">
                <a:solidFill>
                  <a:schemeClr val="dk1"/>
                </a:solidFill>
                <a:latin typeface="Calibri"/>
                <a:ea typeface="Calibri"/>
                <a:cs typeface="Calibri"/>
                <a:sym typeface="Calibri"/>
              </a:rPr>
              <a:t>Why is the density of workplaces and POI a </a:t>
            </a:r>
            <a:r>
              <a:rPr b="1" i="0" lang="en-US" sz="1800" u="none" cap="none" strike="noStrike">
                <a:solidFill>
                  <a:schemeClr val="dk1"/>
                </a:solidFill>
                <a:latin typeface="Calibri"/>
                <a:ea typeface="Calibri"/>
                <a:cs typeface="Calibri"/>
                <a:sym typeface="Calibri"/>
              </a:rPr>
              <a:t>good</a:t>
            </a: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proxy</a:t>
            </a:r>
            <a:r>
              <a:rPr b="0" i="0" lang="en-US" sz="1800" u="none" cap="none" strike="noStrike">
                <a:solidFill>
                  <a:schemeClr val="dk1"/>
                </a:solidFill>
                <a:latin typeface="Calibri"/>
                <a:ea typeface="Calibri"/>
                <a:cs typeface="Calibri"/>
                <a:sym typeface="Calibri"/>
              </a:rPr>
              <a:t> for charging demand at these places in Addis Ababa? (</a:t>
            </a:r>
            <a:r>
              <a:rPr b="0" i="1" lang="en-US" sz="1800" u="none" cap="none" strike="noStrike">
                <a:solidFill>
                  <a:schemeClr val="dk1"/>
                </a:solidFill>
                <a:latin typeface="Calibri"/>
                <a:ea typeface="Calibri"/>
                <a:cs typeface="Calibri"/>
                <a:sym typeface="Calibri"/>
              </a:rPr>
              <a:t>HINT: Display the population density layers.) </a:t>
            </a:r>
            <a:endParaRPr/>
          </a:p>
        </p:txBody>
      </p:sp>
      <p:pic>
        <p:nvPicPr>
          <p:cNvPr id="152" name="Google Shape;152;p4"/>
          <p:cNvPicPr preferRelativeResize="0"/>
          <p:nvPr/>
        </p:nvPicPr>
        <p:blipFill rotWithShape="1">
          <a:blip r:embed="rId3">
            <a:alphaModFix/>
          </a:blip>
          <a:srcRect b="0" l="8638" r="10824" t="0"/>
          <a:stretch/>
        </p:blipFill>
        <p:spPr>
          <a:xfrm>
            <a:off x="5200650" y="1268459"/>
            <a:ext cx="3705225" cy="374804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169122" y="306669"/>
            <a:ext cx="8515350" cy="668691"/>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Temporal demand and peak load</a:t>
            </a:r>
            <a:endParaRPr b="0" sz="3600"/>
          </a:p>
        </p:txBody>
      </p:sp>
      <p:sp>
        <p:nvSpPr>
          <p:cNvPr id="159" name="Google Shape;159;p5"/>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60" name="Google Shape;160;p5"/>
          <p:cNvSpPr txBox="1"/>
          <p:nvPr/>
        </p:nvSpPr>
        <p:spPr>
          <a:xfrm>
            <a:off x="113237" y="1215845"/>
            <a:ext cx="8444024" cy="1839775"/>
          </a:xfrm>
          <a:prstGeom prst="rect">
            <a:avLst/>
          </a:prstGeom>
          <a:noFill/>
          <a:ln>
            <a:noFill/>
          </a:ln>
        </p:spPr>
        <p:txBody>
          <a:bodyPr anchorCtr="0" anchor="t" bIns="45700" lIns="180000" spcFirstLastPara="1" rIns="91425" wrap="square" tIns="45700">
            <a:normAutofit fontScale="85000" lnSpcReduction="20000"/>
          </a:bodyPr>
          <a:lstStyle/>
          <a:p>
            <a:pPr indent="-171450" lvl="0" marL="171450" marR="0" rtl="0" algn="l">
              <a:lnSpc>
                <a:spcPct val="107000"/>
              </a:lnSpc>
              <a:spcBef>
                <a:spcPts val="0"/>
              </a:spcBef>
              <a:spcAft>
                <a:spcPts val="0"/>
              </a:spcAft>
              <a:buClr>
                <a:schemeClr val="accent1"/>
              </a:buClr>
              <a:buSzPct val="90000"/>
              <a:buFont typeface="Noto Sans Symbols"/>
              <a:buChar char="▪"/>
            </a:pPr>
            <a:r>
              <a:rPr b="0" i="0" lang="en-US" sz="1800" u="none" cap="none" strike="noStrike">
                <a:solidFill>
                  <a:schemeClr val="dk1"/>
                </a:solidFill>
                <a:latin typeface="Calibri"/>
                <a:ea typeface="Calibri"/>
                <a:cs typeface="Calibri"/>
                <a:sym typeface="Calibri"/>
              </a:rPr>
              <a:t>While the spatial distribution of the charging demand is important, grid stress is primarily driven by </a:t>
            </a:r>
            <a:r>
              <a:rPr b="0" i="0" lang="en-US" sz="1800" u="sng" cap="none" strike="noStrike">
                <a:solidFill>
                  <a:schemeClr val="dk1"/>
                </a:solidFill>
                <a:latin typeface="Calibri"/>
                <a:ea typeface="Calibri"/>
                <a:cs typeface="Calibri"/>
                <a:sym typeface="Calibri"/>
              </a:rPr>
              <a:t>when</a:t>
            </a:r>
            <a:r>
              <a:rPr b="0" i="0" lang="en-US" sz="1800" u="none" cap="none" strike="noStrike">
                <a:solidFill>
                  <a:schemeClr val="dk1"/>
                </a:solidFill>
                <a:latin typeface="Calibri"/>
                <a:ea typeface="Calibri"/>
                <a:cs typeface="Calibri"/>
                <a:sym typeface="Calibri"/>
              </a:rPr>
              <a:t> charging occurs, not just where. The EVPV model allows you to easily visualize the load curve over the entire study area (i.e., the sum of all EV charging loads in Addis Ababa over time).</a:t>
            </a:r>
            <a:endParaRPr/>
          </a:p>
          <a:p>
            <a:pPr indent="-171450" lvl="0" marL="171450" marR="0" rtl="0" algn="l">
              <a:lnSpc>
                <a:spcPct val="107000"/>
              </a:lnSpc>
              <a:spcBef>
                <a:spcPts val="1550"/>
              </a:spcBef>
              <a:spcAft>
                <a:spcPts val="0"/>
              </a:spcAft>
              <a:buClr>
                <a:schemeClr val="accent1"/>
              </a:buClr>
              <a:buSzPct val="90000"/>
              <a:buFont typeface="Noto Sans Symbols"/>
              <a:buChar char="▪"/>
            </a:pPr>
            <a:r>
              <a:rPr b="0" i="0" lang="en-US" sz="1800" u="none" cap="none" strike="noStrike">
                <a:solidFill>
                  <a:schemeClr val="dk1"/>
                </a:solidFill>
                <a:latin typeface="Calibri"/>
                <a:ea typeface="Calibri"/>
                <a:cs typeface="Calibri"/>
                <a:sym typeface="Calibri"/>
              </a:rPr>
              <a:t>As a first approximation, let’s assume that:</a:t>
            </a:r>
            <a:endParaRPr/>
          </a:p>
          <a:p>
            <a:pPr indent="-171450" lvl="1" marL="514350" marR="0" rtl="0" algn="l">
              <a:lnSpc>
                <a:spcPct val="107000"/>
              </a:lnSpc>
              <a:spcBef>
                <a:spcPts val="1175"/>
              </a:spcBef>
              <a:spcAft>
                <a:spcPts val="0"/>
              </a:spcAft>
              <a:buClr>
                <a:schemeClr val="accent1"/>
              </a:buClr>
              <a:buSzPct val="100000"/>
              <a:buFont typeface="Arial"/>
              <a:buChar char="•"/>
            </a:pPr>
            <a:r>
              <a:rPr b="0" i="0" lang="en-US" sz="1600" u="none" cap="none" strike="noStrike">
                <a:solidFill>
                  <a:schemeClr val="dk1"/>
                </a:solidFill>
                <a:latin typeface="Calibri"/>
                <a:ea typeface="Calibri"/>
                <a:cs typeface="Calibri"/>
                <a:sym typeface="Calibri"/>
              </a:rPr>
              <a:t>The shape of the charging load curve is similar across zones </a:t>
            </a:r>
            <a:endParaRPr/>
          </a:p>
          <a:p>
            <a:pPr indent="-171450" lvl="1" marL="514350" marR="0" rtl="0" algn="l">
              <a:lnSpc>
                <a:spcPct val="107000"/>
              </a:lnSpc>
              <a:spcBef>
                <a:spcPts val="1175"/>
              </a:spcBef>
              <a:spcAft>
                <a:spcPts val="0"/>
              </a:spcAft>
              <a:buClr>
                <a:schemeClr val="accent1"/>
              </a:buClr>
              <a:buSzPct val="100000"/>
              <a:buFont typeface="Arial"/>
              <a:buChar char="•"/>
            </a:pPr>
            <a:r>
              <a:rPr b="0" i="0" lang="en-US" sz="1600" u="none" cap="none" strike="noStrike">
                <a:solidFill>
                  <a:schemeClr val="dk1"/>
                </a:solidFill>
                <a:latin typeface="Calibri"/>
                <a:ea typeface="Calibri"/>
                <a:cs typeface="Calibri"/>
                <a:sym typeface="Calibri"/>
              </a:rPr>
              <a:t>The aggregated profile can therefore be used to understand </a:t>
            </a:r>
            <a:r>
              <a:rPr b="1" i="0" lang="en-US" sz="1600" u="none" cap="none" strike="noStrike">
                <a:solidFill>
                  <a:schemeClr val="dk1"/>
                </a:solidFill>
                <a:latin typeface="Calibri"/>
                <a:ea typeface="Calibri"/>
                <a:cs typeface="Calibri"/>
                <a:sym typeface="Calibri"/>
              </a:rPr>
              <a:t>temporal dynamics and peak behavior</a:t>
            </a:r>
            <a:endParaRPr b="0" i="0" sz="1600" u="none" cap="none" strike="noStrike">
              <a:solidFill>
                <a:schemeClr val="dk1"/>
              </a:solidFill>
              <a:latin typeface="Calibri"/>
              <a:ea typeface="Calibri"/>
              <a:cs typeface="Calibri"/>
              <a:sym typeface="Calibri"/>
            </a:endParaRPr>
          </a:p>
        </p:txBody>
      </p:sp>
      <p:sp>
        <p:nvSpPr>
          <p:cNvPr id="161" name="Google Shape;161;p5"/>
          <p:cNvSpPr txBox="1"/>
          <p:nvPr/>
        </p:nvSpPr>
        <p:spPr>
          <a:xfrm>
            <a:off x="368300" y="3150369"/>
            <a:ext cx="4030346" cy="1839776"/>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endParaRPr/>
          </a:p>
          <a:p>
            <a:pPr indent="-171450" lvl="2" marL="857250" marR="0" rtl="0" algn="l">
              <a:lnSpc>
                <a:spcPct val="107000"/>
              </a:lnSpc>
              <a:spcBef>
                <a:spcPts val="1175"/>
              </a:spcBef>
              <a:spcAft>
                <a:spcPts val="0"/>
              </a:spcAft>
              <a:buClr>
                <a:schemeClr val="dk1"/>
              </a:buClr>
              <a:buSzPts val="1350"/>
              <a:buFont typeface="Noto Sans Symbols"/>
              <a:buChar char="▪"/>
            </a:pPr>
            <a:r>
              <a:rPr b="0" i="0" lang="en-US" sz="1500" u="none" cap="none" strike="noStrike">
                <a:solidFill>
                  <a:schemeClr val="dk1"/>
                </a:solidFill>
                <a:latin typeface="Calibri"/>
                <a:ea typeface="Calibri"/>
                <a:cs typeface="Calibri"/>
                <a:sym typeface="Calibri"/>
              </a:rPr>
              <a:t>Visualize the aggregated EV charging load curve and copy-paste it on this slide</a:t>
            </a:r>
            <a:endParaRPr b="0" i="0" sz="1500" u="none" cap="none" strike="noStrike">
              <a:solidFill>
                <a:schemeClr val="dk1"/>
              </a:solidFill>
              <a:latin typeface="Calibri"/>
              <a:ea typeface="Calibri"/>
              <a:cs typeface="Calibri"/>
              <a:sym typeface="Calibri"/>
            </a:endParaRPr>
          </a:p>
        </p:txBody>
      </p:sp>
      <p:pic>
        <p:nvPicPr>
          <p:cNvPr id="162" name="Google Shape;162;p5"/>
          <p:cNvPicPr preferRelativeResize="0"/>
          <p:nvPr/>
        </p:nvPicPr>
        <p:blipFill rotWithShape="1">
          <a:blip r:embed="rId3">
            <a:alphaModFix/>
          </a:blip>
          <a:srcRect b="0" l="8638" r="10824" t="0"/>
          <a:stretch/>
        </p:blipFill>
        <p:spPr>
          <a:xfrm>
            <a:off x="4745355" y="3150369"/>
            <a:ext cx="3705225" cy="1839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6"/>
          <p:cNvSpPr txBox="1"/>
          <p:nvPr>
            <p:ph type="title"/>
          </p:nvPr>
        </p:nvSpPr>
        <p:spPr>
          <a:xfrm>
            <a:off x="169122" y="306669"/>
            <a:ext cx="8515350" cy="668691"/>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2. Temporal demand and peak load</a:t>
            </a:r>
            <a:endParaRPr b="0" sz="3600"/>
          </a:p>
        </p:txBody>
      </p:sp>
      <p:sp>
        <p:nvSpPr>
          <p:cNvPr id="169" name="Google Shape;169;p6"/>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70" name="Google Shape;170;p6"/>
          <p:cNvSpPr txBox="1"/>
          <p:nvPr/>
        </p:nvSpPr>
        <p:spPr>
          <a:xfrm>
            <a:off x="368300" y="1268459"/>
            <a:ext cx="7994650" cy="3748041"/>
          </a:xfrm>
          <a:prstGeom prst="rect">
            <a:avLst/>
          </a:prstGeom>
          <a:solidFill>
            <a:srgbClr val="FCE9E0"/>
          </a:solidFill>
          <a:ln>
            <a:noFill/>
          </a:ln>
        </p:spPr>
        <p:txBody>
          <a:bodyPr anchorCtr="0" anchor="t" bIns="45700" lIns="180000" spcFirstLastPara="1" rIns="91425" wrap="square" tIns="45700">
            <a:normAutofit fontScale="92500" lnSpcReduction="200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5"/>
            </a:pPr>
            <a:r>
              <a:rPr b="0" i="0" lang="en-US" sz="1800" u="sng" cap="none" strike="noStrike">
                <a:solidFill>
                  <a:schemeClr val="dk1"/>
                </a:solidFill>
                <a:latin typeface="Calibri"/>
                <a:ea typeface="Calibri"/>
                <a:cs typeface="Calibri"/>
                <a:sym typeface="Calibri"/>
              </a:rPr>
              <a:t>When</a:t>
            </a:r>
            <a:r>
              <a:rPr b="0" i="0" lang="en-US" sz="1800" u="none" cap="none" strike="noStrike">
                <a:solidFill>
                  <a:schemeClr val="dk1"/>
                </a:solidFill>
                <a:latin typeface="Calibri"/>
                <a:ea typeface="Calibri"/>
                <a:cs typeface="Calibri"/>
                <a:sym typeface="Calibri"/>
              </a:rPr>
              <a:t> does the total </a:t>
            </a:r>
            <a:r>
              <a:rPr b="1" i="0" lang="en-US" sz="1800" u="none" cap="none" strike="noStrike">
                <a:solidFill>
                  <a:schemeClr val="dk1"/>
                </a:solidFill>
                <a:latin typeface="Calibri"/>
                <a:ea typeface="Calibri"/>
                <a:cs typeface="Calibri"/>
                <a:sym typeface="Calibri"/>
              </a:rPr>
              <a:t>daily peak </a:t>
            </a:r>
            <a:r>
              <a:rPr b="0" i="0" lang="en-US" sz="1800" u="none" cap="none" strike="noStrike">
                <a:solidFill>
                  <a:schemeClr val="dk1"/>
                </a:solidFill>
                <a:latin typeface="Calibri"/>
                <a:ea typeface="Calibri"/>
                <a:cs typeface="Calibri"/>
                <a:sym typeface="Calibri"/>
              </a:rPr>
              <a:t>occur? Why do the contributions from home and POI charging contributes less to the total peak? </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5"/>
            </a:pPr>
            <a:r>
              <a:rPr b="0" i="0" lang="en-US" sz="1800" u="none" cap="none" strike="noStrike">
                <a:solidFill>
                  <a:schemeClr val="dk1"/>
                </a:solidFill>
                <a:latin typeface="Calibri"/>
                <a:ea typeface="Calibri"/>
                <a:cs typeface="Calibri"/>
                <a:sym typeface="Calibri"/>
              </a:rPr>
              <a:t>In particular, the share of charging at POIs is the same as at workplaces. Why is the peak contribution from POIs lower, despite </a:t>
            </a:r>
            <a:r>
              <a:rPr b="1" i="0" lang="en-US" sz="1800" u="none" cap="none" strike="noStrike">
                <a:solidFill>
                  <a:schemeClr val="dk1"/>
                </a:solidFill>
                <a:latin typeface="Calibri"/>
                <a:ea typeface="Calibri"/>
                <a:cs typeface="Calibri"/>
                <a:sym typeface="Calibri"/>
              </a:rPr>
              <a:t>higher a charging power </a:t>
            </a:r>
            <a:r>
              <a:rPr b="0" i="0" lang="en-US" sz="1800" u="none" cap="none" strike="noStrike">
                <a:solidFill>
                  <a:schemeClr val="dk1"/>
                </a:solidFill>
                <a:latin typeface="Calibri"/>
                <a:ea typeface="Calibri"/>
                <a:cs typeface="Calibri"/>
                <a:sym typeface="Calibri"/>
              </a:rPr>
              <a:t>there (7.4 kW at work vs 22 kW at POIs)? </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5"/>
            </a:pPr>
            <a:r>
              <a:rPr b="0" i="0" lang="en-US" sz="1800" u="none" cap="none" strike="noStrike">
                <a:solidFill>
                  <a:schemeClr val="dk1"/>
                </a:solidFill>
                <a:latin typeface="Calibri"/>
                <a:ea typeface="Calibri"/>
                <a:cs typeface="Calibri"/>
                <a:sym typeface="Calibri"/>
              </a:rPr>
              <a:t>Based on the assumption that the load curve will scale linearly with the demand in every zone, what is the expected peak load in the zone with the highest spatial demand?</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5"/>
            </a:pPr>
            <a:r>
              <a:rPr b="0" i="0" lang="en-US" sz="1800" u="none" cap="none" strike="noStrike">
                <a:solidFill>
                  <a:schemeClr val="dk1"/>
                </a:solidFill>
                <a:latin typeface="Calibri"/>
                <a:ea typeface="Calibri"/>
                <a:cs typeface="Calibri"/>
                <a:sym typeface="Calibri"/>
              </a:rPr>
              <a:t>Download and open the additional file </a:t>
            </a:r>
            <a:r>
              <a:rPr b="0" i="1" lang="en-US" sz="1800" u="none" cap="none" strike="noStrike">
                <a:solidFill>
                  <a:schemeClr val="dk1"/>
                </a:solidFill>
                <a:latin typeface="Calibri"/>
                <a:ea typeface="Calibri"/>
                <a:cs typeface="Calibri"/>
                <a:sym typeface="Calibri"/>
              </a:rPr>
              <a:t>“charging_spatial_demand.csv”. </a:t>
            </a:r>
            <a:r>
              <a:rPr b="0" i="0" lang="en-US" sz="1800" u="none" cap="none" strike="noStrike">
                <a:solidFill>
                  <a:schemeClr val="dk1"/>
                </a:solidFill>
                <a:latin typeface="Calibri"/>
                <a:ea typeface="Calibri"/>
                <a:cs typeface="Calibri"/>
                <a:sym typeface="Calibri"/>
              </a:rPr>
              <a:t>Look at the zone with the highest demand. How many vehicles are charging at work? If all these vehicles charge at the same time, what would have been the peak power? Why is it lower in the simulation?</a:t>
            </a:r>
            <a:endParaRPr/>
          </a:p>
          <a:p>
            <a:pPr indent="-237173" lvl="1" marL="685800" marR="0" rtl="0" algn="l">
              <a:lnSpc>
                <a:spcPct val="107000"/>
              </a:lnSpc>
              <a:spcBef>
                <a:spcPts val="1175"/>
              </a:spcBef>
              <a:spcAft>
                <a:spcPts val="0"/>
              </a:spcAft>
              <a:buClr>
                <a:schemeClr val="dk1"/>
              </a:buClr>
              <a:buSzPct val="100000"/>
              <a:buFont typeface="Libre Franklin"/>
              <a:buNone/>
            </a:pPr>
            <a:r>
              <a:t/>
            </a:r>
            <a:endParaRPr b="0" i="1"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3. Spatial variability in load curves</a:t>
            </a:r>
            <a:endParaRPr b="0" sz="3600"/>
          </a:p>
        </p:txBody>
      </p:sp>
      <p:sp>
        <p:nvSpPr>
          <p:cNvPr id="177" name="Google Shape;177;p7"/>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78" name="Google Shape;178;p7"/>
          <p:cNvSpPr txBox="1"/>
          <p:nvPr/>
        </p:nvSpPr>
        <p:spPr>
          <a:xfrm>
            <a:off x="368300" y="1268459"/>
            <a:ext cx="7994650" cy="3748041"/>
          </a:xfrm>
          <a:prstGeom prst="rect">
            <a:avLst/>
          </a:prstGeom>
          <a:solidFill>
            <a:srgbClr val="FCE9E0"/>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44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ts val="1800"/>
              <a:buFont typeface="Libre Franklin"/>
              <a:buAutoNum type="arabicPeriod" startAt="9"/>
            </a:pPr>
            <a:r>
              <a:rPr b="0" i="0" lang="en-US" sz="1800" u="none" cap="none" strike="noStrike">
                <a:solidFill>
                  <a:schemeClr val="dk1"/>
                </a:solidFill>
                <a:latin typeface="Calibri"/>
                <a:ea typeface="Calibri"/>
                <a:cs typeface="Calibri"/>
                <a:sym typeface="Calibri"/>
              </a:rPr>
              <a:t>Why does the total load curve appear a bit “</a:t>
            </a:r>
            <a:r>
              <a:rPr b="1" i="0" lang="en-US" sz="1800" u="none" cap="none" strike="noStrike">
                <a:solidFill>
                  <a:schemeClr val="dk1"/>
                </a:solidFill>
                <a:latin typeface="Calibri"/>
                <a:ea typeface="Calibri"/>
                <a:cs typeface="Calibri"/>
                <a:sym typeface="Calibri"/>
              </a:rPr>
              <a:t>noisy”</a:t>
            </a:r>
            <a:r>
              <a:rPr b="0" i="0" lang="en-US" sz="1800" u="none" cap="none" strike="noStrike">
                <a:solidFill>
                  <a:schemeClr val="dk1"/>
                </a:solidFill>
                <a:latin typeface="Calibri"/>
                <a:ea typeface="Calibri"/>
                <a:cs typeface="Calibri"/>
                <a:sym typeface="Calibri"/>
              </a:rPr>
              <a:t>? Download the data and note the value of the </a:t>
            </a:r>
            <a:r>
              <a:rPr b="0" i="0" lang="en-US" sz="1800" u="sng" cap="none" strike="noStrike">
                <a:solidFill>
                  <a:schemeClr val="dk1"/>
                </a:solidFill>
                <a:latin typeface="Calibri"/>
                <a:ea typeface="Calibri"/>
                <a:cs typeface="Calibri"/>
                <a:sym typeface="Calibri"/>
              </a:rPr>
              <a:t>peak power</a:t>
            </a:r>
            <a:r>
              <a:rPr b="0" i="0" lang="en-US" sz="1800" u="none" cap="none" strike="noStrike">
                <a:solidFill>
                  <a:schemeClr val="dk1"/>
                </a:solidFill>
                <a:latin typeface="Calibri"/>
                <a:ea typeface="Calibri"/>
                <a:cs typeface="Calibri"/>
                <a:sym typeface="Calibri"/>
              </a:rPr>
              <a:t>, then rerun the simulation and have now look: is it exactly the same? Why? </a:t>
            </a:r>
            <a:endParaRPr/>
          </a:p>
          <a:p>
            <a:pPr indent="-342900" lvl="1" marL="685800" marR="0" rtl="0" algn="l">
              <a:lnSpc>
                <a:spcPct val="107000"/>
              </a:lnSpc>
              <a:spcBef>
                <a:spcPts val="1175"/>
              </a:spcBef>
              <a:spcAft>
                <a:spcPts val="0"/>
              </a:spcAft>
              <a:buClr>
                <a:schemeClr val="dk1"/>
              </a:buClr>
              <a:buSzPts val="1800"/>
              <a:buFont typeface="Libre Franklin"/>
              <a:buAutoNum type="arabicPeriod" startAt="9"/>
            </a:pPr>
            <a:r>
              <a:rPr b="0" i="0" lang="en-US" sz="1800" u="none" cap="none" strike="noStrike">
                <a:solidFill>
                  <a:schemeClr val="dk1"/>
                </a:solidFill>
                <a:latin typeface="Calibri"/>
                <a:ea typeface="Calibri"/>
                <a:cs typeface="Calibri"/>
                <a:sym typeface="Calibri"/>
              </a:rPr>
              <a:t>What does this variability imply for </a:t>
            </a:r>
            <a:r>
              <a:rPr b="1" i="0" lang="en-US" sz="1800" u="none" cap="none" strike="noStrike">
                <a:solidFill>
                  <a:schemeClr val="dk1"/>
                </a:solidFill>
                <a:latin typeface="Calibri"/>
                <a:ea typeface="Calibri"/>
                <a:cs typeface="Calibri"/>
                <a:sym typeface="Calibri"/>
              </a:rPr>
              <a:t>zones where only a small number of vehicles</a:t>
            </a:r>
            <a:r>
              <a:rPr b="0" i="0" lang="en-US" sz="1800" u="none" cap="none" strike="noStrike">
                <a:solidFill>
                  <a:schemeClr val="dk1"/>
                </a:solidFill>
                <a:latin typeface="Calibri"/>
                <a:ea typeface="Calibri"/>
                <a:cs typeface="Calibri"/>
                <a:sym typeface="Calibri"/>
              </a:rPr>
              <a:t>? If your objective is to estimate peak power in specific zones, what would you recommend in terms of simulation methodology?</a:t>
            </a:r>
            <a:endParaRPr/>
          </a:p>
          <a:p>
            <a:pPr indent="0" lvl="1" marL="342900" marR="0" rtl="0" algn="l">
              <a:lnSpc>
                <a:spcPct val="107000"/>
              </a:lnSpc>
              <a:spcBef>
                <a:spcPts val="1175"/>
              </a:spcBef>
              <a:spcAft>
                <a:spcPts val="0"/>
              </a:spcAft>
              <a:buClr>
                <a:schemeClr val="dk1"/>
              </a:buClr>
              <a:buSzPts val="1600"/>
              <a:buFont typeface="Arial"/>
              <a:buNone/>
            </a:pPr>
            <a:r>
              <a:rPr b="0" i="1" lang="en-US" sz="1600" u="none" cap="none" strike="noStrike">
                <a:solidFill>
                  <a:schemeClr val="dk1"/>
                </a:solidFill>
                <a:latin typeface="Arial"/>
                <a:ea typeface="Arial"/>
                <a:cs typeface="Arial"/>
                <a:sym typeface="Arial"/>
              </a:rPr>
              <a:t>💡 </a:t>
            </a:r>
            <a:r>
              <a:rPr b="0" i="1" lang="en-US" sz="1800" u="none" cap="none" strike="noStrike">
                <a:solidFill>
                  <a:schemeClr val="dk1"/>
                </a:solidFill>
                <a:latin typeface="Calibri"/>
                <a:ea typeface="Calibri"/>
                <a:cs typeface="Calibri"/>
                <a:sym typeface="Calibri"/>
              </a:rPr>
              <a:t>N.B.: The full python model would allow to extract a charging load curve per zone to dig more into spatial variations in the temporal demand</a:t>
            </a:r>
            <a:endParaRPr/>
          </a:p>
          <a:p>
            <a:pPr indent="-228600" lvl="1" marL="685800" marR="0" rtl="0" algn="l">
              <a:lnSpc>
                <a:spcPct val="107000"/>
              </a:lnSpc>
              <a:spcBef>
                <a:spcPts val="1175"/>
              </a:spcBef>
              <a:spcAft>
                <a:spcPts val="0"/>
              </a:spcAft>
              <a:buClr>
                <a:schemeClr val="dk1"/>
              </a:buClr>
              <a:buSzPts val="1800"/>
              <a:buFont typeface="Libre Franklin"/>
              <a:buNone/>
            </a:pPr>
            <a:r>
              <a:t/>
            </a:r>
            <a:endParaRPr b="0" i="1"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type="title"/>
          </p:nvPr>
        </p:nvSpPr>
        <p:spPr>
          <a:xfrm>
            <a:off x="169125" y="306675"/>
            <a:ext cx="8974800" cy="1093500"/>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4. Impact of charging power on peak load</a:t>
            </a:r>
            <a:endParaRPr b="0" sz="3600"/>
          </a:p>
        </p:txBody>
      </p:sp>
      <p:sp>
        <p:nvSpPr>
          <p:cNvPr id="185" name="Google Shape;185;p8"/>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86" name="Google Shape;186;p8"/>
          <p:cNvSpPr txBox="1"/>
          <p:nvPr/>
        </p:nvSpPr>
        <p:spPr>
          <a:xfrm>
            <a:off x="113237" y="1215845"/>
            <a:ext cx="8571235" cy="2051230"/>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Let’s work with the aggregated load curve while keeping the previous limitations in mind for further analysis. </a:t>
            </a:r>
            <a:endParaRPr/>
          </a:p>
          <a:p>
            <a:pPr indent="-171450" lvl="0" marL="171450" marR="0" rtl="0" algn="l">
              <a:lnSpc>
                <a:spcPct val="107000"/>
              </a:lnSpc>
              <a:spcBef>
                <a:spcPts val="155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You are worried about </a:t>
            </a:r>
            <a:r>
              <a:rPr b="1" i="0" lang="en-US" sz="1800" u="none" cap="none" strike="noStrike">
                <a:solidFill>
                  <a:schemeClr val="dk1"/>
                </a:solidFill>
                <a:latin typeface="Calibri"/>
                <a:ea typeface="Calibri"/>
                <a:cs typeface="Calibri"/>
                <a:sym typeface="Calibri"/>
              </a:rPr>
              <a:t>the peak load at work </a:t>
            </a:r>
            <a:r>
              <a:rPr b="0" i="0" lang="en-US" sz="1800" u="none" cap="none" strike="noStrike">
                <a:solidFill>
                  <a:schemeClr val="dk1"/>
                </a:solidFill>
                <a:latin typeface="Calibri"/>
                <a:ea typeface="Calibri"/>
                <a:cs typeface="Calibri"/>
                <a:sym typeface="Calibri"/>
              </a:rPr>
              <a:t>(i.e. people charging at their workplace or nearby public charging stations)</a:t>
            </a:r>
            <a:r>
              <a:rPr lang="en-US" sz="1800">
                <a:solidFill>
                  <a:schemeClr val="dk1"/>
                </a:solidFill>
                <a:latin typeface="Calibri"/>
                <a:ea typeface="Calibri"/>
                <a:cs typeface="Calibri"/>
                <a:sym typeface="Calibri"/>
              </a:rPr>
              <a:t>. You think about limiting the allowed charging power to mitigate the potential peak.</a:t>
            </a:r>
            <a:endParaRPr b="0" i="0" sz="1800" u="none" cap="none" strike="noStrike">
              <a:solidFill>
                <a:schemeClr val="dk1"/>
              </a:solidFill>
              <a:latin typeface="Calibri"/>
              <a:ea typeface="Calibri"/>
              <a:cs typeface="Calibri"/>
              <a:sym typeface="Calibri"/>
            </a:endParaRPr>
          </a:p>
        </p:txBody>
      </p:sp>
      <p:sp>
        <p:nvSpPr>
          <p:cNvPr id="187" name="Google Shape;187;p8"/>
          <p:cNvSpPr txBox="1"/>
          <p:nvPr/>
        </p:nvSpPr>
        <p:spPr>
          <a:xfrm>
            <a:off x="368300" y="2986399"/>
            <a:ext cx="8262938" cy="2028513"/>
          </a:xfrm>
          <a:prstGeom prst="rect">
            <a:avLst/>
          </a:prstGeom>
          <a:solidFill>
            <a:srgbClr val="CCFFCC"/>
          </a:solidFill>
          <a:ln>
            <a:noFill/>
          </a:ln>
        </p:spPr>
        <p:txBody>
          <a:bodyPr anchorCtr="0" anchor="t" bIns="45700" lIns="180000" spcFirstLastPara="1" rIns="91425" wrap="square" tIns="45700">
            <a:normAutofit fontScale="92500" lnSpcReduction="100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endParaRPr/>
          </a:p>
          <a:p>
            <a:pPr indent="-171450" lvl="2" marL="857250" marR="0" rtl="0" algn="l">
              <a:lnSpc>
                <a:spcPct val="107000"/>
              </a:lnSpc>
              <a:spcBef>
                <a:spcPts val="1175"/>
              </a:spcBef>
              <a:spcAft>
                <a:spcPts val="0"/>
              </a:spcAft>
              <a:buClr>
                <a:schemeClr val="dk1"/>
              </a:buClr>
              <a:buSzPct val="90000"/>
              <a:buFont typeface="Noto Sans Symbols"/>
              <a:buChar char="▪"/>
            </a:pPr>
            <a:r>
              <a:rPr b="0" i="0" lang="en-US" sz="1600" u="none" cap="none" strike="noStrike">
                <a:solidFill>
                  <a:schemeClr val="dk1"/>
                </a:solidFill>
                <a:latin typeface="Calibri"/>
                <a:ea typeface="Calibri"/>
                <a:cs typeface="Calibri"/>
                <a:sym typeface="Calibri"/>
              </a:rPr>
              <a:t>To dig more into this lets run a scenario where </a:t>
            </a:r>
            <a:r>
              <a:rPr b="1" i="0" lang="en-US" sz="1600" u="none" cap="none" strike="noStrike">
                <a:solidFill>
                  <a:schemeClr val="dk1"/>
                </a:solidFill>
                <a:latin typeface="Calibri"/>
                <a:ea typeface="Calibri"/>
                <a:cs typeface="Calibri"/>
                <a:sym typeface="Calibri"/>
              </a:rPr>
              <a:t>100% of the charging demand occurs at workplaces. </a:t>
            </a:r>
            <a:r>
              <a:rPr b="0" i="0" lang="en-US" sz="1600" u="none" cap="none" strike="noStrike">
                <a:solidFill>
                  <a:schemeClr val="dk1"/>
                </a:solidFill>
                <a:latin typeface="Calibri"/>
                <a:ea typeface="Calibri"/>
                <a:cs typeface="Calibri"/>
                <a:sym typeface="Calibri"/>
              </a:rPr>
              <a:t>The idea is to isolate the impact of vehicles charging during work hours on the peak power. </a:t>
            </a:r>
            <a:endParaRPr/>
          </a:p>
          <a:p>
            <a:pPr indent="-171450" lvl="2" marL="857250" marR="0" rtl="0" algn="l">
              <a:lnSpc>
                <a:spcPct val="107000"/>
              </a:lnSpc>
              <a:spcBef>
                <a:spcPts val="1175"/>
              </a:spcBef>
              <a:spcAft>
                <a:spcPts val="0"/>
              </a:spcAft>
              <a:buClr>
                <a:schemeClr val="dk1"/>
              </a:buClr>
              <a:buSzPct val="90000"/>
              <a:buFont typeface="Noto Sans Symbols"/>
              <a:buChar char="▪"/>
            </a:pPr>
            <a:r>
              <a:rPr lang="en-US" sz="1600">
                <a:solidFill>
                  <a:schemeClr val="dk1"/>
                </a:solidFill>
                <a:latin typeface="Calibri"/>
                <a:ea typeface="Calibri"/>
                <a:cs typeface="Calibri"/>
                <a:sym typeface="Calibri"/>
              </a:rPr>
              <a:t>Then, the idea is to</a:t>
            </a:r>
            <a:r>
              <a:rPr b="1" i="0" lang="en-US" sz="1600" u="none" cap="none" strike="noStrike">
                <a:solidFill>
                  <a:schemeClr val="dk1"/>
                </a:solidFill>
                <a:latin typeface="Calibri"/>
                <a:ea typeface="Calibri"/>
                <a:cs typeface="Calibri"/>
                <a:sym typeface="Calibri"/>
              </a:rPr>
              <a:t> run multiple simulations </a:t>
            </a:r>
            <a:r>
              <a:rPr b="0" i="0" lang="en-US" sz="1600" u="none" cap="none" strike="noStrike">
                <a:solidFill>
                  <a:schemeClr val="dk1"/>
                </a:solidFill>
                <a:latin typeface="Calibri"/>
                <a:ea typeface="Calibri"/>
                <a:cs typeface="Calibri"/>
                <a:sym typeface="Calibri"/>
              </a:rPr>
              <a:t>each time with a different charging power and fill out the table in the next slide. Each time, look at the number of vehicles charging per day to also compute the expected peak power if all vehicles would charge at the same time.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4. Impact of charging on peak load</a:t>
            </a:r>
            <a:endParaRPr b="0" sz="3600"/>
          </a:p>
        </p:txBody>
      </p:sp>
      <p:sp>
        <p:nvSpPr>
          <p:cNvPr id="194" name="Google Shape;194;p9"/>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195" name="Google Shape;195;p9"/>
          <p:cNvSpPr txBox="1"/>
          <p:nvPr/>
        </p:nvSpPr>
        <p:spPr>
          <a:xfrm>
            <a:off x="113237" y="1215844"/>
            <a:ext cx="2077513" cy="1093505"/>
          </a:xfrm>
          <a:prstGeom prst="rect">
            <a:avLst/>
          </a:prstGeom>
          <a:noFill/>
          <a:ln>
            <a:noFill/>
          </a:ln>
        </p:spPr>
        <p:txBody>
          <a:bodyPr anchorCtr="0" anchor="t" bIns="45700" lIns="180000" spcFirstLastPara="1" rIns="91425" wrap="square" tIns="45700">
            <a:normAutofit/>
          </a:bodyPr>
          <a:lstStyle/>
          <a:p>
            <a:pPr indent="-171450" lvl="0" marL="171450" marR="0" rtl="0" algn="l">
              <a:lnSpc>
                <a:spcPct val="107000"/>
              </a:lnSpc>
              <a:spcBef>
                <a:spcPts val="0"/>
              </a:spcBef>
              <a:spcAft>
                <a:spcPts val="0"/>
              </a:spcAft>
              <a:buClr>
                <a:schemeClr val="accent1"/>
              </a:buClr>
              <a:buSzPts val="1620"/>
              <a:buFont typeface="Noto Sans Symbols"/>
              <a:buChar char="▪"/>
            </a:pPr>
            <a:r>
              <a:rPr b="0" i="0" lang="en-US" sz="1800" u="none" cap="none" strike="noStrike">
                <a:solidFill>
                  <a:schemeClr val="dk1"/>
                </a:solidFill>
                <a:latin typeface="Calibri"/>
                <a:ea typeface="Calibri"/>
                <a:cs typeface="Calibri"/>
                <a:sym typeface="Calibri"/>
              </a:rPr>
              <a:t>Fill out the following table</a:t>
            </a:r>
            <a:endParaRPr b="0" i="0" sz="1800" u="none" cap="none" strike="noStrike">
              <a:solidFill>
                <a:schemeClr val="dk1"/>
              </a:solidFill>
              <a:latin typeface="Calibri"/>
              <a:ea typeface="Calibri"/>
              <a:cs typeface="Calibri"/>
              <a:sym typeface="Calibri"/>
            </a:endParaRPr>
          </a:p>
        </p:txBody>
      </p:sp>
      <p:graphicFrame>
        <p:nvGraphicFramePr>
          <p:cNvPr id="196" name="Google Shape;196;p9"/>
          <p:cNvGraphicFramePr/>
          <p:nvPr/>
        </p:nvGraphicFramePr>
        <p:xfrm>
          <a:off x="2000251" y="1320664"/>
          <a:ext cx="3000000" cy="3000000"/>
        </p:xfrm>
        <a:graphic>
          <a:graphicData uri="http://schemas.openxmlformats.org/drawingml/2006/table">
            <a:tbl>
              <a:tblPr bandRow="1" firstCol="1" firstRow="1">
                <a:noFill/>
                <a:tableStyleId>{CF352E14-49DC-4EF3-90FB-B5F05AE69CBF}</a:tableStyleId>
              </a:tblPr>
              <a:tblGrid>
                <a:gridCol w="932925"/>
                <a:gridCol w="788800"/>
                <a:gridCol w="898950"/>
                <a:gridCol w="898950"/>
                <a:gridCol w="899725"/>
                <a:gridCol w="909725"/>
                <a:gridCol w="822775"/>
                <a:gridCol w="822775"/>
              </a:tblGrid>
              <a:tr h="193500">
                <a:tc>
                  <a:txBody>
                    <a:bodyPr/>
                    <a:lstStyle/>
                    <a:p>
                      <a:pPr indent="0" lvl="0" marL="0" marR="0" rtl="0" algn="l">
                        <a:lnSpc>
                          <a:spcPct val="107000"/>
                        </a:lnSpc>
                        <a:spcBef>
                          <a:spcPts val="0"/>
                        </a:spcBef>
                        <a:spcAft>
                          <a:spcPts val="0"/>
                        </a:spcAft>
                        <a:buNone/>
                      </a:pPr>
                      <a:r>
                        <a:rPr lang="en-US" sz="1400"/>
                        <a:t>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3 kW</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7.4 kW</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22 kW</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50 kW</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100 kW</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150 kW</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a:t>200 kW</a:t>
                      </a:r>
                      <a:endParaRPr sz="1400">
                        <a:latin typeface="Calibri"/>
                        <a:ea typeface="Calibri"/>
                        <a:cs typeface="Calibri"/>
                        <a:sym typeface="Calibri"/>
                      </a:endParaRPr>
                    </a:p>
                  </a:txBody>
                  <a:tcPr marT="0" marB="0" marR="68575" marL="68575"/>
                </a:tc>
              </a:tr>
              <a:tr h="590700">
                <a:tc>
                  <a:txBody>
                    <a:bodyPr/>
                    <a:lstStyle/>
                    <a:p>
                      <a:pPr indent="0" lvl="0" marL="0" marR="0" rtl="0" algn="l">
                        <a:lnSpc>
                          <a:spcPct val="107000"/>
                        </a:lnSpc>
                        <a:spcBef>
                          <a:spcPts val="0"/>
                        </a:spcBef>
                        <a:spcAft>
                          <a:spcPts val="0"/>
                        </a:spcAft>
                        <a:buNone/>
                      </a:pPr>
                      <a:r>
                        <a:rPr lang="en-US" sz="1100"/>
                        <a:t>Expected peak power (kW)</a:t>
                      </a:r>
                      <a:endParaRPr sz="11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r>
              <a:tr h="590700">
                <a:tc>
                  <a:txBody>
                    <a:bodyPr/>
                    <a:lstStyle/>
                    <a:p>
                      <a:pPr indent="0" lvl="0" marL="0" marR="0" rtl="0" algn="l">
                        <a:lnSpc>
                          <a:spcPct val="107000"/>
                        </a:lnSpc>
                        <a:spcBef>
                          <a:spcPts val="0"/>
                        </a:spcBef>
                        <a:spcAft>
                          <a:spcPts val="0"/>
                        </a:spcAft>
                        <a:buNone/>
                      </a:pPr>
                      <a:r>
                        <a:rPr lang="en-US" sz="1100"/>
                        <a:t>Simulated peak power (kW)</a:t>
                      </a:r>
                      <a:endParaRPr sz="11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t/>
                      </a:r>
                      <a:endParaRPr sz="1400">
                        <a:latin typeface="Calibri"/>
                        <a:ea typeface="Calibri"/>
                        <a:cs typeface="Calibri"/>
                        <a:sym typeface="Calibri"/>
                      </a:endParaRPr>
                    </a:p>
                  </a:txBody>
                  <a:tcPr marT="0" marB="0" marR="68575" marL="68575"/>
                </a:tc>
              </a:tr>
            </a:tbl>
          </a:graphicData>
        </a:graphic>
      </p:graphicFrame>
      <p:sp>
        <p:nvSpPr>
          <p:cNvPr id="197" name="Google Shape;197;p9"/>
          <p:cNvSpPr txBox="1"/>
          <p:nvPr/>
        </p:nvSpPr>
        <p:spPr>
          <a:xfrm>
            <a:off x="459529" y="2928937"/>
            <a:ext cx="8515350" cy="2109788"/>
          </a:xfrm>
          <a:prstGeom prst="rect">
            <a:avLst/>
          </a:prstGeom>
          <a:solidFill>
            <a:srgbClr val="FCE9E0"/>
          </a:solidFill>
          <a:ln>
            <a:noFill/>
          </a:ln>
        </p:spPr>
        <p:txBody>
          <a:bodyPr anchorCtr="0" anchor="t" bIns="45700" lIns="180000" spcFirstLastPara="1" rIns="91425" wrap="square" tIns="45700">
            <a:normAutofit fontScale="925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11"/>
            </a:pPr>
            <a:r>
              <a:rPr b="0" i="0" lang="en-US" sz="1600" u="none" cap="none" strike="noStrike">
                <a:solidFill>
                  <a:schemeClr val="dk1"/>
                </a:solidFill>
                <a:latin typeface="Calibri"/>
                <a:ea typeface="Calibri"/>
                <a:cs typeface="Calibri"/>
                <a:sym typeface="Calibri"/>
              </a:rPr>
              <a:t>Why does the simulated demand not increase with charging station peak power as one might expect? From the perspective of minimizing grid stress, what incentives or recommendations would you propose regarding the </a:t>
            </a:r>
            <a:r>
              <a:rPr b="1" i="0" lang="en-US" sz="1600" u="none" cap="none" strike="noStrike">
                <a:solidFill>
                  <a:schemeClr val="dk1"/>
                </a:solidFill>
                <a:latin typeface="Calibri"/>
                <a:ea typeface="Calibri"/>
                <a:cs typeface="Calibri"/>
                <a:sym typeface="Calibri"/>
              </a:rPr>
              <a:t>optimal power rating </a:t>
            </a:r>
            <a:r>
              <a:rPr b="0" i="0" lang="en-US" sz="1600" u="none" cap="none" strike="noStrike">
                <a:solidFill>
                  <a:schemeClr val="dk1"/>
                </a:solidFill>
                <a:latin typeface="Calibri"/>
                <a:ea typeface="Calibri"/>
                <a:cs typeface="Calibri"/>
                <a:sym typeface="Calibri"/>
              </a:rPr>
              <a:t>of charging stations?</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11"/>
            </a:pPr>
            <a:r>
              <a:rPr b="0" i="0" lang="en-US" sz="1600" u="none" cap="none" strike="noStrike">
                <a:solidFill>
                  <a:schemeClr val="dk1"/>
                </a:solidFill>
                <a:latin typeface="Calibri"/>
                <a:ea typeface="Calibri"/>
                <a:cs typeface="Calibri"/>
                <a:sym typeface="Calibri"/>
              </a:rPr>
              <a:t>What </a:t>
            </a:r>
            <a:r>
              <a:rPr b="1" i="0" lang="en-US" sz="1600" u="none" cap="none" strike="noStrike">
                <a:solidFill>
                  <a:schemeClr val="dk1"/>
                </a:solidFill>
                <a:latin typeface="Calibri"/>
                <a:ea typeface="Calibri"/>
                <a:cs typeface="Calibri"/>
                <a:sym typeface="Calibri"/>
              </a:rPr>
              <a:t>additional strategies </a:t>
            </a:r>
            <a:r>
              <a:rPr b="0" i="0" lang="en-US" sz="1600" u="none" cap="none" strike="noStrike">
                <a:solidFill>
                  <a:schemeClr val="dk1"/>
                </a:solidFill>
                <a:latin typeface="Calibri"/>
                <a:ea typeface="Calibri"/>
                <a:cs typeface="Calibri"/>
                <a:sym typeface="Calibri"/>
              </a:rPr>
              <a:t>could be considered to reduce peak demand in workplace settings, given that vehicles are typically connected for extended periods throughout the day?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169122" y="306669"/>
            <a:ext cx="8515350" cy="1093506"/>
          </a:xfrm>
          <a:prstGeom prst="rect">
            <a:avLst/>
          </a:prstGeom>
          <a:noFill/>
          <a:ln>
            <a:noFill/>
          </a:ln>
        </p:spPr>
        <p:txBody>
          <a:bodyPr anchorCtr="0" anchor="t" bIns="46800" lIns="180000" spcFirstLastPara="1" rIns="72000" wrap="square" tIns="0">
            <a:normAutofit/>
          </a:bodyPr>
          <a:lstStyle/>
          <a:p>
            <a:pPr indent="0" lvl="0" marL="0" rtl="0" algn="l">
              <a:lnSpc>
                <a:spcPct val="90000"/>
              </a:lnSpc>
              <a:spcBef>
                <a:spcPts val="0"/>
              </a:spcBef>
              <a:spcAft>
                <a:spcPts val="0"/>
              </a:spcAft>
              <a:buClr>
                <a:schemeClr val="dk1"/>
              </a:buClr>
              <a:buSzPts val="3600"/>
              <a:buFont typeface="Libre Franklin"/>
              <a:buNone/>
            </a:pPr>
            <a:r>
              <a:rPr b="0" lang="en-US" sz="3600"/>
              <a:t>5. PV to reduce demand and peak load</a:t>
            </a:r>
            <a:endParaRPr b="0" sz="3600"/>
          </a:p>
        </p:txBody>
      </p:sp>
      <p:sp>
        <p:nvSpPr>
          <p:cNvPr id="204" name="Google Shape;204;p10"/>
          <p:cNvSpPr txBox="1"/>
          <p:nvPr>
            <p:ph idx="12" type="sldNum"/>
          </p:nvPr>
        </p:nvSpPr>
        <p:spPr>
          <a:xfrm>
            <a:off x="8631238" y="195263"/>
            <a:ext cx="512762" cy="163552"/>
          </a:xfrm>
          <a:prstGeom prst="rect">
            <a:avLst/>
          </a:prstGeom>
          <a:noFill/>
          <a:ln>
            <a:noFill/>
          </a:ln>
        </p:spPr>
        <p:txBody>
          <a:bodyPr anchorCtr="0" anchor="t" bIns="0" lIns="90000" spcFirstLastPara="1" rIns="9000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05" name="Google Shape;205;p10"/>
          <p:cNvSpPr txBox="1"/>
          <p:nvPr/>
        </p:nvSpPr>
        <p:spPr>
          <a:xfrm>
            <a:off x="368299" y="1195700"/>
            <a:ext cx="8515349" cy="985526"/>
          </a:xfrm>
          <a:prstGeom prst="rect">
            <a:avLst/>
          </a:prstGeom>
          <a:solidFill>
            <a:srgbClr val="CCFFCC"/>
          </a:solidFill>
          <a:ln>
            <a:noFill/>
          </a:ln>
        </p:spPr>
        <p:txBody>
          <a:bodyPr anchorCtr="0" anchor="t" bIns="45700" lIns="180000" spcFirstLastPara="1" rIns="91425" wrap="square" tIns="45700">
            <a:normAutofit/>
          </a:bodyPr>
          <a:lstStyle/>
          <a:p>
            <a:pPr indent="0" lvl="0" marL="0" marR="0" rtl="0" algn="l">
              <a:lnSpc>
                <a:spcPct val="107000"/>
              </a:lnSpc>
              <a:spcBef>
                <a:spcPts val="0"/>
              </a:spcBef>
              <a:spcAft>
                <a:spcPts val="0"/>
              </a:spcAft>
              <a:buClr>
                <a:schemeClr val="accent1"/>
              </a:buClr>
              <a:buSzPts val="1620"/>
              <a:buFont typeface="Noto Sans Symbols"/>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TASK</a:t>
            </a:r>
            <a:endParaRPr/>
          </a:p>
          <a:p>
            <a:pPr indent="-171450" lvl="2" marL="857250" marR="0" rtl="0" algn="l">
              <a:lnSpc>
                <a:spcPct val="107000"/>
              </a:lnSpc>
              <a:spcBef>
                <a:spcPts val="1175"/>
              </a:spcBef>
              <a:spcAft>
                <a:spcPts val="0"/>
              </a:spcAft>
              <a:buClr>
                <a:schemeClr val="dk1"/>
              </a:buClr>
              <a:buSzPts val="1440"/>
              <a:buFont typeface="Noto Sans Symbols"/>
              <a:buChar char="▪"/>
            </a:pPr>
            <a:r>
              <a:rPr b="0" i="0" lang="en-US" sz="1600" u="none" cap="none" strike="noStrike">
                <a:solidFill>
                  <a:schemeClr val="dk1"/>
                </a:solidFill>
                <a:latin typeface="Calibri"/>
                <a:ea typeface="Calibri"/>
                <a:cs typeface="Calibri"/>
                <a:sym typeface="Calibri"/>
              </a:rPr>
              <a:t>Simulate </a:t>
            </a:r>
            <a:r>
              <a:rPr b="1" i="0" lang="en-US" sz="1600" u="none" cap="none" strike="noStrike">
                <a:solidFill>
                  <a:schemeClr val="dk1"/>
                </a:solidFill>
                <a:latin typeface="Calibri"/>
                <a:ea typeface="Calibri"/>
                <a:cs typeface="Calibri"/>
                <a:sym typeface="Calibri"/>
              </a:rPr>
              <a:t>10 MW </a:t>
            </a:r>
            <a:r>
              <a:rPr b="0" i="0" lang="en-US" sz="1600" u="none" cap="none" strike="noStrike">
                <a:solidFill>
                  <a:schemeClr val="dk1"/>
                </a:solidFill>
                <a:latin typeface="Calibri"/>
                <a:ea typeface="Calibri"/>
                <a:cs typeface="Calibri"/>
                <a:sym typeface="Calibri"/>
              </a:rPr>
              <a:t>of PV installed capacity under the 100% workplace charging scenario.</a:t>
            </a:r>
            <a:endParaRPr b="0" i="0" sz="1600" u="none" cap="none" strike="noStrike">
              <a:solidFill>
                <a:schemeClr val="dk1"/>
              </a:solidFill>
              <a:latin typeface="Calibri"/>
              <a:ea typeface="Calibri"/>
              <a:cs typeface="Calibri"/>
              <a:sym typeface="Calibri"/>
            </a:endParaRPr>
          </a:p>
        </p:txBody>
      </p:sp>
      <p:sp>
        <p:nvSpPr>
          <p:cNvPr id="206" name="Google Shape;206;p10"/>
          <p:cNvSpPr txBox="1"/>
          <p:nvPr/>
        </p:nvSpPr>
        <p:spPr>
          <a:xfrm>
            <a:off x="372269" y="2357437"/>
            <a:ext cx="8511379" cy="2590800"/>
          </a:xfrm>
          <a:prstGeom prst="rect">
            <a:avLst/>
          </a:prstGeom>
          <a:solidFill>
            <a:srgbClr val="FCE9E0"/>
          </a:solidFill>
          <a:ln>
            <a:noFill/>
          </a:ln>
        </p:spPr>
        <p:txBody>
          <a:bodyPr anchorCtr="0" anchor="t" bIns="45700" lIns="180000" spcFirstLastPara="1" rIns="91425" wrap="square" tIns="45700">
            <a:normAutofit fontScale="92500" lnSpcReduction="20000"/>
          </a:bodyPr>
          <a:lstStyle/>
          <a:p>
            <a:pPr indent="0" lvl="0" marL="0" marR="0" rtl="0" algn="l">
              <a:lnSpc>
                <a:spcPct val="107000"/>
              </a:lnSpc>
              <a:spcBef>
                <a:spcPts val="0"/>
              </a:spcBef>
              <a:spcAft>
                <a:spcPts val="0"/>
              </a:spcAft>
              <a:buClr>
                <a:schemeClr val="accent1"/>
              </a:buClr>
              <a:buSzPct val="90000"/>
              <a:buFont typeface="Noto Sans Symbols"/>
              <a:buNone/>
            </a:pPr>
            <a:r>
              <a:rPr b="0" i="0" lang="en-US" sz="1600" u="none" cap="none" strike="noStrike">
                <a:solidFill>
                  <a:schemeClr val="dk1"/>
                </a:solidFill>
                <a:latin typeface="Calibri"/>
                <a:ea typeface="Calibri"/>
                <a:cs typeface="Calibri"/>
                <a:sym typeface="Calibri"/>
              </a:rPr>
              <a:t>🔎 </a:t>
            </a:r>
            <a:r>
              <a:rPr b="1" i="0" lang="en-US" sz="1600" u="none" cap="none" strike="noStrike">
                <a:solidFill>
                  <a:schemeClr val="dk1"/>
                </a:solidFill>
                <a:latin typeface="Calibri"/>
                <a:ea typeface="Calibri"/>
                <a:cs typeface="Calibri"/>
                <a:sym typeface="Calibri"/>
              </a:rPr>
              <a:t>QUESTIONS</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11"/>
            </a:pPr>
            <a:r>
              <a:rPr b="0" i="0" lang="en-US" sz="1600" u="none" cap="none" strike="noStrike">
                <a:solidFill>
                  <a:schemeClr val="dk1"/>
                </a:solidFill>
                <a:latin typeface="Calibri"/>
                <a:ea typeface="Calibri"/>
                <a:cs typeface="Calibri"/>
                <a:sym typeface="Calibri"/>
              </a:rPr>
              <a:t>What are the </a:t>
            </a:r>
            <a:r>
              <a:rPr b="1" i="0" lang="en-US" sz="1600" u="none" cap="none" strike="noStrike">
                <a:solidFill>
                  <a:schemeClr val="dk1"/>
                </a:solidFill>
                <a:latin typeface="Calibri"/>
                <a:ea typeface="Calibri"/>
                <a:cs typeface="Calibri"/>
                <a:sym typeface="Calibri"/>
              </a:rPr>
              <a:t>energy coverage ratio </a:t>
            </a:r>
            <a:r>
              <a:rPr b="0" i="0" lang="en-US" sz="1600" u="none" cap="none" strike="noStrike">
                <a:solidFill>
                  <a:schemeClr val="dk1"/>
                </a:solidFill>
                <a:latin typeface="Calibri"/>
                <a:ea typeface="Calibri"/>
                <a:cs typeface="Calibri"/>
                <a:sym typeface="Calibri"/>
              </a:rPr>
              <a:t>and </a:t>
            </a:r>
            <a:r>
              <a:rPr b="1" i="0" lang="en-US" sz="1600" u="none" cap="none" strike="noStrike">
                <a:solidFill>
                  <a:schemeClr val="dk1"/>
                </a:solidFill>
                <a:latin typeface="Calibri"/>
                <a:ea typeface="Calibri"/>
                <a:cs typeface="Calibri"/>
                <a:sym typeface="Calibri"/>
              </a:rPr>
              <a:t>self-sufficiency levels</a:t>
            </a:r>
            <a:r>
              <a:rPr b="0" i="0" lang="en-US" sz="1600" u="none" cap="none" strike="noStrike">
                <a:solidFill>
                  <a:schemeClr val="dk1"/>
                </a:solidFill>
                <a:latin typeface="Calibri"/>
                <a:ea typeface="Calibri"/>
                <a:cs typeface="Calibri"/>
                <a:sym typeface="Calibri"/>
              </a:rPr>
              <a:t>? From an energy demand perspective, would installing PV be effective in reducing the charging demand?</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11"/>
            </a:pPr>
            <a:r>
              <a:rPr b="0" i="0" lang="en-US" sz="1600" u="none" cap="none" strike="noStrike">
                <a:solidFill>
                  <a:schemeClr val="dk1"/>
                </a:solidFill>
                <a:latin typeface="Calibri"/>
                <a:ea typeface="Calibri"/>
                <a:cs typeface="Calibri"/>
                <a:sym typeface="Calibri"/>
              </a:rPr>
              <a:t>Look at the temporal load curve, do you think the matching between PV production is good? Confirm this downloading the data and overlaying PV and EV demand on a day.</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11"/>
            </a:pPr>
            <a:r>
              <a:rPr b="0" i="0" lang="en-US" sz="1600" u="none" cap="none" strike="noStrike">
                <a:solidFill>
                  <a:schemeClr val="dk1"/>
                </a:solidFill>
                <a:latin typeface="Calibri"/>
                <a:ea typeface="Calibri"/>
                <a:cs typeface="Calibri"/>
                <a:sym typeface="Calibri"/>
              </a:rPr>
              <a:t>What does the </a:t>
            </a:r>
            <a:r>
              <a:rPr b="1" i="0" lang="en-US" sz="1600" u="none" cap="none" strike="noStrike">
                <a:solidFill>
                  <a:schemeClr val="dk1"/>
                </a:solidFill>
                <a:latin typeface="Calibri"/>
                <a:ea typeface="Calibri"/>
                <a:cs typeface="Calibri"/>
                <a:sym typeface="Calibri"/>
              </a:rPr>
              <a:t>self-consumption value &lt; 1 point towards</a:t>
            </a:r>
            <a:r>
              <a:rPr b="0" i="0" lang="en-US" sz="1600" u="none" cap="none" strike="noStrike">
                <a:solidFill>
                  <a:schemeClr val="dk1"/>
                </a:solidFill>
                <a:latin typeface="Calibri"/>
                <a:ea typeface="Calibri"/>
                <a:cs typeface="Calibri"/>
                <a:sym typeface="Calibri"/>
              </a:rPr>
              <a:t>? Run a simulation with only 5 MW of PV. Any difference? (Tradeoff between self-sufficiency and self-consumption)</a:t>
            </a:r>
            <a:endParaRPr/>
          </a:p>
          <a:p>
            <a:pPr indent="-342900" lvl="1" marL="685800" marR="0" rtl="0" algn="l">
              <a:lnSpc>
                <a:spcPct val="107000"/>
              </a:lnSpc>
              <a:spcBef>
                <a:spcPts val="1175"/>
              </a:spcBef>
              <a:spcAft>
                <a:spcPts val="0"/>
              </a:spcAft>
              <a:buClr>
                <a:schemeClr val="dk1"/>
              </a:buClr>
              <a:buSzPct val="100000"/>
              <a:buFont typeface="Libre Franklin"/>
              <a:buAutoNum type="arabicPeriod" startAt="11"/>
            </a:pPr>
            <a:r>
              <a:rPr b="0" i="0" lang="en-US" sz="1600" u="none" cap="none" strike="noStrike">
                <a:solidFill>
                  <a:schemeClr val="dk1"/>
                </a:solidFill>
                <a:latin typeface="Calibri"/>
                <a:ea typeface="Calibri"/>
                <a:cs typeface="Calibri"/>
                <a:sym typeface="Calibri"/>
              </a:rPr>
              <a:t>What do you expected for the others years as the share of home charging is expected to rise: Recommendations for policy makers?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EPFL - New Colors 2019">
      <a:dk1>
        <a:srgbClr val="413C3A"/>
      </a:dk1>
      <a:lt1>
        <a:srgbClr val="FFFFFF"/>
      </a:lt1>
      <a:dk2>
        <a:srgbClr val="413C3A"/>
      </a:dk2>
      <a:lt2>
        <a:srgbClr val="CAC7C7"/>
      </a:lt2>
      <a:accent1>
        <a:srgbClr val="E30613"/>
      </a:accent1>
      <a:accent2>
        <a:srgbClr val="00A79F"/>
      </a:accent2>
      <a:accent3>
        <a:srgbClr val="413C3A"/>
      </a:accent3>
      <a:accent4>
        <a:srgbClr val="007480"/>
      </a:accent4>
      <a:accent5>
        <a:srgbClr val="F39869"/>
      </a:accent5>
      <a:accent6>
        <a:srgbClr val="B51F1F"/>
      </a:accent6>
      <a:hlink>
        <a:srgbClr val="ED6E9C"/>
      </a:hlink>
      <a:folHlink>
        <a:srgbClr val="4F8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2023-05-04T11:30:15Z</dcterms:created>
  <dc:creator>Jeannin Noémie Alice Yvonne Ségolène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0x0101008306E5EE50F21A438A203B1346065F81</vt:lpwstr>
  </property>
</Properties>
</file>